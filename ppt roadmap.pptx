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4"/>
  </p:sldMasterIdLst>
  <p:notesMasterIdLst>
    <p:notesMasterId r:id="rId39"/>
  </p:notesMasterIdLst>
  <p:sldIdLst>
    <p:sldId id="322" r:id="rId5"/>
    <p:sldId id="339" r:id="rId6"/>
    <p:sldId id="355" r:id="rId7"/>
    <p:sldId id="340" r:id="rId8"/>
    <p:sldId id="356" r:id="rId9"/>
    <p:sldId id="325" r:id="rId10"/>
    <p:sldId id="326" r:id="rId11"/>
    <p:sldId id="327" r:id="rId12"/>
    <p:sldId id="328" r:id="rId13"/>
    <p:sldId id="329" r:id="rId14"/>
    <p:sldId id="330" r:id="rId15"/>
    <p:sldId id="331" r:id="rId16"/>
    <p:sldId id="332" r:id="rId17"/>
    <p:sldId id="333" r:id="rId18"/>
    <p:sldId id="334" r:id="rId19"/>
    <p:sldId id="335" r:id="rId20"/>
    <p:sldId id="336" r:id="rId21"/>
    <p:sldId id="337" r:id="rId22"/>
    <p:sldId id="341" r:id="rId23"/>
    <p:sldId id="342" r:id="rId24"/>
    <p:sldId id="343" r:id="rId25"/>
    <p:sldId id="338" r:id="rId26"/>
    <p:sldId id="357" r:id="rId27"/>
    <p:sldId id="344" r:id="rId28"/>
    <p:sldId id="345" r:id="rId29"/>
    <p:sldId id="346" r:id="rId30"/>
    <p:sldId id="347" r:id="rId31"/>
    <p:sldId id="348" r:id="rId32"/>
    <p:sldId id="349" r:id="rId33"/>
    <p:sldId id="350" r:id="rId34"/>
    <p:sldId id="351" r:id="rId35"/>
    <p:sldId id="352" r:id="rId36"/>
    <p:sldId id="353" r:id="rId37"/>
    <p:sldId id="354" r:id="rId38"/>
  </p:sldIdLst>
  <p:sldSz cx="12192000" cy="6858000"/>
  <p:notesSz cx="6797675" cy="9926638"/>
  <p:custDataLst>
    <p:tags r:id="rId40"/>
  </p:custDataLst>
  <p:defaultTex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9037AF5-96F0-9FBC-90AF-CFE277DD1C45}" name="Shnoudi, Zaid (Cognizant)" initials="ZS" userId="S::2098452@cognizant.com::470831b2-da02-4eb8-961c-d5f5827aeb4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B8933"/>
    <a:srgbClr val="5C5C5C"/>
    <a:srgbClr val="ECF5E7"/>
    <a:srgbClr val="FFFFFF"/>
    <a:srgbClr val="FAEEC3"/>
    <a:srgbClr val="F2DE8A"/>
    <a:srgbClr val="E9CD49"/>
    <a:srgbClr val="C6AA3D"/>
    <a:srgbClr val="FAECDB"/>
    <a:srgbClr val="EDDA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CC6564-5EEE-498D-AB5B-97B8CE2083EC}" v="7" dt="2026-02-17T08:11:14.434"/>
  </p1510:revLst>
</p1510:revInfo>
</file>

<file path=ppt/tableStyles.xml><?xml version="1.0" encoding="utf-8"?>
<a:tblStyleLst xmlns:a="http://schemas.openxmlformats.org/drawingml/2006/main" def="{2D5ABB26-0587-4C30-8999-92F81FD0307C}">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1" d="100"/>
          <a:sy n="51" d="100"/>
        </p:scale>
        <p:origin x="1256" y="264"/>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notesMaster" Target="notesMasters/notes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tags" Target="tags/tag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AE"/>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76E053B4-C4FA-494C-9969-7CB8F067929C}" type="datetimeFigureOut">
              <a:rPr lang="en-AE" smtClean="0"/>
              <a:t>17/02/2026</a:t>
            </a:fld>
            <a:endParaRPr lang="en-AE"/>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AE"/>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AE"/>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58C38933-F63C-44DD-AC2D-4B20B8EF7926}" type="slidenum">
              <a:rPr lang="en-AE" smtClean="0"/>
              <a:t>‹#›</a:t>
            </a:fld>
            <a:endParaRPr lang="en-AE"/>
          </a:p>
        </p:txBody>
      </p:sp>
    </p:spTree>
    <p:extLst>
      <p:ext uri="{BB962C8B-B14F-4D97-AF65-F5344CB8AC3E}">
        <p14:creationId xmlns:p14="http://schemas.microsoft.com/office/powerpoint/2010/main" val="2504721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780E7-1486-284C-65A3-F73FDC179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1696F-BB3A-298C-BFAB-18DC085D32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6D9897-C304-F7C5-672E-9884F21BA5D3}"/>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E4165BD9-475B-921E-8F98-361C7ECA6F4E}"/>
              </a:ext>
            </a:extLst>
          </p:cNvPr>
          <p:cNvSpPr>
            <a:spLocks noGrp="1"/>
          </p:cNvSpPr>
          <p:nvPr>
            <p:ph type="sldNum" sz="quarter" idx="5"/>
          </p:nvPr>
        </p:nvSpPr>
        <p:spPr/>
        <p:txBody>
          <a:bodyPr/>
          <a:lstStyle/>
          <a:p>
            <a:fld id="{58C38933-F63C-44DD-AC2D-4B20B8EF7926}" type="slidenum">
              <a:rPr lang="en-AE" smtClean="0"/>
              <a:t>6</a:t>
            </a:fld>
            <a:endParaRPr lang="en-AE"/>
          </a:p>
        </p:txBody>
      </p:sp>
    </p:spTree>
    <p:extLst>
      <p:ext uri="{BB962C8B-B14F-4D97-AF65-F5344CB8AC3E}">
        <p14:creationId xmlns:p14="http://schemas.microsoft.com/office/powerpoint/2010/main" val="2138342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AA2F9-E6EF-9150-E30F-1B6441EB58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DB86E2-6D62-FB33-A590-88004666BB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0C3ED7-12A4-3DAA-60CE-04FFD9706892}"/>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21C0909F-16DB-2059-CF4C-A172F2C5862E}"/>
              </a:ext>
            </a:extLst>
          </p:cNvPr>
          <p:cNvSpPr>
            <a:spLocks noGrp="1"/>
          </p:cNvSpPr>
          <p:nvPr>
            <p:ph type="sldNum" sz="quarter" idx="5"/>
          </p:nvPr>
        </p:nvSpPr>
        <p:spPr/>
        <p:txBody>
          <a:bodyPr/>
          <a:lstStyle/>
          <a:p>
            <a:fld id="{58C38933-F63C-44DD-AC2D-4B20B8EF7926}" type="slidenum">
              <a:rPr lang="en-AE" smtClean="0"/>
              <a:t>7</a:t>
            </a:fld>
            <a:endParaRPr lang="en-AE"/>
          </a:p>
        </p:txBody>
      </p:sp>
    </p:spTree>
    <p:extLst>
      <p:ext uri="{BB962C8B-B14F-4D97-AF65-F5344CB8AC3E}">
        <p14:creationId xmlns:p14="http://schemas.microsoft.com/office/powerpoint/2010/main" val="2566332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57B2C-1684-226A-D0BD-A21D4F63DF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14DD9-B22F-7232-52D4-5614579D42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80D8A0-785B-6467-0D02-56D878469AC2}"/>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E72EB0ED-712D-BBEF-8457-FB48FE50FB46}"/>
              </a:ext>
            </a:extLst>
          </p:cNvPr>
          <p:cNvSpPr>
            <a:spLocks noGrp="1"/>
          </p:cNvSpPr>
          <p:nvPr>
            <p:ph type="sldNum" sz="quarter" idx="5"/>
          </p:nvPr>
        </p:nvSpPr>
        <p:spPr/>
        <p:txBody>
          <a:bodyPr/>
          <a:lstStyle/>
          <a:p>
            <a:fld id="{58C38933-F63C-44DD-AC2D-4B20B8EF7926}" type="slidenum">
              <a:rPr lang="en-AE" smtClean="0"/>
              <a:t>8</a:t>
            </a:fld>
            <a:endParaRPr lang="en-AE"/>
          </a:p>
        </p:txBody>
      </p:sp>
    </p:spTree>
    <p:extLst>
      <p:ext uri="{BB962C8B-B14F-4D97-AF65-F5344CB8AC3E}">
        <p14:creationId xmlns:p14="http://schemas.microsoft.com/office/powerpoint/2010/main" val="4075193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B3C7E-707E-B778-FB1C-1A7CB360FA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C1C0ED-5C4E-5974-68E4-9D19F19288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00C330-9F8C-A366-9EBA-F894E131B1B0}"/>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E3281D92-426E-502E-8422-6EF0DC9326A0}"/>
              </a:ext>
            </a:extLst>
          </p:cNvPr>
          <p:cNvSpPr>
            <a:spLocks noGrp="1"/>
          </p:cNvSpPr>
          <p:nvPr>
            <p:ph type="sldNum" sz="quarter" idx="5"/>
          </p:nvPr>
        </p:nvSpPr>
        <p:spPr/>
        <p:txBody>
          <a:bodyPr/>
          <a:lstStyle/>
          <a:p>
            <a:fld id="{58C38933-F63C-44DD-AC2D-4B20B8EF7926}" type="slidenum">
              <a:rPr lang="en-AE" smtClean="0"/>
              <a:t>9</a:t>
            </a:fld>
            <a:endParaRPr lang="en-AE"/>
          </a:p>
        </p:txBody>
      </p:sp>
    </p:spTree>
    <p:extLst>
      <p:ext uri="{BB962C8B-B14F-4D97-AF65-F5344CB8AC3E}">
        <p14:creationId xmlns:p14="http://schemas.microsoft.com/office/powerpoint/2010/main" val="31284764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4587C-1F55-D703-A1D3-AD221868A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44F404-D4EC-ECDF-ECB9-2A9C1F7B54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3965F0-E378-B2DF-D8A0-DF9F1AEC680C}"/>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FF27B8AD-F8F7-18FD-2CC0-73A8879D51EB}"/>
              </a:ext>
            </a:extLst>
          </p:cNvPr>
          <p:cNvSpPr>
            <a:spLocks noGrp="1"/>
          </p:cNvSpPr>
          <p:nvPr>
            <p:ph type="sldNum" sz="quarter" idx="5"/>
          </p:nvPr>
        </p:nvSpPr>
        <p:spPr/>
        <p:txBody>
          <a:bodyPr/>
          <a:lstStyle/>
          <a:p>
            <a:fld id="{58C38933-F63C-44DD-AC2D-4B20B8EF7926}" type="slidenum">
              <a:rPr lang="en-AE" smtClean="0"/>
              <a:t>10</a:t>
            </a:fld>
            <a:endParaRPr lang="en-AE"/>
          </a:p>
        </p:txBody>
      </p:sp>
    </p:spTree>
    <p:extLst>
      <p:ext uri="{BB962C8B-B14F-4D97-AF65-F5344CB8AC3E}">
        <p14:creationId xmlns:p14="http://schemas.microsoft.com/office/powerpoint/2010/main" val="3566732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65FD-DEF5-85F6-D44F-3D5F4299AF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F2CBDA-ADAC-86AA-2914-F5342696F3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7382B6-1D4B-A8A6-A6DE-60F0010B7043}"/>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78FE8B9F-1106-43D7-EF7A-4FCC752BE8C3}"/>
              </a:ext>
            </a:extLst>
          </p:cNvPr>
          <p:cNvSpPr>
            <a:spLocks noGrp="1"/>
          </p:cNvSpPr>
          <p:nvPr>
            <p:ph type="sldNum" sz="quarter" idx="5"/>
          </p:nvPr>
        </p:nvSpPr>
        <p:spPr/>
        <p:txBody>
          <a:bodyPr/>
          <a:lstStyle/>
          <a:p>
            <a:fld id="{58C38933-F63C-44DD-AC2D-4B20B8EF7926}" type="slidenum">
              <a:rPr lang="en-AE" smtClean="0"/>
              <a:t>11</a:t>
            </a:fld>
            <a:endParaRPr lang="en-AE"/>
          </a:p>
        </p:txBody>
      </p:sp>
    </p:spTree>
    <p:extLst>
      <p:ext uri="{BB962C8B-B14F-4D97-AF65-F5344CB8AC3E}">
        <p14:creationId xmlns:p14="http://schemas.microsoft.com/office/powerpoint/2010/main" val="1098133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622AB-34BD-4101-74D7-58F5178F19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2C04A8-38C3-DA12-4984-C1F1E92C3A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5E4AEA-EB8A-71D7-4C3D-5375A531DC6F}"/>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C158051F-9C7A-E6CD-9E20-27FFD1F03F1D}"/>
              </a:ext>
            </a:extLst>
          </p:cNvPr>
          <p:cNvSpPr>
            <a:spLocks noGrp="1"/>
          </p:cNvSpPr>
          <p:nvPr>
            <p:ph type="sldNum" sz="quarter" idx="5"/>
          </p:nvPr>
        </p:nvSpPr>
        <p:spPr/>
        <p:txBody>
          <a:bodyPr/>
          <a:lstStyle/>
          <a:p>
            <a:fld id="{58C38933-F63C-44DD-AC2D-4B20B8EF7926}" type="slidenum">
              <a:rPr lang="en-AE" smtClean="0"/>
              <a:t>12</a:t>
            </a:fld>
            <a:endParaRPr lang="en-AE"/>
          </a:p>
        </p:txBody>
      </p:sp>
    </p:spTree>
    <p:extLst>
      <p:ext uri="{BB962C8B-B14F-4D97-AF65-F5344CB8AC3E}">
        <p14:creationId xmlns:p14="http://schemas.microsoft.com/office/powerpoint/2010/main" val="26275559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98FB4-8826-9CFD-055C-B9210E22AB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3A4C34-4708-984F-DFD9-A759634C5F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A9EC94-8B6B-16E4-31EC-5EB2D72690DD}"/>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64AE6002-7705-80A8-A483-812F604739E4}"/>
              </a:ext>
            </a:extLst>
          </p:cNvPr>
          <p:cNvSpPr>
            <a:spLocks noGrp="1"/>
          </p:cNvSpPr>
          <p:nvPr>
            <p:ph type="sldNum" sz="quarter" idx="5"/>
          </p:nvPr>
        </p:nvSpPr>
        <p:spPr/>
        <p:txBody>
          <a:bodyPr/>
          <a:lstStyle/>
          <a:p>
            <a:fld id="{58C38933-F63C-44DD-AC2D-4B20B8EF7926}" type="slidenum">
              <a:rPr lang="en-AE" smtClean="0"/>
              <a:t>13</a:t>
            </a:fld>
            <a:endParaRPr lang="en-AE"/>
          </a:p>
        </p:txBody>
      </p:sp>
    </p:spTree>
    <p:extLst>
      <p:ext uri="{BB962C8B-B14F-4D97-AF65-F5344CB8AC3E}">
        <p14:creationId xmlns:p14="http://schemas.microsoft.com/office/powerpoint/2010/main" val="33553061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19FDE-2E53-582B-B118-ED2CA9283C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9CCA5-43C2-F471-894A-248247C1DD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A593FA-44DC-A2BD-6137-185D4D6BF30B}"/>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C7E03E99-5176-6F1C-E9D0-EF30191BB221}"/>
              </a:ext>
            </a:extLst>
          </p:cNvPr>
          <p:cNvSpPr>
            <a:spLocks noGrp="1"/>
          </p:cNvSpPr>
          <p:nvPr>
            <p:ph type="sldNum" sz="quarter" idx="5"/>
          </p:nvPr>
        </p:nvSpPr>
        <p:spPr/>
        <p:txBody>
          <a:bodyPr/>
          <a:lstStyle/>
          <a:p>
            <a:fld id="{58C38933-F63C-44DD-AC2D-4B20B8EF7926}" type="slidenum">
              <a:rPr lang="en-AE" smtClean="0"/>
              <a:t>14</a:t>
            </a:fld>
            <a:endParaRPr lang="en-AE"/>
          </a:p>
        </p:txBody>
      </p:sp>
    </p:spTree>
    <p:extLst>
      <p:ext uri="{BB962C8B-B14F-4D97-AF65-F5344CB8AC3E}">
        <p14:creationId xmlns:p14="http://schemas.microsoft.com/office/powerpoint/2010/main" val="34933977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EF060-BF83-70D5-0A01-0CD1D3001C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083A25-7084-F92F-4B59-B3B2820D0E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5FA52E-990D-1F17-2BA4-482BC029F841}"/>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84380F4E-8C28-38A7-27AD-895E95C014F2}"/>
              </a:ext>
            </a:extLst>
          </p:cNvPr>
          <p:cNvSpPr>
            <a:spLocks noGrp="1"/>
          </p:cNvSpPr>
          <p:nvPr>
            <p:ph type="sldNum" sz="quarter" idx="5"/>
          </p:nvPr>
        </p:nvSpPr>
        <p:spPr/>
        <p:txBody>
          <a:bodyPr/>
          <a:lstStyle/>
          <a:p>
            <a:fld id="{58C38933-F63C-44DD-AC2D-4B20B8EF7926}" type="slidenum">
              <a:rPr lang="en-AE" smtClean="0"/>
              <a:t>15</a:t>
            </a:fld>
            <a:endParaRPr lang="en-AE"/>
          </a:p>
        </p:txBody>
      </p:sp>
    </p:spTree>
    <p:extLst>
      <p:ext uri="{BB962C8B-B14F-4D97-AF65-F5344CB8AC3E}">
        <p14:creationId xmlns:p14="http://schemas.microsoft.com/office/powerpoint/2010/main" val="23884682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7F806-9DAF-E4F9-C681-02ECA2E06C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0F011-1763-E810-A8B5-F6F317C447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58523-3049-D749-E94D-408A57B9C6C6}"/>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CCADA493-7C45-2A43-FACE-DED65A6A55E7}"/>
              </a:ext>
            </a:extLst>
          </p:cNvPr>
          <p:cNvSpPr>
            <a:spLocks noGrp="1"/>
          </p:cNvSpPr>
          <p:nvPr>
            <p:ph type="sldNum" sz="quarter" idx="5"/>
          </p:nvPr>
        </p:nvSpPr>
        <p:spPr/>
        <p:txBody>
          <a:bodyPr/>
          <a:lstStyle/>
          <a:p>
            <a:fld id="{58C38933-F63C-44DD-AC2D-4B20B8EF7926}" type="slidenum">
              <a:rPr lang="en-AE" smtClean="0"/>
              <a:t>16</a:t>
            </a:fld>
            <a:endParaRPr lang="en-AE"/>
          </a:p>
        </p:txBody>
      </p:sp>
    </p:spTree>
    <p:extLst>
      <p:ext uri="{BB962C8B-B14F-4D97-AF65-F5344CB8AC3E}">
        <p14:creationId xmlns:p14="http://schemas.microsoft.com/office/powerpoint/2010/main" val="31936341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85C85-3C35-24DA-6FAF-0F72E60D42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83D90-5AC2-F051-DC9B-A774C78FF7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25C9ED-4702-ABD7-9EBC-9B72899CFB6F}"/>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D4726F5F-3567-4045-F785-0E0E495BAAB0}"/>
              </a:ext>
            </a:extLst>
          </p:cNvPr>
          <p:cNvSpPr>
            <a:spLocks noGrp="1"/>
          </p:cNvSpPr>
          <p:nvPr>
            <p:ph type="sldNum" sz="quarter" idx="5"/>
          </p:nvPr>
        </p:nvSpPr>
        <p:spPr/>
        <p:txBody>
          <a:bodyPr/>
          <a:lstStyle/>
          <a:p>
            <a:fld id="{58C38933-F63C-44DD-AC2D-4B20B8EF7926}" type="slidenum">
              <a:rPr lang="en-AE" smtClean="0"/>
              <a:t>17</a:t>
            </a:fld>
            <a:endParaRPr lang="en-AE"/>
          </a:p>
        </p:txBody>
      </p:sp>
    </p:spTree>
    <p:extLst>
      <p:ext uri="{BB962C8B-B14F-4D97-AF65-F5344CB8AC3E}">
        <p14:creationId xmlns:p14="http://schemas.microsoft.com/office/powerpoint/2010/main" val="13901526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DFA13-6E60-CCFE-9E51-F9B1844BD9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716CE7-44BD-3A4A-B497-47C68C52B3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3BC521-6B48-61DD-6A57-6D24ADE548A4}"/>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9AB55F83-231C-7B70-0C0A-6A75279275B8}"/>
              </a:ext>
            </a:extLst>
          </p:cNvPr>
          <p:cNvSpPr>
            <a:spLocks noGrp="1"/>
          </p:cNvSpPr>
          <p:nvPr>
            <p:ph type="sldNum" sz="quarter" idx="5"/>
          </p:nvPr>
        </p:nvSpPr>
        <p:spPr/>
        <p:txBody>
          <a:bodyPr/>
          <a:lstStyle/>
          <a:p>
            <a:fld id="{58C38933-F63C-44DD-AC2D-4B20B8EF7926}" type="slidenum">
              <a:rPr lang="en-AE" smtClean="0"/>
              <a:t>18</a:t>
            </a:fld>
            <a:endParaRPr lang="en-AE"/>
          </a:p>
        </p:txBody>
      </p:sp>
    </p:spTree>
    <p:extLst>
      <p:ext uri="{BB962C8B-B14F-4D97-AF65-F5344CB8AC3E}">
        <p14:creationId xmlns:p14="http://schemas.microsoft.com/office/powerpoint/2010/main" val="10452906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C2FCCB-BFED-FCE8-9361-BFFAEB268B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EED977-3406-A770-C911-C5CF42C85A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97E928-7333-8253-C506-AE6451D8F174}"/>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B2215B2C-CE79-3107-0AE3-821227FC68DE}"/>
              </a:ext>
            </a:extLst>
          </p:cNvPr>
          <p:cNvSpPr>
            <a:spLocks noGrp="1"/>
          </p:cNvSpPr>
          <p:nvPr>
            <p:ph type="sldNum" sz="quarter" idx="5"/>
          </p:nvPr>
        </p:nvSpPr>
        <p:spPr/>
        <p:txBody>
          <a:bodyPr/>
          <a:lstStyle/>
          <a:p>
            <a:fld id="{58C38933-F63C-44DD-AC2D-4B20B8EF7926}" type="slidenum">
              <a:rPr lang="en-AE" smtClean="0"/>
              <a:t>19</a:t>
            </a:fld>
            <a:endParaRPr lang="en-AE"/>
          </a:p>
        </p:txBody>
      </p:sp>
    </p:spTree>
    <p:extLst>
      <p:ext uri="{BB962C8B-B14F-4D97-AF65-F5344CB8AC3E}">
        <p14:creationId xmlns:p14="http://schemas.microsoft.com/office/powerpoint/2010/main" val="26331231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819C1-EA3A-2BCA-BD49-3D9E4DBDE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0C46B2-1754-7D8D-FD26-D4BB026A42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21E340-A606-E454-D190-817998E1C13D}"/>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E4D344B4-A37B-477A-C1E7-389D2D400F4F}"/>
              </a:ext>
            </a:extLst>
          </p:cNvPr>
          <p:cNvSpPr>
            <a:spLocks noGrp="1"/>
          </p:cNvSpPr>
          <p:nvPr>
            <p:ph type="sldNum" sz="quarter" idx="5"/>
          </p:nvPr>
        </p:nvSpPr>
        <p:spPr/>
        <p:txBody>
          <a:bodyPr/>
          <a:lstStyle/>
          <a:p>
            <a:fld id="{58C38933-F63C-44DD-AC2D-4B20B8EF7926}" type="slidenum">
              <a:rPr lang="en-AE" smtClean="0"/>
              <a:t>20</a:t>
            </a:fld>
            <a:endParaRPr lang="en-AE"/>
          </a:p>
        </p:txBody>
      </p:sp>
    </p:spTree>
    <p:extLst>
      <p:ext uri="{BB962C8B-B14F-4D97-AF65-F5344CB8AC3E}">
        <p14:creationId xmlns:p14="http://schemas.microsoft.com/office/powerpoint/2010/main" val="33622143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20153-C39F-9672-C6D3-8AA6D75E03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CD0427-DDEA-0DBE-AEB8-A79C120F0A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CDB857-5ACA-A808-B12F-3C078D93C680}"/>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A7F3213D-4735-E7BA-363C-09F32FCA692F}"/>
              </a:ext>
            </a:extLst>
          </p:cNvPr>
          <p:cNvSpPr>
            <a:spLocks noGrp="1"/>
          </p:cNvSpPr>
          <p:nvPr>
            <p:ph type="sldNum" sz="quarter" idx="5"/>
          </p:nvPr>
        </p:nvSpPr>
        <p:spPr/>
        <p:txBody>
          <a:bodyPr/>
          <a:lstStyle/>
          <a:p>
            <a:fld id="{58C38933-F63C-44DD-AC2D-4B20B8EF7926}" type="slidenum">
              <a:rPr lang="en-AE" smtClean="0"/>
              <a:t>21</a:t>
            </a:fld>
            <a:endParaRPr lang="en-AE"/>
          </a:p>
        </p:txBody>
      </p:sp>
    </p:spTree>
    <p:extLst>
      <p:ext uri="{BB962C8B-B14F-4D97-AF65-F5344CB8AC3E}">
        <p14:creationId xmlns:p14="http://schemas.microsoft.com/office/powerpoint/2010/main" val="36530303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7789F-8893-0379-8619-445F52F94D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B8BB2C-28F4-FFBD-6216-AA551960CE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C5FC39-77D6-13BE-12B5-8B98E495E40D}"/>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24B17B6A-2CC6-D0B5-4F36-EDFD1A3DD76F}"/>
              </a:ext>
            </a:extLst>
          </p:cNvPr>
          <p:cNvSpPr>
            <a:spLocks noGrp="1"/>
          </p:cNvSpPr>
          <p:nvPr>
            <p:ph type="sldNum" sz="quarter" idx="5"/>
          </p:nvPr>
        </p:nvSpPr>
        <p:spPr/>
        <p:txBody>
          <a:bodyPr/>
          <a:lstStyle/>
          <a:p>
            <a:fld id="{58C38933-F63C-44DD-AC2D-4B20B8EF7926}" type="slidenum">
              <a:rPr lang="en-AE" smtClean="0"/>
              <a:t>22</a:t>
            </a:fld>
            <a:endParaRPr lang="en-AE"/>
          </a:p>
        </p:txBody>
      </p:sp>
    </p:spTree>
    <p:extLst>
      <p:ext uri="{BB962C8B-B14F-4D97-AF65-F5344CB8AC3E}">
        <p14:creationId xmlns:p14="http://schemas.microsoft.com/office/powerpoint/2010/main" val="19329045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CC1D5-5D1D-4D02-7765-0930B569C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64C3DD-79BF-BD29-9F88-8EF9D0D7B2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B74FC3-1818-98A4-101A-A87787D60753}"/>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B9D5A428-D6E3-67E5-B95D-DB1BC2A5012E}"/>
              </a:ext>
            </a:extLst>
          </p:cNvPr>
          <p:cNvSpPr>
            <a:spLocks noGrp="1"/>
          </p:cNvSpPr>
          <p:nvPr>
            <p:ph type="sldNum" sz="quarter" idx="5"/>
          </p:nvPr>
        </p:nvSpPr>
        <p:spPr/>
        <p:txBody>
          <a:bodyPr/>
          <a:lstStyle/>
          <a:p>
            <a:fld id="{58C38933-F63C-44DD-AC2D-4B20B8EF7926}" type="slidenum">
              <a:rPr lang="en-AE" smtClean="0"/>
              <a:t>23</a:t>
            </a:fld>
            <a:endParaRPr lang="en-AE"/>
          </a:p>
        </p:txBody>
      </p:sp>
    </p:spTree>
    <p:extLst>
      <p:ext uri="{BB962C8B-B14F-4D97-AF65-F5344CB8AC3E}">
        <p14:creationId xmlns:p14="http://schemas.microsoft.com/office/powerpoint/2010/main" val="2508534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9156E-072D-F073-6D52-DF6E88CBD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7EE56B-7ED7-2A7B-1D10-9485B59010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AD7F54-8B4B-6E62-72AB-3231B936E42A}"/>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CCE48185-1392-CD45-A02C-5A43F0FBC833}"/>
              </a:ext>
            </a:extLst>
          </p:cNvPr>
          <p:cNvSpPr>
            <a:spLocks noGrp="1"/>
          </p:cNvSpPr>
          <p:nvPr>
            <p:ph type="sldNum" sz="quarter" idx="5"/>
          </p:nvPr>
        </p:nvSpPr>
        <p:spPr/>
        <p:txBody>
          <a:bodyPr/>
          <a:lstStyle/>
          <a:p>
            <a:fld id="{58C38933-F63C-44DD-AC2D-4B20B8EF7926}" type="slidenum">
              <a:rPr lang="en-AE" smtClean="0"/>
              <a:t>24</a:t>
            </a:fld>
            <a:endParaRPr lang="en-AE"/>
          </a:p>
        </p:txBody>
      </p:sp>
    </p:spTree>
    <p:extLst>
      <p:ext uri="{BB962C8B-B14F-4D97-AF65-F5344CB8AC3E}">
        <p14:creationId xmlns:p14="http://schemas.microsoft.com/office/powerpoint/2010/main" val="7571190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8706E1-3856-2FF3-E2D6-4AAE8421C5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4BD1A4-5316-BC5F-4757-956890EB6C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5CC68E-CB06-AD5F-EEF1-2FB332B6B6E2}"/>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0B12BF21-B889-DF55-F424-995D436D9E48}"/>
              </a:ext>
            </a:extLst>
          </p:cNvPr>
          <p:cNvSpPr>
            <a:spLocks noGrp="1"/>
          </p:cNvSpPr>
          <p:nvPr>
            <p:ph type="sldNum" sz="quarter" idx="5"/>
          </p:nvPr>
        </p:nvSpPr>
        <p:spPr/>
        <p:txBody>
          <a:bodyPr/>
          <a:lstStyle/>
          <a:p>
            <a:fld id="{58C38933-F63C-44DD-AC2D-4B20B8EF7926}" type="slidenum">
              <a:rPr lang="en-AE" smtClean="0"/>
              <a:t>25</a:t>
            </a:fld>
            <a:endParaRPr lang="en-AE"/>
          </a:p>
        </p:txBody>
      </p:sp>
    </p:spTree>
    <p:extLst>
      <p:ext uri="{BB962C8B-B14F-4D97-AF65-F5344CB8AC3E}">
        <p14:creationId xmlns:p14="http://schemas.microsoft.com/office/powerpoint/2010/main" val="34599092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2B190-2AA6-67FD-4648-1AB93BBB26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069C4B-402F-D152-3768-D62D14CFAF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B7EB08-D3C3-6CBB-12D7-EF983C91C8A1}"/>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D031D5C7-5BF7-1AC2-F004-B14C129660AB}"/>
              </a:ext>
            </a:extLst>
          </p:cNvPr>
          <p:cNvSpPr>
            <a:spLocks noGrp="1"/>
          </p:cNvSpPr>
          <p:nvPr>
            <p:ph type="sldNum" sz="quarter" idx="5"/>
          </p:nvPr>
        </p:nvSpPr>
        <p:spPr/>
        <p:txBody>
          <a:bodyPr/>
          <a:lstStyle/>
          <a:p>
            <a:fld id="{58C38933-F63C-44DD-AC2D-4B20B8EF7926}" type="slidenum">
              <a:rPr lang="en-AE" smtClean="0"/>
              <a:t>26</a:t>
            </a:fld>
            <a:endParaRPr lang="en-AE"/>
          </a:p>
        </p:txBody>
      </p:sp>
    </p:spTree>
    <p:extLst>
      <p:ext uri="{BB962C8B-B14F-4D97-AF65-F5344CB8AC3E}">
        <p14:creationId xmlns:p14="http://schemas.microsoft.com/office/powerpoint/2010/main" val="131881466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1AA50-FA7B-249E-4246-4EB61CCC7A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9547D-626C-8F32-F089-FDC84555FB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BFBE95-2074-9D9B-3CC7-5B39F9B3606E}"/>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1D55962F-0C85-667D-854D-4666FE23BD6A}"/>
              </a:ext>
            </a:extLst>
          </p:cNvPr>
          <p:cNvSpPr>
            <a:spLocks noGrp="1"/>
          </p:cNvSpPr>
          <p:nvPr>
            <p:ph type="sldNum" sz="quarter" idx="5"/>
          </p:nvPr>
        </p:nvSpPr>
        <p:spPr/>
        <p:txBody>
          <a:bodyPr/>
          <a:lstStyle/>
          <a:p>
            <a:fld id="{58C38933-F63C-44DD-AC2D-4B20B8EF7926}" type="slidenum">
              <a:rPr lang="en-AE" smtClean="0"/>
              <a:t>27</a:t>
            </a:fld>
            <a:endParaRPr lang="en-AE"/>
          </a:p>
        </p:txBody>
      </p:sp>
    </p:spTree>
    <p:extLst>
      <p:ext uri="{BB962C8B-B14F-4D97-AF65-F5344CB8AC3E}">
        <p14:creationId xmlns:p14="http://schemas.microsoft.com/office/powerpoint/2010/main" val="4011513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57639-39F4-B120-305D-AB0BB3BC32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F93846-2312-EA17-7479-04CEEA0AD2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2E9AA0-8F02-AC87-01BE-A2E0ABCA5143}"/>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834F7063-EACE-307B-01E2-D2E8321AB394}"/>
              </a:ext>
            </a:extLst>
          </p:cNvPr>
          <p:cNvSpPr>
            <a:spLocks noGrp="1"/>
          </p:cNvSpPr>
          <p:nvPr>
            <p:ph type="sldNum" sz="quarter" idx="5"/>
          </p:nvPr>
        </p:nvSpPr>
        <p:spPr/>
        <p:txBody>
          <a:bodyPr/>
          <a:lstStyle/>
          <a:p>
            <a:fld id="{58C38933-F63C-44DD-AC2D-4B20B8EF7926}" type="slidenum">
              <a:rPr lang="en-AE" smtClean="0"/>
              <a:t>28</a:t>
            </a:fld>
            <a:endParaRPr lang="en-AE"/>
          </a:p>
        </p:txBody>
      </p:sp>
    </p:spTree>
    <p:extLst>
      <p:ext uri="{BB962C8B-B14F-4D97-AF65-F5344CB8AC3E}">
        <p14:creationId xmlns:p14="http://schemas.microsoft.com/office/powerpoint/2010/main" val="13134688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0465E-D5FE-EC9B-1E81-707D5D8D0E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25317-4F67-016A-DA1E-5939FC1F66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4FBE05-9188-540A-A17D-9C35FCB3155C}"/>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728D7F86-BB2B-49E6-9664-C2DE0C2E153D}"/>
              </a:ext>
            </a:extLst>
          </p:cNvPr>
          <p:cNvSpPr>
            <a:spLocks noGrp="1"/>
          </p:cNvSpPr>
          <p:nvPr>
            <p:ph type="sldNum" sz="quarter" idx="5"/>
          </p:nvPr>
        </p:nvSpPr>
        <p:spPr/>
        <p:txBody>
          <a:bodyPr/>
          <a:lstStyle/>
          <a:p>
            <a:fld id="{58C38933-F63C-44DD-AC2D-4B20B8EF7926}" type="slidenum">
              <a:rPr lang="en-AE" smtClean="0"/>
              <a:t>29</a:t>
            </a:fld>
            <a:endParaRPr lang="en-AE"/>
          </a:p>
        </p:txBody>
      </p:sp>
    </p:spTree>
    <p:extLst>
      <p:ext uri="{BB962C8B-B14F-4D97-AF65-F5344CB8AC3E}">
        <p14:creationId xmlns:p14="http://schemas.microsoft.com/office/powerpoint/2010/main" val="32036131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02A89-0F94-B3D4-1F8E-96C1B80B6B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93EECD-B757-0BDE-4833-2F514A2D58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E2E1DB-D39D-193A-B585-F73B3F302506}"/>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1BB9DDBA-CC79-3567-E657-6340A76F8B7F}"/>
              </a:ext>
            </a:extLst>
          </p:cNvPr>
          <p:cNvSpPr>
            <a:spLocks noGrp="1"/>
          </p:cNvSpPr>
          <p:nvPr>
            <p:ph type="sldNum" sz="quarter" idx="5"/>
          </p:nvPr>
        </p:nvSpPr>
        <p:spPr/>
        <p:txBody>
          <a:bodyPr/>
          <a:lstStyle/>
          <a:p>
            <a:fld id="{58C38933-F63C-44DD-AC2D-4B20B8EF7926}" type="slidenum">
              <a:rPr lang="en-AE" smtClean="0"/>
              <a:t>30</a:t>
            </a:fld>
            <a:endParaRPr lang="en-AE"/>
          </a:p>
        </p:txBody>
      </p:sp>
    </p:spTree>
    <p:extLst>
      <p:ext uri="{BB962C8B-B14F-4D97-AF65-F5344CB8AC3E}">
        <p14:creationId xmlns:p14="http://schemas.microsoft.com/office/powerpoint/2010/main" val="28240163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D466B-9AAE-123E-B042-F4B96AA180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8B5DAB-F400-C5B5-98A4-A88E701CDF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EC66FB-6A54-77A5-5A31-9BCB7D6CB3BD}"/>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BF7CB6A8-7AC4-1C0F-134C-8480E1C7CEC0}"/>
              </a:ext>
            </a:extLst>
          </p:cNvPr>
          <p:cNvSpPr>
            <a:spLocks noGrp="1"/>
          </p:cNvSpPr>
          <p:nvPr>
            <p:ph type="sldNum" sz="quarter" idx="5"/>
          </p:nvPr>
        </p:nvSpPr>
        <p:spPr/>
        <p:txBody>
          <a:bodyPr/>
          <a:lstStyle/>
          <a:p>
            <a:fld id="{58C38933-F63C-44DD-AC2D-4B20B8EF7926}" type="slidenum">
              <a:rPr lang="en-AE" smtClean="0"/>
              <a:t>31</a:t>
            </a:fld>
            <a:endParaRPr lang="en-AE"/>
          </a:p>
        </p:txBody>
      </p:sp>
    </p:spTree>
    <p:extLst>
      <p:ext uri="{BB962C8B-B14F-4D97-AF65-F5344CB8AC3E}">
        <p14:creationId xmlns:p14="http://schemas.microsoft.com/office/powerpoint/2010/main" val="15147968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B5DC6-97A3-B901-7521-889642340D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103881-19AD-3511-8474-61781D8415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45CD6-CC30-3CB3-F9F4-439FE462BDE9}"/>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B3DCED01-67CB-2A15-40BE-1C2BAECB6AB2}"/>
              </a:ext>
            </a:extLst>
          </p:cNvPr>
          <p:cNvSpPr>
            <a:spLocks noGrp="1"/>
          </p:cNvSpPr>
          <p:nvPr>
            <p:ph type="sldNum" sz="quarter" idx="5"/>
          </p:nvPr>
        </p:nvSpPr>
        <p:spPr/>
        <p:txBody>
          <a:bodyPr/>
          <a:lstStyle/>
          <a:p>
            <a:fld id="{58C38933-F63C-44DD-AC2D-4B20B8EF7926}" type="slidenum">
              <a:rPr lang="en-AE" smtClean="0"/>
              <a:t>32</a:t>
            </a:fld>
            <a:endParaRPr lang="en-AE"/>
          </a:p>
        </p:txBody>
      </p:sp>
    </p:spTree>
    <p:extLst>
      <p:ext uri="{BB962C8B-B14F-4D97-AF65-F5344CB8AC3E}">
        <p14:creationId xmlns:p14="http://schemas.microsoft.com/office/powerpoint/2010/main" val="36560032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BB080-1912-BD2B-8500-902722056E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21A8D5-C510-82CC-A072-F687CC7C70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0AF4AF-86E3-F7DD-919F-969D4834E44B}"/>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866D4AE0-C895-4E54-05DA-D971C49F99BE}"/>
              </a:ext>
            </a:extLst>
          </p:cNvPr>
          <p:cNvSpPr>
            <a:spLocks noGrp="1"/>
          </p:cNvSpPr>
          <p:nvPr>
            <p:ph type="sldNum" sz="quarter" idx="5"/>
          </p:nvPr>
        </p:nvSpPr>
        <p:spPr/>
        <p:txBody>
          <a:bodyPr/>
          <a:lstStyle/>
          <a:p>
            <a:fld id="{58C38933-F63C-44DD-AC2D-4B20B8EF7926}" type="slidenum">
              <a:rPr lang="en-AE" smtClean="0"/>
              <a:t>33</a:t>
            </a:fld>
            <a:endParaRPr lang="en-AE"/>
          </a:p>
        </p:txBody>
      </p:sp>
    </p:spTree>
    <p:extLst>
      <p:ext uri="{BB962C8B-B14F-4D97-AF65-F5344CB8AC3E}">
        <p14:creationId xmlns:p14="http://schemas.microsoft.com/office/powerpoint/2010/main" val="39905201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EC723-3DE7-B1C7-9B5D-F44C84A10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EEBC79-68AF-4BBD-2285-B05FBFD00B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B7CA0A-EE2D-7113-7D86-E186DAD00D21}"/>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6D1BC74C-A8A4-3E7E-BA38-C96D2D69D957}"/>
              </a:ext>
            </a:extLst>
          </p:cNvPr>
          <p:cNvSpPr>
            <a:spLocks noGrp="1"/>
          </p:cNvSpPr>
          <p:nvPr>
            <p:ph type="sldNum" sz="quarter" idx="5"/>
          </p:nvPr>
        </p:nvSpPr>
        <p:spPr/>
        <p:txBody>
          <a:bodyPr/>
          <a:lstStyle/>
          <a:p>
            <a:fld id="{58C38933-F63C-44DD-AC2D-4B20B8EF7926}" type="slidenum">
              <a:rPr lang="en-AE" smtClean="0"/>
              <a:t>34</a:t>
            </a:fld>
            <a:endParaRPr lang="en-AE"/>
          </a:p>
        </p:txBody>
      </p:sp>
    </p:spTree>
    <p:extLst>
      <p:ext uri="{BB962C8B-B14F-4D97-AF65-F5344CB8AC3E}">
        <p14:creationId xmlns:p14="http://schemas.microsoft.com/office/powerpoint/2010/main" val="18528219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00CBF3D-4DD9-4E8F-8E9A-BB60BDBC1DCF}" type="datetime1">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F43EBE-F72E-4D7A-8073-2997FF61F997}" type="slidenum">
              <a:rPr lang="en-US" smtClean="0"/>
              <a:t>‹#›</a:t>
            </a:fld>
            <a:endParaRPr lang="en-US"/>
          </a:p>
        </p:txBody>
      </p:sp>
    </p:spTree>
    <p:extLst>
      <p:ext uri="{BB962C8B-B14F-4D97-AF65-F5344CB8AC3E}">
        <p14:creationId xmlns:p14="http://schemas.microsoft.com/office/powerpoint/2010/main" val="2153112725"/>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ABF4EF7-68F6-4ABA-AE03-7B53A6F20946}" type="datetime1">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F43EBE-F72E-4D7A-8073-2997FF61F997}" type="slidenum">
              <a:rPr lang="en-US" smtClean="0"/>
              <a:t>‹#›</a:t>
            </a:fld>
            <a:endParaRPr lang="en-US"/>
          </a:p>
        </p:txBody>
      </p:sp>
    </p:spTree>
    <p:extLst>
      <p:ext uri="{BB962C8B-B14F-4D97-AF65-F5344CB8AC3E}">
        <p14:creationId xmlns:p14="http://schemas.microsoft.com/office/powerpoint/2010/main" val="267519507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5D98D9A-CE27-4947-AD72-798AA56DC14F}" type="datetime1">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F43EBE-F72E-4D7A-8073-2997FF61F997}" type="slidenum">
              <a:rPr lang="en-US" smtClean="0"/>
              <a:t>‹#›</a:t>
            </a:fld>
            <a:endParaRPr lang="en-US"/>
          </a:p>
        </p:txBody>
      </p:sp>
    </p:spTree>
    <p:extLst>
      <p:ext uri="{BB962C8B-B14F-4D97-AF65-F5344CB8AC3E}">
        <p14:creationId xmlns:p14="http://schemas.microsoft.com/office/powerpoint/2010/main" val="2649232917"/>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240F1E7-9E68-40C1-B876-FF49BD5D4105}" type="datetime1">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F43EBE-F72E-4D7A-8073-2997FF61F997}" type="slidenum">
              <a:rPr lang="en-US" smtClean="0"/>
              <a:t>‹#›</a:t>
            </a:fld>
            <a:endParaRPr lang="en-US"/>
          </a:p>
        </p:txBody>
      </p:sp>
    </p:spTree>
    <p:extLst>
      <p:ext uri="{BB962C8B-B14F-4D97-AF65-F5344CB8AC3E}">
        <p14:creationId xmlns:p14="http://schemas.microsoft.com/office/powerpoint/2010/main" val="111097252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FDE20A-8EEA-4C03-8627-CD2F5DA17073}" type="datetime1">
              <a:rPr lang="en-US" smtClean="0"/>
              <a:t>2/17/2026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AF43EBE-F72E-4D7A-8073-2997FF61F997}" type="slidenum">
              <a:rPr lang="en-US" smtClean="0"/>
              <a:t>‹#›</a:t>
            </a:fld>
            <a:endParaRPr lang="en-US"/>
          </a:p>
        </p:txBody>
      </p:sp>
    </p:spTree>
    <p:extLst>
      <p:ext uri="{BB962C8B-B14F-4D97-AF65-F5344CB8AC3E}">
        <p14:creationId xmlns:p14="http://schemas.microsoft.com/office/powerpoint/2010/main" val="335387539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888C72B-039B-422B-9830-D51A9BB52682}" type="datetime1">
              <a:rPr lang="en-US" smtClean="0"/>
              <a:t>2/17/2026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AF43EBE-F72E-4D7A-8073-2997FF61F997}" type="slidenum">
              <a:rPr lang="en-US" smtClean="0"/>
              <a:t>‹#›</a:t>
            </a:fld>
            <a:endParaRPr lang="en-US"/>
          </a:p>
        </p:txBody>
      </p:sp>
    </p:spTree>
    <p:extLst>
      <p:ext uri="{BB962C8B-B14F-4D97-AF65-F5344CB8AC3E}">
        <p14:creationId xmlns:p14="http://schemas.microsoft.com/office/powerpoint/2010/main" val="385058759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86C89C-4092-4EBE-8643-E5240046CEB7}" type="datetime1">
              <a:rPr lang="en-US" smtClean="0"/>
              <a:t>2/17/2026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AF43EBE-F72E-4D7A-8073-2997FF61F997}" type="slidenum">
              <a:rPr lang="en-US" smtClean="0"/>
              <a:t>‹#›</a:t>
            </a:fld>
            <a:endParaRPr lang="en-US"/>
          </a:p>
        </p:txBody>
      </p:sp>
    </p:spTree>
    <p:extLst>
      <p:ext uri="{BB962C8B-B14F-4D97-AF65-F5344CB8AC3E}">
        <p14:creationId xmlns:p14="http://schemas.microsoft.com/office/powerpoint/2010/main" val="162202216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01D7909-2856-465A-A90C-525CE14339FB}" type="datetime1">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F43EBE-F72E-4D7A-8073-2997FF61F997}" type="slidenum">
              <a:rPr lang="en-US" smtClean="0"/>
              <a:t>‹#›</a:t>
            </a:fld>
            <a:endParaRPr lang="en-US"/>
          </a:p>
        </p:txBody>
      </p:sp>
    </p:spTree>
    <p:extLst>
      <p:ext uri="{BB962C8B-B14F-4D97-AF65-F5344CB8AC3E}">
        <p14:creationId xmlns:p14="http://schemas.microsoft.com/office/powerpoint/2010/main" val="353222793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978B493-1082-4DE6-A31A-4C3400FA1DF2}" type="datetime1">
              <a:rPr lang="en-US" smtClean="0"/>
              <a:t>2/17/2026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AF43EBE-F72E-4D7A-8073-2997FF61F997}" type="slidenum">
              <a:rPr lang="en-US" smtClean="0"/>
              <a:t>‹#›</a:t>
            </a:fld>
            <a:endParaRPr lang="en-US"/>
          </a:p>
        </p:txBody>
      </p:sp>
    </p:spTree>
    <p:extLst>
      <p:ext uri="{BB962C8B-B14F-4D97-AF65-F5344CB8AC3E}">
        <p14:creationId xmlns:p14="http://schemas.microsoft.com/office/powerpoint/2010/main" val="253661315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0422DF9-24A8-4379-972C-99F872A9713C}" type="datetime1">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F43EBE-F72E-4D7A-8073-2997FF61F997}" type="slidenum">
              <a:rPr lang="en-US" smtClean="0"/>
              <a:t>‹#›</a:t>
            </a:fld>
            <a:endParaRPr lang="en-US"/>
          </a:p>
        </p:txBody>
      </p:sp>
    </p:spTree>
    <p:extLst>
      <p:ext uri="{BB962C8B-B14F-4D97-AF65-F5344CB8AC3E}">
        <p14:creationId xmlns:p14="http://schemas.microsoft.com/office/powerpoint/2010/main" val="407234254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0AA4DEC-F148-4095-9A94-963D96701FD9}" type="datetime1">
              <a:rPr lang="en-US" smtClean="0"/>
              <a:t>2/17/2026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AF43EBE-F72E-4D7A-8073-2997FF61F997}" type="slidenum">
              <a:rPr lang="en-US" smtClean="0"/>
              <a:t>‹#›</a:t>
            </a:fld>
            <a:endParaRPr lang="en-US"/>
          </a:p>
        </p:txBody>
      </p:sp>
    </p:spTree>
    <p:extLst>
      <p:ext uri="{BB962C8B-B14F-4D97-AF65-F5344CB8AC3E}">
        <p14:creationId xmlns:p14="http://schemas.microsoft.com/office/powerpoint/2010/main" val="120829089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tretch>
            <a:fillRect t="-1000" b="-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A0892A-7783-4496-8423-DC3ADFFE38F9}" type="datetime1">
              <a:rPr lang="en-US" smtClean="0"/>
              <a:t>2/17/2026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F43EBE-F72E-4D7A-8073-2997FF61F997}" type="slidenum">
              <a:rPr lang="en-US" smtClean="0"/>
              <a:t>‹#›</a:t>
            </a:fld>
            <a:endParaRPr lang="en-US"/>
          </a:p>
        </p:txBody>
      </p:sp>
    </p:spTree>
    <p:extLst>
      <p:ext uri="{BB962C8B-B14F-4D97-AF65-F5344CB8AC3E}">
        <p14:creationId xmlns:p14="http://schemas.microsoft.com/office/powerpoint/2010/main" val="1910285581"/>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35">
          <p15:clr>
            <a:srgbClr val="F26B43"/>
          </p15:clr>
        </p15:guide>
        <p15:guide id="2" orient="horz" pos="1087">
          <p15:clr>
            <a:srgbClr val="F26B43"/>
          </p15:clr>
        </p15:guide>
        <p15:guide id="3" orient="horz" pos="3981">
          <p15:clr>
            <a:srgbClr val="F26B43"/>
          </p15:clr>
        </p15:guide>
        <p15:guide id="4" pos="528">
          <p15:clr>
            <a:srgbClr val="F26B43"/>
          </p15:clr>
        </p15:guide>
        <p15:guide id="5" pos="71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432CB-D900-E745-DC9F-BC5AC2A98E2B}"/>
              </a:ext>
            </a:extLst>
          </p:cNvPr>
          <p:cNvSpPr>
            <a:spLocks noGrp="1"/>
          </p:cNvSpPr>
          <p:nvPr>
            <p:ph type="ctrTitle"/>
          </p:nvPr>
        </p:nvSpPr>
        <p:spPr/>
        <p:txBody>
          <a:bodyPr/>
          <a:lstStyle/>
          <a:p>
            <a:r>
              <a:rPr lang="en-US"/>
              <a:t>Digital Vault</a:t>
            </a:r>
          </a:p>
        </p:txBody>
      </p:sp>
      <p:sp>
        <p:nvSpPr>
          <p:cNvPr id="3" name="Subtitle 2">
            <a:extLst>
              <a:ext uri="{FF2B5EF4-FFF2-40B4-BE49-F238E27FC236}">
                <a16:creationId xmlns:a16="http://schemas.microsoft.com/office/drawing/2014/main" id="{E611C048-2D4F-837B-1FB2-E68B17CB7377}"/>
              </a:ext>
            </a:extLst>
          </p:cNvPr>
          <p:cNvSpPr>
            <a:spLocks noGrp="1"/>
          </p:cNvSpPr>
          <p:nvPr>
            <p:ph type="subTitle" idx="1"/>
          </p:nvPr>
        </p:nvSpPr>
        <p:spPr/>
        <p:txBody>
          <a:bodyPr/>
          <a:lstStyle/>
          <a:p>
            <a:r>
              <a:rPr lang="en-US" dirty="0"/>
              <a:t>2026 Roadmap </a:t>
            </a:r>
            <a:endParaRPr lang="en-AE" dirty="0"/>
          </a:p>
        </p:txBody>
      </p:sp>
      <p:sp>
        <p:nvSpPr>
          <p:cNvPr id="4" name="Slide Number Placeholder 3">
            <a:extLst>
              <a:ext uri="{FF2B5EF4-FFF2-40B4-BE49-F238E27FC236}">
                <a16:creationId xmlns:a16="http://schemas.microsoft.com/office/drawing/2014/main" id="{AD47AEFF-514A-1452-D04F-A67E43382C0A}"/>
              </a:ext>
            </a:extLst>
          </p:cNvPr>
          <p:cNvSpPr>
            <a:spLocks noGrp="1"/>
          </p:cNvSpPr>
          <p:nvPr>
            <p:ph type="sldNum" sz="quarter" idx="12"/>
          </p:nvPr>
        </p:nvSpPr>
        <p:spPr/>
        <p:txBody>
          <a:bodyPr/>
          <a:lstStyle/>
          <a:p>
            <a:fld id="{5AF43EBE-F72E-4D7A-8073-2997FF61F997}" type="slidenum">
              <a:rPr lang="en-US" smtClean="0"/>
              <a:t>1</a:t>
            </a:fld>
            <a:endParaRPr lang="en-US"/>
          </a:p>
        </p:txBody>
      </p:sp>
    </p:spTree>
    <p:extLst>
      <p:ext uri="{BB962C8B-B14F-4D97-AF65-F5344CB8AC3E}">
        <p14:creationId xmlns:p14="http://schemas.microsoft.com/office/powerpoint/2010/main" val="1846269091"/>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1B2B030-4738-4359-9E46-144B7C8BFF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3" name="Rectangle 12">
            <a:extLst>
              <a:ext uri="{FF2B5EF4-FFF2-40B4-BE49-F238E27FC236}">
                <a16:creationId xmlns:a16="http://schemas.microsoft.com/office/drawing/2014/main" id="{E722B2DD-E14D-4972-9D98-5D6E61B1B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2ECA78CA-BA1C-0198-F955-34EC913866A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l="121" r="1" b="1"/>
          <a:stretch>
            <a:fillRect/>
          </a:stretch>
        </p:blipFill>
        <p:spPr>
          <a:xfrm>
            <a:off x="20" y="10"/>
            <a:ext cx="12191980" cy="6866290"/>
          </a:xfrm>
          <a:prstGeom prst="rect">
            <a:avLst/>
          </a:prstGeom>
        </p:spPr>
      </p:pic>
      <p:sp>
        <p:nvSpPr>
          <p:cNvPr id="4" name="Slide Number Placeholder 3">
            <a:extLst>
              <a:ext uri="{FF2B5EF4-FFF2-40B4-BE49-F238E27FC236}">
                <a16:creationId xmlns:a16="http://schemas.microsoft.com/office/drawing/2014/main" id="{CE052EE4-1F6C-4D6D-279C-D03576254052}"/>
              </a:ext>
            </a:extLst>
          </p:cNvPr>
          <p:cNvSpPr>
            <a:spLocks noGrp="1"/>
          </p:cNvSpPr>
          <p:nvPr>
            <p:ph type="sldNum" sz="quarter" idx="12"/>
          </p:nvPr>
        </p:nvSpPr>
        <p:spPr>
          <a:xfrm>
            <a:off x="8732520" y="6356350"/>
            <a:ext cx="3200400" cy="365125"/>
          </a:xfrm>
        </p:spPr>
        <p:txBody>
          <a:bodyPr vert="horz" lIns="91440" tIns="45720" rIns="91440" bIns="45720" rtlCol="0" anchor="ctr">
            <a:normAutofit/>
          </a:bodyPr>
          <a:lstStyle/>
          <a:p>
            <a:pPr marL="0" defTabSz="914400"/>
            <a:fld id="{5AF43EBE-F72E-4D7A-8073-2997FF61F997}" type="slidenum">
              <a:rPr lang="en-US">
                <a:solidFill>
                  <a:srgbClr val="FFFFFF"/>
                </a:solidFill>
              </a:rPr>
              <a:pPr marL="0" defTabSz="914400"/>
              <a:t>2</a:t>
            </a:fld>
            <a:endParaRPr lang="en-US">
              <a:solidFill>
                <a:srgbClr val="FFFFFF"/>
              </a:solidFill>
            </a:endParaRPr>
          </a:p>
        </p:txBody>
      </p:sp>
      <p:pic>
        <p:nvPicPr>
          <p:cNvPr id="10" name="Picture 9">
            <a:extLst>
              <a:ext uri="{FF2B5EF4-FFF2-40B4-BE49-F238E27FC236}">
                <a16:creationId xmlns:a16="http://schemas.microsoft.com/office/drawing/2014/main" id="{DE84FB9B-C028-F48E-1C1B-E1029D28F3E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44642307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95F659-F58D-FDFE-5E94-3D18059D072D}"/>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DB5493EB-B25B-988D-9CED-9EADC67270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3" name="Rectangle 12">
            <a:extLst>
              <a:ext uri="{FF2B5EF4-FFF2-40B4-BE49-F238E27FC236}">
                <a16:creationId xmlns:a16="http://schemas.microsoft.com/office/drawing/2014/main" id="{26779F4D-3C82-2E28-6C47-BC3AB89FF8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99BC31A5-BB18-84A3-65C6-F6EDA88CA991}"/>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l="121" r="1" b="1"/>
          <a:stretch>
            <a:fillRect/>
          </a:stretch>
        </p:blipFill>
        <p:spPr>
          <a:xfrm>
            <a:off x="20" y="10"/>
            <a:ext cx="12191980" cy="6866290"/>
          </a:xfrm>
          <a:prstGeom prst="rect">
            <a:avLst/>
          </a:prstGeom>
        </p:spPr>
      </p:pic>
      <p:sp>
        <p:nvSpPr>
          <p:cNvPr id="4" name="Slide Number Placeholder 3">
            <a:extLst>
              <a:ext uri="{FF2B5EF4-FFF2-40B4-BE49-F238E27FC236}">
                <a16:creationId xmlns:a16="http://schemas.microsoft.com/office/drawing/2014/main" id="{B00D55BC-6552-487A-4954-76F6212B7D0F}"/>
              </a:ext>
            </a:extLst>
          </p:cNvPr>
          <p:cNvSpPr>
            <a:spLocks noGrp="1"/>
          </p:cNvSpPr>
          <p:nvPr>
            <p:ph type="sldNum" sz="quarter" idx="12"/>
          </p:nvPr>
        </p:nvSpPr>
        <p:spPr>
          <a:xfrm>
            <a:off x="8732520" y="6356350"/>
            <a:ext cx="3200400" cy="365125"/>
          </a:xfrm>
        </p:spPr>
        <p:txBody>
          <a:bodyPr vert="horz" lIns="91440" tIns="45720" rIns="91440" bIns="45720" rtlCol="0" anchor="ctr">
            <a:normAutofit/>
          </a:bodyPr>
          <a:lstStyle/>
          <a:p>
            <a:pPr marL="0" defTabSz="914400"/>
            <a:fld id="{5AF43EBE-F72E-4D7A-8073-2997FF61F997}" type="slidenum">
              <a:rPr lang="en-US">
                <a:solidFill>
                  <a:srgbClr val="FFFFFF"/>
                </a:solidFill>
              </a:rPr>
              <a:pPr marL="0" defTabSz="914400"/>
              <a:t>3</a:t>
            </a:fld>
            <a:endParaRPr lang="en-US">
              <a:solidFill>
                <a:srgbClr val="FFFFFF"/>
              </a:solidFill>
            </a:endParaRPr>
          </a:p>
        </p:txBody>
      </p:sp>
      <p:pic>
        <p:nvPicPr>
          <p:cNvPr id="10" name="Picture 9">
            <a:extLst>
              <a:ext uri="{FF2B5EF4-FFF2-40B4-BE49-F238E27FC236}">
                <a16:creationId xmlns:a16="http://schemas.microsoft.com/office/drawing/2014/main" id="{22FA1FEB-66D6-4D97-21E3-0EC95BBC60B8}"/>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80824404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5EEE07E0-03BF-A302-4D32-71FAFFE222B3}"/>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7F560FCA-4EBF-2B98-0A1F-E86E6B71F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3" name="Rectangle 12">
            <a:extLst>
              <a:ext uri="{FF2B5EF4-FFF2-40B4-BE49-F238E27FC236}">
                <a16:creationId xmlns:a16="http://schemas.microsoft.com/office/drawing/2014/main" id="{0E701C7D-A907-D98B-5952-B42CE83AD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3C186F54-8910-CAE5-53DF-43BB18B246D3}"/>
              </a:ext>
            </a:extLst>
          </p:cNvPr>
          <p:cNvSpPr>
            <a:spLocks noGrp="1"/>
          </p:cNvSpPr>
          <p:nvPr>
            <p:ph type="sldNum" sz="quarter" idx="12"/>
          </p:nvPr>
        </p:nvSpPr>
        <p:spPr>
          <a:xfrm>
            <a:off x="8732520" y="6356350"/>
            <a:ext cx="3200400" cy="365125"/>
          </a:xfrm>
        </p:spPr>
        <p:txBody>
          <a:bodyPr vert="horz" lIns="91440" tIns="45720" rIns="91440" bIns="45720" rtlCol="0" anchor="ctr">
            <a:normAutofit/>
          </a:bodyPr>
          <a:lstStyle/>
          <a:p>
            <a:pPr marL="0" defTabSz="914400"/>
            <a:fld id="{5AF43EBE-F72E-4D7A-8073-2997FF61F997}" type="slidenum">
              <a:rPr lang="en-US">
                <a:solidFill>
                  <a:srgbClr val="FFFFFF"/>
                </a:solidFill>
              </a:rPr>
              <a:pPr marL="0" defTabSz="914400"/>
              <a:t>4</a:t>
            </a:fld>
            <a:endParaRPr lang="en-US">
              <a:solidFill>
                <a:srgbClr val="FFFFFF"/>
              </a:solidFill>
            </a:endParaRPr>
          </a:p>
        </p:txBody>
      </p:sp>
      <p:pic>
        <p:nvPicPr>
          <p:cNvPr id="7" name="Content Placeholder 6">
            <a:extLst>
              <a:ext uri="{FF2B5EF4-FFF2-40B4-BE49-F238E27FC236}">
                <a16:creationId xmlns:a16="http://schemas.microsoft.com/office/drawing/2014/main" id="{76C51B6F-8CA5-E8E4-CDFD-2C91990E9A41}"/>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118" y="8300"/>
            <a:ext cx="12193117" cy="6858628"/>
          </a:xfrm>
        </p:spPr>
      </p:pic>
    </p:spTree>
    <p:extLst>
      <p:ext uri="{BB962C8B-B14F-4D97-AF65-F5344CB8AC3E}">
        <p14:creationId xmlns:p14="http://schemas.microsoft.com/office/powerpoint/2010/main" val="169158221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1DA5F0-204F-D30C-0F40-E3B3FA650B16}"/>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3A6C6E87-CDAE-016A-7C31-2EF56D96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 y="8300"/>
            <a:ext cx="12193117" cy="68497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3" name="Rectangle 12">
            <a:extLst>
              <a:ext uri="{FF2B5EF4-FFF2-40B4-BE49-F238E27FC236}">
                <a16:creationId xmlns:a16="http://schemas.microsoft.com/office/drawing/2014/main" id="{EEE18FE9-86D8-0889-9CD6-E65934D41D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144310" cy="6858000"/>
          </a:xfrm>
          <a:prstGeom prst="rect">
            <a:avLst/>
          </a:prstGeom>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96DA76D1-8A9C-93C6-004B-7053B46BCB85}"/>
              </a:ext>
            </a:extLst>
          </p:cNvPr>
          <p:cNvSpPr>
            <a:spLocks noGrp="1"/>
          </p:cNvSpPr>
          <p:nvPr>
            <p:ph type="sldNum" sz="quarter" idx="12"/>
          </p:nvPr>
        </p:nvSpPr>
        <p:spPr>
          <a:xfrm>
            <a:off x="8732520" y="6356350"/>
            <a:ext cx="3200400" cy="365125"/>
          </a:xfrm>
        </p:spPr>
        <p:txBody>
          <a:bodyPr vert="horz" lIns="91440" tIns="45720" rIns="91440" bIns="45720" rtlCol="0" anchor="ctr">
            <a:normAutofit/>
          </a:bodyPr>
          <a:lstStyle/>
          <a:p>
            <a:pPr marL="0" defTabSz="914400"/>
            <a:fld id="{5AF43EBE-F72E-4D7A-8073-2997FF61F997}" type="slidenum">
              <a:rPr lang="en-US">
                <a:solidFill>
                  <a:srgbClr val="FFFFFF"/>
                </a:solidFill>
              </a:rPr>
              <a:pPr marL="0" defTabSz="914400"/>
              <a:t>5</a:t>
            </a:fld>
            <a:endParaRPr lang="en-US">
              <a:solidFill>
                <a:srgbClr val="FFFFFF"/>
              </a:solidFill>
            </a:endParaRPr>
          </a:p>
        </p:txBody>
      </p:sp>
      <p:pic>
        <p:nvPicPr>
          <p:cNvPr id="7" name="Content Placeholder 6">
            <a:extLst>
              <a:ext uri="{FF2B5EF4-FFF2-40B4-BE49-F238E27FC236}">
                <a16:creationId xmlns:a16="http://schemas.microsoft.com/office/drawing/2014/main" id="{9B7F53D3-4B65-9DC4-BFA7-3F18B600960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p:blipFill>
        <p:spPr>
          <a:xfrm>
            <a:off x="-1118" y="-4226"/>
            <a:ext cx="12193117" cy="6858628"/>
          </a:xfrm>
        </p:spPr>
      </p:pic>
    </p:spTree>
    <p:extLst>
      <p:ext uri="{BB962C8B-B14F-4D97-AF65-F5344CB8AC3E}">
        <p14:creationId xmlns:p14="http://schemas.microsoft.com/office/powerpoint/2010/main" val="87690541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34899-8EE3-3BD9-07CB-AD50A78BB7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6D19DD-7FB1-352B-B189-E2E3BD013617}"/>
              </a:ext>
            </a:extLst>
          </p:cNvPr>
          <p:cNvSpPr>
            <a:spLocks noGrp="1"/>
          </p:cNvSpPr>
          <p:nvPr>
            <p:ph type="sldNum" sz="quarter" idx="12"/>
          </p:nvPr>
        </p:nvSpPr>
        <p:spPr/>
        <p:txBody>
          <a:bodyPr/>
          <a:lstStyle/>
          <a:p>
            <a:fld id="{5AF43EBE-F72E-4D7A-8073-2997FF61F997}" type="slidenum">
              <a:rPr lang="en-US" smtClean="0"/>
              <a:t>6</a:t>
            </a:fld>
            <a:endParaRPr lang="en-US"/>
          </a:p>
        </p:txBody>
      </p:sp>
      <p:sp>
        <p:nvSpPr>
          <p:cNvPr id="7" name="Rectangle 6">
            <a:extLst>
              <a:ext uri="{FF2B5EF4-FFF2-40B4-BE49-F238E27FC236}">
                <a16:creationId xmlns:a16="http://schemas.microsoft.com/office/drawing/2014/main" id="{7EBEDE4A-FBE0-404D-442E-04F61BB5A0B5}"/>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a:solidFill>
                  <a:srgbClr val="7F6000"/>
                </a:solidFill>
                <a:ea typeface="+mn-lt"/>
                <a:cs typeface="+mn-lt"/>
              </a:rPr>
              <a:t>Dual Citizenship</a:t>
            </a:r>
            <a:endParaRPr lang="en-US" dirty="0"/>
          </a:p>
        </p:txBody>
      </p:sp>
      <p:graphicFrame>
        <p:nvGraphicFramePr>
          <p:cNvPr id="12" name="Table 11">
            <a:extLst>
              <a:ext uri="{FF2B5EF4-FFF2-40B4-BE49-F238E27FC236}">
                <a16:creationId xmlns:a16="http://schemas.microsoft.com/office/drawing/2014/main" id="{3A8F0D04-FB1F-94D0-8E6F-DF7DDA344DCF}"/>
              </a:ext>
            </a:extLst>
          </p:cNvPr>
          <p:cNvGraphicFramePr>
            <a:graphicFrameLocks noGrp="1"/>
          </p:cNvGraphicFramePr>
          <p:nvPr>
            <p:extLst>
              <p:ext uri="{D42A27DB-BD31-4B8C-83A1-F6EECF244321}">
                <p14:modId xmlns:p14="http://schemas.microsoft.com/office/powerpoint/2010/main" val="141711515"/>
              </p:ext>
            </p:extLst>
          </p:nvPr>
        </p:nvGraphicFramePr>
        <p:xfrm>
          <a:off x="495084" y="1192509"/>
          <a:ext cx="10897006" cy="5050794"/>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186204">
                <a:tc>
                  <a:txBody>
                    <a:bodyPr/>
                    <a:lstStyle/>
                    <a:p>
                      <a:pPr>
                        <a:buNone/>
                      </a:pPr>
                      <a:r>
                        <a:rPr lang="en-US" sz="1200" dirty="0">
                          <a:effectLst/>
                        </a:rPr>
                        <a:t>Epic Name</a:t>
                      </a:r>
                    </a:p>
                  </a:txBody>
                  <a:tcPr marL="0" marR="0" marT="0" marB="0" anchor="ctr"/>
                </a:tc>
                <a:tc>
                  <a:txBody>
                    <a:bodyPr/>
                    <a:lstStyle/>
                    <a:p>
                      <a:pPr>
                        <a:buNone/>
                      </a:pPr>
                      <a:r>
                        <a:rPr lang="en-US" sz="1200" dirty="0">
                          <a:effectLst/>
                        </a:rPr>
                        <a:t>Dual Citizenship</a:t>
                      </a:r>
                    </a:p>
                  </a:txBody>
                  <a:tcPr marL="0" marR="0" marT="0" marB="0" anchor="ctr"/>
                </a:tc>
                <a:extLst>
                  <a:ext uri="{0D108BD9-81ED-4DB2-BD59-A6C34878D82A}">
                    <a16:rowId xmlns:a16="http://schemas.microsoft.com/office/drawing/2014/main" val="252372251"/>
                  </a:ext>
                </a:extLst>
              </a:tr>
              <a:tr h="884473">
                <a:tc>
                  <a:txBody>
                    <a:bodyPr/>
                    <a:lstStyle/>
                    <a:p>
                      <a:pPr>
                        <a:buNone/>
                      </a:pPr>
                      <a:r>
                        <a:rPr lang="en-US" sz="1200">
                          <a:effectLst/>
                        </a:rPr>
                        <a:t>Objectives</a:t>
                      </a:r>
                    </a:p>
                  </a:txBody>
                  <a:tcPr marL="0" marR="0" marT="0" marB="0" anchor="ctr"/>
                </a:tc>
                <a:tc>
                  <a:txBody>
                    <a:bodyPr/>
                    <a:lstStyle/>
                    <a:p>
                      <a:pPr>
                        <a:buNone/>
                      </a:pPr>
                      <a:r>
                        <a:rPr lang="en-US" sz="1200" dirty="0">
                          <a:effectLst/>
                        </a:rPr>
                        <a:t>• Finalize Primary/Secondary EID handling across all relevant flows.</a:t>
                      </a:r>
                      <a:br>
                        <a:rPr lang="en-US" sz="1200" dirty="0">
                          <a:effectLst/>
                        </a:rPr>
                      </a:br>
                      <a:r>
                        <a:rPr lang="en-US" sz="1200" dirty="0">
                          <a:effectLst/>
                        </a:rPr>
                        <a:t>• Complete EN/AR copy approval and validate edge cases to reduce user confusion and support load.</a:t>
                      </a:r>
                      <a:br>
                        <a:rPr lang="en-US" sz="1200" dirty="0">
                          <a:effectLst/>
                        </a:rPr>
                      </a:br>
                      <a:r>
                        <a:rPr lang="en-US" sz="1200" dirty="0">
                          <a:effectLst/>
                        </a:rPr>
                        <a:t>• Ensure downstream integrations behave correctly for both primary and secondary identifiers.</a:t>
                      </a:r>
                    </a:p>
                  </a:txBody>
                  <a:tcPr marL="0" marR="0" marT="0" marB="0" anchor="ctr"/>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a:buNone/>
                      </a:pPr>
                      <a:r>
                        <a:rPr lang="en-US" sz="1200">
                          <a:effectLst/>
                        </a:rPr>
                        <a:t>Complete Primary/Secondary EID handling with final EN/AR copy approval and edge case handling.</a:t>
                      </a:r>
                    </a:p>
                  </a:txBody>
                  <a:tcPr marL="0" marR="0" marT="0" marB="0" anchor="ctr"/>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buNone/>
                      </a:pPr>
                      <a:r>
                        <a:rPr lang="en-US" sz="1200" dirty="0">
                          <a:effectLst/>
                        </a:rPr>
                        <a:t>• User can add/manage primary and secondary EID where applicable without breaking existing accounts.</a:t>
                      </a:r>
                      <a:br>
                        <a:rPr lang="en-US" sz="1200" dirty="0">
                          <a:effectLst/>
                        </a:rPr>
                      </a:br>
                      <a:r>
                        <a:rPr lang="en-US" sz="1200" dirty="0">
                          <a:effectLst/>
                        </a:rPr>
                        <a:t>• All impacted screens have approved EN/AR copy.</a:t>
                      </a:r>
                      <a:br>
                        <a:rPr lang="en-US" sz="1200" dirty="0">
                          <a:effectLst/>
                        </a:rPr>
                      </a:br>
                      <a:r>
                        <a:rPr lang="en-US" sz="1200" dirty="0">
                          <a:effectLst/>
                        </a:rPr>
                        <a:t>• Edge cases covered: switching primary, duplicate detection, and issuer retrieval using the correct identifier.</a:t>
                      </a:r>
                      <a:br>
                        <a:rPr lang="en-US" sz="1200" dirty="0">
                          <a:effectLst/>
                        </a:rPr>
                      </a:br>
                      <a:r>
                        <a:rPr lang="en-US" sz="1200" dirty="0">
                          <a:effectLst/>
                        </a:rPr>
                        <a:t>• No increase in authentication failure rate after release (tracked for first 2 weeks).</a:t>
                      </a:r>
                    </a:p>
                  </a:txBody>
                  <a:tcPr marL="0" marR="0" marT="0" marB="0" anchor="ctr"/>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buNone/>
                      </a:pPr>
                      <a:r>
                        <a:rPr lang="en-US" sz="1200" dirty="0">
                          <a:effectLst/>
                        </a:rPr>
                        <a:t>• Product Management</a:t>
                      </a:r>
                      <a:br>
                        <a:rPr lang="en-US" sz="1200" dirty="0">
                          <a:effectLst/>
                        </a:rPr>
                      </a:br>
                      <a:r>
                        <a:rPr lang="en-US" sz="1200" dirty="0">
                          <a:effectLst/>
                        </a:rPr>
                        <a:t>• Backend Development</a:t>
                      </a:r>
                      <a:br>
                        <a:rPr lang="en-US" sz="1200" dirty="0">
                          <a:effectLst/>
                        </a:rPr>
                      </a:br>
                      <a:r>
                        <a:rPr lang="en-US" sz="1200" dirty="0">
                          <a:effectLst/>
                        </a:rPr>
                        <a:t>• Frontend/Mobile Development</a:t>
                      </a:r>
                      <a:br>
                        <a:rPr lang="en-US" sz="1200" dirty="0">
                          <a:effectLst/>
                        </a:rPr>
                      </a:br>
                      <a:r>
                        <a:rPr lang="en-US" sz="1200" dirty="0">
                          <a:effectLst/>
                        </a:rPr>
                        <a:t>• Quality Assurance</a:t>
                      </a:r>
                      <a:br>
                        <a:rPr lang="en-US" sz="1200" dirty="0">
                          <a:effectLst/>
                        </a:rPr>
                      </a:br>
                      <a:r>
                        <a:rPr lang="en-US" sz="1200" dirty="0">
                          <a:effectLst/>
                        </a:rPr>
                        <a:t>• Customer Support / Ops</a:t>
                      </a:r>
                    </a:p>
                  </a:txBody>
                  <a:tcPr marL="0" marR="0" marT="0" marB="0" anchor="ctr"/>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buNone/>
                      </a:pPr>
                      <a:r>
                        <a:rPr lang="en-US" sz="1200" dirty="0">
                          <a:effectLst/>
                        </a:rPr>
                        <a:t>• ICP/DDA Dual citizenship flag availability.</a:t>
                      </a:r>
                      <a:br>
                        <a:rPr lang="en-US" sz="1200" dirty="0">
                          <a:effectLst/>
                        </a:rPr>
                      </a:br>
                      <a:r>
                        <a:rPr lang="en-US" sz="1200" dirty="0">
                          <a:effectLst/>
                        </a:rPr>
                        <a:t>• Backend validation rules for primary/secondary EID storage and retrieval.</a:t>
                      </a:r>
                      <a:br>
                        <a:rPr lang="en-US" sz="1200" dirty="0">
                          <a:effectLst/>
                        </a:rPr>
                      </a:br>
                      <a:r>
                        <a:rPr lang="en-US" sz="1200" dirty="0">
                          <a:effectLst/>
                        </a:rPr>
                        <a:t>• Regression coverage for authentication, profile, and document flows.</a:t>
                      </a:r>
                    </a:p>
                  </a:txBody>
                  <a:tcPr marL="0" marR="0" marT="0" marB="0" anchor="ctr"/>
                </a:tc>
                <a:extLst>
                  <a:ext uri="{0D108BD9-81ED-4DB2-BD59-A6C34878D82A}">
                    <a16:rowId xmlns:a16="http://schemas.microsoft.com/office/drawing/2014/main" val="1268188282"/>
                  </a:ext>
                </a:extLst>
              </a:tr>
              <a:tr h="574131">
                <a:tc>
                  <a:txBody>
                    <a:bodyPr/>
                    <a:lstStyle/>
                    <a:p>
                      <a:pPr>
                        <a:buNone/>
                      </a:pPr>
                      <a:r>
                        <a:rPr lang="en-US" sz="1200">
                          <a:effectLst/>
                        </a:rPr>
                        <a:t>Timeline</a:t>
                      </a:r>
                    </a:p>
                  </a:txBody>
                  <a:tcPr marL="0" marR="0" marT="0" marB="0" anchor="ctr"/>
                </a:tc>
                <a:tc>
                  <a:txBody>
                    <a:bodyPr/>
                    <a:lstStyle/>
                    <a:p>
                      <a:pPr>
                        <a:buNone/>
                      </a:pPr>
                      <a:r>
                        <a:rPr lang="en-US" sz="1200" dirty="0">
                          <a:effectLst/>
                        </a:rPr>
                        <a:t>• Dates: 01 Jan 2026 – 28 Jan 2026</a:t>
                      </a:r>
                      <a:br>
                        <a:rPr lang="en-US" sz="1200" dirty="0">
                          <a:effectLst/>
                        </a:rPr>
                      </a:br>
                      <a:r>
                        <a:rPr lang="en-US" sz="1200" dirty="0">
                          <a:effectLst/>
                        </a:rPr>
                        <a:t>• Sprints: 71–72</a:t>
                      </a:r>
                      <a:br>
                        <a:rPr lang="en-US" sz="1200" dirty="0">
                          <a:effectLst/>
                        </a:rPr>
                      </a:br>
                      <a:r>
                        <a:rPr lang="en-US" sz="1200" dirty="0">
                          <a:effectLst/>
                        </a:rPr>
                        <a:t>• Priority/Complexity: High/Medium</a:t>
                      </a:r>
                    </a:p>
                  </a:txBody>
                  <a:tcPr marL="0" marR="0" marT="0" marB="0" anchor="ctr"/>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buNone/>
                      </a:pPr>
                      <a:r>
                        <a:rPr lang="en-US" sz="1200" dirty="0">
                          <a:effectLst/>
                        </a:rPr>
                        <a:t>• UAE PASS users</a:t>
                      </a:r>
                      <a:br>
                        <a:rPr lang="en-US" sz="1200" dirty="0">
                          <a:effectLst/>
                        </a:rPr>
                      </a:br>
                      <a:r>
                        <a:rPr lang="en-US" sz="1200" dirty="0">
                          <a:effectLst/>
                        </a:rPr>
                        <a:t>• Support &amp; Operations teams</a:t>
                      </a:r>
                    </a:p>
                  </a:txBody>
                  <a:tcPr marL="0" marR="0" marT="0" marB="0" anchor="ctr"/>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3836808014"/>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90549-6153-FFDF-8A28-B94B3476606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D1E8BF-7DC0-8073-CAEF-5ACD4F440966}"/>
              </a:ext>
            </a:extLst>
          </p:cNvPr>
          <p:cNvSpPr>
            <a:spLocks noGrp="1"/>
          </p:cNvSpPr>
          <p:nvPr>
            <p:ph type="sldNum" sz="quarter" idx="12"/>
          </p:nvPr>
        </p:nvSpPr>
        <p:spPr/>
        <p:txBody>
          <a:bodyPr/>
          <a:lstStyle/>
          <a:p>
            <a:fld id="{5AF43EBE-F72E-4D7A-8073-2997FF61F997}" type="slidenum">
              <a:rPr lang="en-US" smtClean="0"/>
              <a:t>7</a:t>
            </a:fld>
            <a:endParaRPr lang="en-US"/>
          </a:p>
        </p:txBody>
      </p:sp>
      <p:sp>
        <p:nvSpPr>
          <p:cNvPr id="7" name="Rectangle 6">
            <a:extLst>
              <a:ext uri="{FF2B5EF4-FFF2-40B4-BE49-F238E27FC236}">
                <a16:creationId xmlns:a16="http://schemas.microsoft.com/office/drawing/2014/main" id="{B8ED58BC-CD20-0D55-6710-4AB18D7E540B}"/>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a:solidFill>
                  <a:srgbClr val="7F6000"/>
                </a:solidFill>
                <a:ea typeface="+mn-lt"/>
                <a:cs typeface="+mn-lt"/>
              </a:rPr>
              <a:t>Status-Based Reporting Implementation</a:t>
            </a:r>
          </a:p>
        </p:txBody>
      </p:sp>
      <p:graphicFrame>
        <p:nvGraphicFramePr>
          <p:cNvPr id="12" name="Table 11">
            <a:extLst>
              <a:ext uri="{FF2B5EF4-FFF2-40B4-BE49-F238E27FC236}">
                <a16:creationId xmlns:a16="http://schemas.microsoft.com/office/drawing/2014/main" id="{90807EBD-0A42-B6C1-AFCC-B9EB392011B2}"/>
              </a:ext>
            </a:extLst>
          </p:cNvPr>
          <p:cNvGraphicFramePr>
            <a:graphicFrameLocks noGrp="1"/>
          </p:cNvGraphicFramePr>
          <p:nvPr>
            <p:extLst>
              <p:ext uri="{D42A27DB-BD31-4B8C-83A1-F6EECF244321}">
                <p14:modId xmlns:p14="http://schemas.microsoft.com/office/powerpoint/2010/main" val="331882952"/>
              </p:ext>
            </p:extLst>
          </p:nvPr>
        </p:nvGraphicFramePr>
        <p:xfrm>
          <a:off x="495084" y="1192509"/>
          <a:ext cx="10897006" cy="5450316"/>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186204">
                <a:tc>
                  <a:txBody>
                    <a:bodyPr/>
                    <a:lstStyle/>
                    <a:p>
                      <a:pPr>
                        <a:buNone/>
                      </a:pPr>
                      <a:r>
                        <a:rPr lang="en-US" sz="1200" dirty="0">
                          <a:effectLst/>
                        </a:rPr>
                        <a:t>Epic Name</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Status-Based Reporting Implementation</a:t>
                      </a:r>
                    </a:p>
                  </a:txBody>
                  <a:tcPr marL="6350" marR="6350" marT="6350" marB="0"/>
                </a:tc>
                <a:extLst>
                  <a:ext uri="{0D108BD9-81ED-4DB2-BD59-A6C34878D82A}">
                    <a16:rowId xmlns:a16="http://schemas.microsoft.com/office/drawing/2014/main" val="252372251"/>
                  </a:ext>
                </a:extLst>
              </a:tr>
              <a:tr h="884473">
                <a:tc>
                  <a:txBody>
                    <a:bodyPr/>
                    <a:lstStyle/>
                    <a:p>
                      <a:pPr>
                        <a:buNone/>
                      </a:pPr>
                      <a:r>
                        <a:rPr lang="en-US" sz="1200">
                          <a:effectLst/>
                        </a:rPr>
                        <a:t>Objectives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Introduce a consistent 23-status-code model for sharing requests so we can measure success/failure end-to-end.</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Store status transition history (previous status + timestamp) to enable journey analysis and operational reporting.</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Provide initial dashboards/reports that answer: volume, success rate, drop-off points, and top failure reasons.</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Implement a consistent status model and status history for sharing requests to enable end-to-end reporting, diagnostics, and analytics.</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Every sharing request is assigned exactly one current status from the agreed set.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All status changes are persisted with timestamps and previous status.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At least 3 core reports are available: overall success rate, drop-off by status, and top failure/error categories.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Support team can map a user case to its latest status using a request identifier.</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Product Management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Backend Development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Frontend/Mobile Development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Quality Assurance</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Customer Support / Ops</a:t>
                      </a: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Agreement on the canonical status model and definitions (product + support).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Database schema update to store status transitions and history.</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Instrumentation updates in backend services and clients to emit status transitions.</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Report consumer (dashboard / export) decision and access control.</a:t>
                      </a: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a:effectLst/>
                        </a:rPr>
                        <a:t>Timeline</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Dates: 01 Jan 2026 – 28 Jan 2026</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Sprints: 71–72</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Priority/Complexity: High/Medium</a:t>
                      </a: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UAE PASS users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Service Providers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Support &amp; Operations teams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Product &amp; Analytics stakeholders</a:t>
                      </a: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338930899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B1B00-CA0A-DE34-AFA7-094B67A30B7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86AADF2-926A-4C8C-16F4-4E72B8E6626F}"/>
              </a:ext>
            </a:extLst>
          </p:cNvPr>
          <p:cNvSpPr>
            <a:spLocks noGrp="1"/>
          </p:cNvSpPr>
          <p:nvPr>
            <p:ph type="sldNum" sz="quarter" idx="12"/>
          </p:nvPr>
        </p:nvSpPr>
        <p:spPr/>
        <p:txBody>
          <a:bodyPr/>
          <a:lstStyle/>
          <a:p>
            <a:fld id="{5AF43EBE-F72E-4D7A-8073-2997FF61F997}" type="slidenum">
              <a:rPr lang="en-US" smtClean="0"/>
              <a:t>8</a:t>
            </a:fld>
            <a:endParaRPr lang="en-US"/>
          </a:p>
        </p:txBody>
      </p:sp>
      <p:sp>
        <p:nvSpPr>
          <p:cNvPr id="7" name="Rectangle 6">
            <a:extLst>
              <a:ext uri="{FF2B5EF4-FFF2-40B4-BE49-F238E27FC236}">
                <a16:creationId xmlns:a16="http://schemas.microsoft.com/office/drawing/2014/main" id="{70AF04A5-C4AB-CBDC-FB48-708E27BEE719}"/>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a:solidFill>
                  <a:srgbClr val="7F6000"/>
                </a:solidFill>
                <a:ea typeface="+mn-lt"/>
                <a:cs typeface="+mn-lt"/>
              </a:rPr>
              <a:t>SP offboarding</a:t>
            </a:r>
          </a:p>
        </p:txBody>
      </p:sp>
      <p:graphicFrame>
        <p:nvGraphicFramePr>
          <p:cNvPr id="12" name="Table 11">
            <a:extLst>
              <a:ext uri="{FF2B5EF4-FFF2-40B4-BE49-F238E27FC236}">
                <a16:creationId xmlns:a16="http://schemas.microsoft.com/office/drawing/2014/main" id="{9C2D71FF-F951-AE88-C252-81AEE64AF7F5}"/>
              </a:ext>
            </a:extLst>
          </p:cNvPr>
          <p:cNvGraphicFramePr>
            <a:graphicFrameLocks noGrp="1"/>
          </p:cNvGraphicFramePr>
          <p:nvPr>
            <p:extLst>
              <p:ext uri="{D42A27DB-BD31-4B8C-83A1-F6EECF244321}">
                <p14:modId xmlns:p14="http://schemas.microsoft.com/office/powerpoint/2010/main" val="1652443795"/>
              </p:ext>
            </p:extLst>
          </p:nvPr>
        </p:nvGraphicFramePr>
        <p:xfrm>
          <a:off x="495084" y="1192509"/>
          <a:ext cx="10897006" cy="5179897"/>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186204">
                <a:tc>
                  <a:txBody>
                    <a:bodyPr/>
                    <a:lstStyle/>
                    <a:p>
                      <a:pPr>
                        <a:buNone/>
                      </a:pPr>
                      <a:r>
                        <a:rPr lang="en-US" sz="1200" dirty="0">
                          <a:effectLst/>
                        </a:rPr>
                        <a:t>Epic Name</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SP offboarding</a:t>
                      </a:r>
                    </a:p>
                  </a:txBody>
                  <a:tcPr marL="6350" marR="6350" marT="6350" marB="0"/>
                </a:tc>
                <a:extLst>
                  <a:ext uri="{0D108BD9-81ED-4DB2-BD59-A6C34878D82A}">
                    <a16:rowId xmlns:a16="http://schemas.microsoft.com/office/drawing/2014/main" val="252372251"/>
                  </a:ext>
                </a:extLst>
              </a:tr>
              <a:tr h="884473">
                <a:tc>
                  <a:txBody>
                    <a:bodyPr/>
                    <a:lstStyle/>
                    <a:p>
                      <a:pPr>
                        <a:buNone/>
                      </a:pPr>
                      <a:r>
                        <a:rPr lang="en-US" sz="1200">
                          <a:effectLst/>
                        </a:rPr>
                        <a:t>Objectives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Provide a controlled way to offboard Service Providers without breaking active user journeys.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Remove stale integrations and reduce operational burden.</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algn="l" fontAlgn="t">
                        <a:buNone/>
                      </a:pPr>
                      <a:r>
                        <a:rPr lang="en-AE" sz="1100" b="0" i="0" u="none" strike="noStrike" dirty="0">
                          <a:solidFill>
                            <a:srgbClr val="000000"/>
                          </a:solidFill>
                          <a:effectLst/>
                          <a:latin typeface="Calibri" panose="020F0502020204030204" pitchFamily="34" charset="0"/>
                        </a:rPr>
                        <a:t> To create a process for offboarding Already onboarded Service providers. </a:t>
                      </a:r>
                      <a:r>
                        <a:rPr lang="en-US" sz="1100" b="0" i="0" u="none" strike="noStrike" dirty="0">
                          <a:solidFill>
                            <a:srgbClr val="000000"/>
                          </a:solidFill>
                          <a:effectLst/>
                          <a:latin typeface="Calibri" panose="020F0502020204030204" pitchFamily="34" charset="0"/>
                        </a:rPr>
                        <a:t>W</a:t>
                      </a:r>
                      <a:r>
                        <a:rPr lang="en-AE" sz="1100" b="0" i="0" u="none" strike="noStrike" dirty="0" err="1">
                          <a:solidFill>
                            <a:srgbClr val="000000"/>
                          </a:solidFill>
                          <a:effectLst/>
                          <a:latin typeface="Calibri" panose="020F0502020204030204" pitchFamily="34" charset="0"/>
                        </a:rPr>
                        <a:t>ith</a:t>
                      </a:r>
                      <a:r>
                        <a:rPr lang="en-AE" sz="1100" b="0" i="0" u="none" strike="noStrike" dirty="0">
                          <a:solidFill>
                            <a:srgbClr val="000000"/>
                          </a:solidFill>
                          <a:effectLst/>
                          <a:latin typeface="Calibri" panose="020F0502020204030204" pitchFamily="34" charset="0"/>
                        </a:rPr>
                        <a:t> the option of re-onboarding. </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dirty="0">
                          <a:effectLst/>
                        </a:rPr>
                        <a:t>Acceptance Criteria</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Provider can be disabled via configuration without a new app release (where possible).</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Offboarding is logged and auditable (who/when/why).</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No critical errors caused by disabled providers in production.</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dirty="0">
                          <a:effectLst/>
                        </a:rPr>
                        <a:t>Owners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Service Provider Onboarding team</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Product Management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Backend Development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Frontend/Mobile Development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Quality Assurance</a:t>
                      </a: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Inventory of active Service Providers and their integration method.</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Backend flags/config to disable providers safely (with rollback).</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Support playbook and communications plan for affected providers/users.</a:t>
                      </a: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a:effectLst/>
                        </a:rPr>
                        <a:t>Timeline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Dates: 29 Jan 2026 – 25 Mar 2026</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Sprints: 73–76</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Priority/Complexity: Medium/Medium</a:t>
                      </a: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UAE PASS users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Service Providers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Support &amp; Operations teams</a:t>
                      </a: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2012869517"/>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8A43E-1617-4B24-FEA9-37CE3AC5F8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BDB12A-A573-97A7-8FEE-D5EE625F15FB}"/>
              </a:ext>
            </a:extLst>
          </p:cNvPr>
          <p:cNvSpPr>
            <a:spLocks noGrp="1"/>
          </p:cNvSpPr>
          <p:nvPr>
            <p:ph type="sldNum" sz="quarter" idx="12"/>
          </p:nvPr>
        </p:nvSpPr>
        <p:spPr/>
        <p:txBody>
          <a:bodyPr/>
          <a:lstStyle/>
          <a:p>
            <a:fld id="{5AF43EBE-F72E-4D7A-8073-2997FF61F997}" type="slidenum">
              <a:rPr lang="en-US" smtClean="0"/>
              <a:t>9</a:t>
            </a:fld>
            <a:endParaRPr lang="en-US"/>
          </a:p>
        </p:txBody>
      </p:sp>
      <p:sp>
        <p:nvSpPr>
          <p:cNvPr id="7" name="Rectangle 6">
            <a:extLst>
              <a:ext uri="{FF2B5EF4-FFF2-40B4-BE49-F238E27FC236}">
                <a16:creationId xmlns:a16="http://schemas.microsoft.com/office/drawing/2014/main" id="{D34656C3-017A-C429-94B9-43D2D51A91CD}"/>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a:solidFill>
                  <a:srgbClr val="7F6000"/>
                </a:solidFill>
                <a:ea typeface="+mn-lt"/>
                <a:cs typeface="+mn-lt"/>
              </a:rPr>
              <a:t>Home Page Revamp</a:t>
            </a:r>
          </a:p>
        </p:txBody>
      </p:sp>
      <p:graphicFrame>
        <p:nvGraphicFramePr>
          <p:cNvPr id="12" name="Table 11">
            <a:extLst>
              <a:ext uri="{FF2B5EF4-FFF2-40B4-BE49-F238E27FC236}">
                <a16:creationId xmlns:a16="http://schemas.microsoft.com/office/drawing/2014/main" id="{BE0769BF-9EDA-B4EB-FD62-7FD7DD1F9C03}"/>
              </a:ext>
            </a:extLst>
          </p:cNvPr>
          <p:cNvGraphicFramePr>
            <a:graphicFrameLocks noGrp="1"/>
          </p:cNvGraphicFramePr>
          <p:nvPr>
            <p:extLst>
              <p:ext uri="{D42A27DB-BD31-4B8C-83A1-F6EECF244321}">
                <p14:modId xmlns:p14="http://schemas.microsoft.com/office/powerpoint/2010/main" val="226853523"/>
              </p:ext>
            </p:extLst>
          </p:nvPr>
        </p:nvGraphicFramePr>
        <p:xfrm>
          <a:off x="495084" y="1192509"/>
          <a:ext cx="10897006" cy="5050794"/>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186204">
                <a:tc>
                  <a:txBody>
                    <a:bodyPr/>
                    <a:lstStyle/>
                    <a:p>
                      <a:pPr>
                        <a:buNone/>
                      </a:pPr>
                      <a:r>
                        <a:rPr lang="en-US" sz="1200" dirty="0">
                          <a:effectLst/>
                        </a:rPr>
                        <a:t>Epic Name</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Home Page Revamp</a:t>
                      </a:r>
                    </a:p>
                  </a:txBody>
                  <a:tcPr marL="6350" marR="6350" marT="6350" marB="0"/>
                </a:tc>
                <a:extLst>
                  <a:ext uri="{0D108BD9-81ED-4DB2-BD59-A6C34878D82A}">
                    <a16:rowId xmlns:a16="http://schemas.microsoft.com/office/drawing/2014/main" val="252372251"/>
                  </a:ext>
                </a:extLst>
              </a:tr>
              <a:tr h="884473">
                <a:tc>
                  <a:txBody>
                    <a:bodyPr/>
                    <a:lstStyle/>
                    <a:p>
                      <a:pPr>
                        <a:buNone/>
                      </a:pPr>
                      <a:r>
                        <a:rPr lang="en-US" sz="1200" dirty="0">
                          <a:effectLst/>
                        </a:rPr>
                        <a:t>Objectives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Redesign the DV home page to surface the most-used actions and recent items immediately.</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Reduce time-to-task for frequent journeys (share, request).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Improve engagement by making status, alerts, and shortcuts visible and consistent.</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Redesign the DV home page to prioritize top tasks and reduce navigation friction.</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Home page highlights 3–5 primary actions and recent/important items without scrolling on common devices.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Users can reach top tasks within 1–2 taps from home.</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Analytics events added for key home interactions (cards, shortcuts).</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 Product Design (UX/UI)</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Product Management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Frontend/Mobile Development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Quality Assurance</a:t>
                      </a: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Agreement on the primary jobs-to-be-done for the home screen.</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Analytics baseline for current home usage and drop-offs.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Design system update alignment (components, spacing, typography).</a:t>
                      </a: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a:effectLst/>
                        </a:rPr>
                        <a:t>Timeline</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Dates: 12 Feb 2026 – 25 Mar 2026</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Sprints: 74–76</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Priority/Complexity: High/Medium</a:t>
                      </a: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 UAE PASS users</a:t>
                      </a: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2379384969"/>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9B675-B8F1-25CD-B2FF-849B17221C4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3B8798D-06D9-09C1-9A12-635BD2AFDB41}"/>
              </a:ext>
            </a:extLst>
          </p:cNvPr>
          <p:cNvSpPr>
            <a:spLocks noGrp="1"/>
          </p:cNvSpPr>
          <p:nvPr>
            <p:ph type="sldNum" sz="quarter" idx="12"/>
          </p:nvPr>
        </p:nvSpPr>
        <p:spPr/>
        <p:txBody>
          <a:bodyPr/>
          <a:lstStyle/>
          <a:p>
            <a:fld id="{5AF43EBE-F72E-4D7A-8073-2997FF61F997}" type="slidenum">
              <a:rPr lang="en-US" smtClean="0"/>
              <a:t>10</a:t>
            </a:fld>
            <a:endParaRPr lang="en-US"/>
          </a:p>
        </p:txBody>
      </p:sp>
      <p:sp>
        <p:nvSpPr>
          <p:cNvPr id="7" name="Rectangle 6">
            <a:extLst>
              <a:ext uri="{FF2B5EF4-FFF2-40B4-BE49-F238E27FC236}">
                <a16:creationId xmlns:a16="http://schemas.microsoft.com/office/drawing/2014/main" id="{A70BB44E-8EB3-51D6-03DA-F3B059E6DAFD}"/>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a:solidFill>
                  <a:srgbClr val="7F6000"/>
                </a:solidFill>
                <a:ea typeface="+mn-lt"/>
                <a:cs typeface="+mn-lt"/>
              </a:rPr>
              <a:t>Form Filler</a:t>
            </a:r>
          </a:p>
        </p:txBody>
      </p:sp>
      <p:graphicFrame>
        <p:nvGraphicFramePr>
          <p:cNvPr id="12" name="Table 11">
            <a:extLst>
              <a:ext uri="{FF2B5EF4-FFF2-40B4-BE49-F238E27FC236}">
                <a16:creationId xmlns:a16="http://schemas.microsoft.com/office/drawing/2014/main" id="{6437E991-AFC8-E19B-C96D-AFBBE17DB9D6}"/>
              </a:ext>
            </a:extLst>
          </p:cNvPr>
          <p:cNvGraphicFramePr>
            <a:graphicFrameLocks noGrp="1"/>
          </p:cNvGraphicFramePr>
          <p:nvPr>
            <p:extLst>
              <p:ext uri="{D42A27DB-BD31-4B8C-83A1-F6EECF244321}">
                <p14:modId xmlns:p14="http://schemas.microsoft.com/office/powerpoint/2010/main" val="260409968"/>
              </p:ext>
            </p:extLst>
          </p:nvPr>
        </p:nvGraphicFramePr>
        <p:xfrm>
          <a:off x="495084" y="1192509"/>
          <a:ext cx="10897006" cy="5050794"/>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186204">
                <a:tc>
                  <a:txBody>
                    <a:bodyPr/>
                    <a:lstStyle/>
                    <a:p>
                      <a:pPr>
                        <a:buNone/>
                      </a:pPr>
                      <a:r>
                        <a:rPr lang="en-US" sz="1200" dirty="0">
                          <a:effectLst/>
                        </a:rPr>
                        <a:t>Epic Name</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Form Filler</a:t>
                      </a:r>
                    </a:p>
                  </a:txBody>
                  <a:tcPr marL="6350" marR="6350" marT="6350" marB="0"/>
                </a:tc>
                <a:extLst>
                  <a:ext uri="{0D108BD9-81ED-4DB2-BD59-A6C34878D82A}">
                    <a16:rowId xmlns:a16="http://schemas.microsoft.com/office/drawing/2014/main" val="252372251"/>
                  </a:ext>
                </a:extLst>
              </a:tr>
              <a:tr h="884473">
                <a:tc>
                  <a:txBody>
                    <a:bodyPr/>
                    <a:lstStyle/>
                    <a:p>
                      <a:pPr>
                        <a:buNone/>
                      </a:pPr>
                      <a:r>
                        <a:rPr lang="en-US" sz="1200">
                          <a:effectLst/>
                        </a:rPr>
                        <a:t>Objectives</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Auto-fill Service Provider forms using existing document data to reduce manual typing.</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Support user review and edit before submission to avoid incorrect data.</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Improve completion rate for forms by reducing time and errors.</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Auto-fill forms using stored document data to streamline user workflows. Note: Service Provider related</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Field mapping is versioned so form changes do not silently break auto-fill.</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Metrics tracked: time-to-complete and form submission success rate.</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Service Provider Enablement/Partnerships</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Product Management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Backend Development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Frontend/Mobile Development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Quality Assurance</a:t>
                      </a: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Mapping between DV document fields and Service Provider form fields.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Consent and data-sharing rules for populating third-party forms.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SDK or integration method for Service Providers to adopt the feature.</a:t>
                      </a: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a:effectLst/>
                        </a:rPr>
                        <a:t>Timeline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Dates: 23 Apr 2026 – 17 Jul 2026</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Sprints: 79–82</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Priority/Complexity: High/Low</a:t>
                      </a: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UAE PASS users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Service Providers (form owners)</a:t>
                      </a: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2210689833"/>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59AF8-58E5-B2CD-9071-D11F5D98F4A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193E95-972F-240E-85AF-102FD3E4DCB3}"/>
              </a:ext>
            </a:extLst>
          </p:cNvPr>
          <p:cNvSpPr>
            <a:spLocks noGrp="1"/>
          </p:cNvSpPr>
          <p:nvPr>
            <p:ph type="sldNum" sz="quarter" idx="12"/>
          </p:nvPr>
        </p:nvSpPr>
        <p:spPr/>
        <p:txBody>
          <a:bodyPr/>
          <a:lstStyle/>
          <a:p>
            <a:fld id="{5AF43EBE-F72E-4D7A-8073-2997FF61F997}" type="slidenum">
              <a:rPr lang="en-US" smtClean="0"/>
              <a:t>11</a:t>
            </a:fld>
            <a:endParaRPr lang="en-US"/>
          </a:p>
        </p:txBody>
      </p:sp>
      <p:sp>
        <p:nvSpPr>
          <p:cNvPr id="7" name="Rectangle 6">
            <a:extLst>
              <a:ext uri="{FF2B5EF4-FFF2-40B4-BE49-F238E27FC236}">
                <a16:creationId xmlns:a16="http://schemas.microsoft.com/office/drawing/2014/main" id="{22C214F6-9E75-9276-8265-0DC5C89F9E89}"/>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a:solidFill>
                  <a:srgbClr val="7F6000"/>
                </a:solidFill>
                <a:ea typeface="+mn-lt"/>
                <a:cs typeface="+mn-lt"/>
              </a:rPr>
              <a:t>UX Enhancements Bundle - 1</a:t>
            </a:r>
          </a:p>
        </p:txBody>
      </p:sp>
      <p:graphicFrame>
        <p:nvGraphicFramePr>
          <p:cNvPr id="12" name="Table 11">
            <a:extLst>
              <a:ext uri="{FF2B5EF4-FFF2-40B4-BE49-F238E27FC236}">
                <a16:creationId xmlns:a16="http://schemas.microsoft.com/office/drawing/2014/main" id="{C1451B8E-ECC6-4553-9B46-BE29A5CF1116}"/>
              </a:ext>
            </a:extLst>
          </p:cNvPr>
          <p:cNvGraphicFramePr>
            <a:graphicFrameLocks noGrp="1"/>
          </p:cNvGraphicFramePr>
          <p:nvPr>
            <p:extLst>
              <p:ext uri="{D42A27DB-BD31-4B8C-83A1-F6EECF244321}">
                <p14:modId xmlns:p14="http://schemas.microsoft.com/office/powerpoint/2010/main" val="2427041313"/>
              </p:ext>
            </p:extLst>
          </p:nvPr>
        </p:nvGraphicFramePr>
        <p:xfrm>
          <a:off x="495084" y="1192509"/>
          <a:ext cx="10897006" cy="5050794"/>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186204">
                <a:tc>
                  <a:txBody>
                    <a:bodyPr/>
                    <a:lstStyle/>
                    <a:p>
                      <a:pPr>
                        <a:buNone/>
                      </a:pPr>
                      <a:r>
                        <a:rPr lang="en-US" sz="1200" dirty="0">
                          <a:effectLst/>
                        </a:rPr>
                        <a:t>Epic Name</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UX Enhancements Bundle - 1</a:t>
                      </a:r>
                    </a:p>
                  </a:txBody>
                  <a:tcPr marL="6350" marR="6350" marT="6350" marB="0"/>
                </a:tc>
                <a:extLst>
                  <a:ext uri="{0D108BD9-81ED-4DB2-BD59-A6C34878D82A}">
                    <a16:rowId xmlns:a16="http://schemas.microsoft.com/office/drawing/2014/main" val="252372251"/>
                  </a:ext>
                </a:extLst>
              </a:tr>
              <a:tr h="884473">
                <a:tc>
                  <a:txBody>
                    <a:bodyPr/>
                    <a:lstStyle/>
                    <a:p>
                      <a:pPr>
                        <a:buNone/>
                      </a:pPr>
                      <a:r>
                        <a:rPr lang="en-US" sz="1200">
                          <a:effectLst/>
                        </a:rPr>
                        <a:t>Objectives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Improve the documents list view so users can find, filter, and act on documents faster.</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Reduce cognitive load by clarifying document status, issuer, and last update at a glance.</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Support common actions directly from the list (view, share, download) with fewer taps.</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This is a place holder item to implement the outcomes of design audit and Design system epics.</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TBD</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US" sz="1100" b="0" i="0" u="none" strike="noStrike">
                          <a:solidFill>
                            <a:srgbClr val="000000"/>
                          </a:solidFill>
                          <a:effectLst/>
                          <a:latin typeface="Calibri" panose="020F0502020204030204" pitchFamily="34" charset="0"/>
                        </a:rPr>
                        <a:t>• Product Design (UX/UI)</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Product Management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Frontend/Mobile Development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Quality Assurance</a:t>
                      </a: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 Analytics/funnel data to prioritize list pain points (filter usage, search behavior).</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Design system components availability and alignment.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Backend APIs support for filtering/sorting (if not already available).</a:t>
                      </a: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a:effectLst/>
                        </a:rPr>
                        <a:t>Timeline</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Dates: 26 Feb 2026 – 25 Mar 2026</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Sprints: 75–76</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Priority/Complexity: High/Medium</a:t>
                      </a: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 UAE PASS users</a:t>
                      </a: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17477914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2E016-B43A-B8A7-5671-F97CF826A71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CEBCBE-3B31-175E-F151-B2A83A1E5B61}"/>
              </a:ext>
            </a:extLst>
          </p:cNvPr>
          <p:cNvSpPr>
            <a:spLocks noGrp="1"/>
          </p:cNvSpPr>
          <p:nvPr>
            <p:ph type="sldNum" sz="quarter" idx="12"/>
          </p:nvPr>
        </p:nvSpPr>
        <p:spPr/>
        <p:txBody>
          <a:bodyPr/>
          <a:lstStyle/>
          <a:p>
            <a:fld id="{5AF43EBE-F72E-4D7A-8073-2997FF61F997}" type="slidenum">
              <a:rPr lang="en-US" smtClean="0"/>
              <a:t>12</a:t>
            </a:fld>
            <a:endParaRPr lang="en-US"/>
          </a:p>
        </p:txBody>
      </p:sp>
      <p:sp>
        <p:nvSpPr>
          <p:cNvPr id="7" name="Rectangle 6">
            <a:extLst>
              <a:ext uri="{FF2B5EF4-FFF2-40B4-BE49-F238E27FC236}">
                <a16:creationId xmlns:a16="http://schemas.microsoft.com/office/drawing/2014/main" id="{397D1D07-0C39-0750-368C-5BF9ACFC16B1}"/>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a:solidFill>
                  <a:srgbClr val="7F6000"/>
                </a:solidFill>
                <a:ea typeface="+mn-lt"/>
                <a:cs typeface="+mn-lt"/>
              </a:rPr>
              <a:t>Document Request Revision </a:t>
            </a:r>
          </a:p>
        </p:txBody>
      </p:sp>
      <p:graphicFrame>
        <p:nvGraphicFramePr>
          <p:cNvPr id="12" name="Table 11">
            <a:extLst>
              <a:ext uri="{FF2B5EF4-FFF2-40B4-BE49-F238E27FC236}">
                <a16:creationId xmlns:a16="http://schemas.microsoft.com/office/drawing/2014/main" id="{43E96A16-CDEC-F4A7-FBE4-D64D8FC33B07}"/>
              </a:ext>
            </a:extLst>
          </p:cNvPr>
          <p:cNvGraphicFramePr>
            <a:graphicFrameLocks noGrp="1"/>
          </p:cNvGraphicFramePr>
          <p:nvPr>
            <p:extLst>
              <p:ext uri="{D42A27DB-BD31-4B8C-83A1-F6EECF244321}">
                <p14:modId xmlns:p14="http://schemas.microsoft.com/office/powerpoint/2010/main" val="1886081035"/>
              </p:ext>
            </p:extLst>
          </p:nvPr>
        </p:nvGraphicFramePr>
        <p:xfrm>
          <a:off x="495084" y="1192509"/>
          <a:ext cx="10897006" cy="5050794"/>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186204">
                <a:tc>
                  <a:txBody>
                    <a:bodyPr/>
                    <a:lstStyle/>
                    <a:p>
                      <a:pPr>
                        <a:buNone/>
                      </a:pPr>
                      <a:r>
                        <a:rPr lang="en-US" sz="1200" dirty="0">
                          <a:effectLst/>
                        </a:rPr>
                        <a:t>Epic Name</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Document Request Revision </a:t>
                      </a:r>
                    </a:p>
                  </a:txBody>
                  <a:tcPr marL="6350" marR="6350" marT="6350" marB="0"/>
                </a:tc>
                <a:extLst>
                  <a:ext uri="{0D108BD9-81ED-4DB2-BD59-A6C34878D82A}">
                    <a16:rowId xmlns:a16="http://schemas.microsoft.com/office/drawing/2014/main" val="252372251"/>
                  </a:ext>
                </a:extLst>
              </a:tr>
              <a:tr h="884473">
                <a:tc>
                  <a:txBody>
                    <a:bodyPr/>
                    <a:lstStyle/>
                    <a:p>
                      <a:pPr>
                        <a:buNone/>
                      </a:pPr>
                      <a:r>
                        <a:rPr lang="en-US" sz="1200">
                          <a:effectLst/>
                        </a:rPr>
                        <a:t>Objectives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Redesign the document request flow so users understand what is being requested and why.</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Reduce request abandonment by simplifying steps and clarifying expected outcomes.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Improve request success rate and reduce support escalations.</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Redesign the document request journey with clearer steps, better copy, and trackable outcomes aligned to the status model.</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Request flow has clear steps: select provider/context → confirm scope → send → track outcome.</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User can track request status using the status model (e.g., sent, viewed, completed, failed).</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Error states include actionable recovery steps (retry, contact support, change provider).</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A/B or usability review indicates improved comprehension vs current flow.</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 Product Design (UX/UI)</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Product Management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Frontend/Mobile Development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Quality Assurance</a:t>
                      </a: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Service Provider requirements for request payload and response handling.</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Copywriting in EN/AR for key request states and error handling.</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Status model alignment so request states map cleanly to reporting.</a:t>
                      </a: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a:effectLst/>
                        </a:rPr>
                        <a:t>Timeline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Dates: 26 Mar 2026 – 20 May 2026</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Sprints: 77–80</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Priority/Complexity: High/Medium</a:t>
                      </a: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 UAE PASS users</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Service Providers</a:t>
                      </a: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300809872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71C84-5332-F6DC-24ED-8B3A5C0B637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A07BAF-81B7-3BBD-86C0-4E81249E096B}"/>
              </a:ext>
            </a:extLst>
          </p:cNvPr>
          <p:cNvSpPr>
            <a:spLocks noGrp="1"/>
          </p:cNvSpPr>
          <p:nvPr>
            <p:ph type="sldNum" sz="quarter" idx="12"/>
          </p:nvPr>
        </p:nvSpPr>
        <p:spPr/>
        <p:txBody>
          <a:bodyPr/>
          <a:lstStyle/>
          <a:p>
            <a:fld id="{5AF43EBE-F72E-4D7A-8073-2997FF61F997}" type="slidenum">
              <a:rPr lang="en-US" smtClean="0"/>
              <a:t>13</a:t>
            </a:fld>
            <a:endParaRPr lang="en-US"/>
          </a:p>
        </p:txBody>
      </p:sp>
      <p:sp>
        <p:nvSpPr>
          <p:cNvPr id="7" name="Rectangle 6">
            <a:extLst>
              <a:ext uri="{FF2B5EF4-FFF2-40B4-BE49-F238E27FC236}">
                <a16:creationId xmlns:a16="http://schemas.microsoft.com/office/drawing/2014/main" id="{40CC7374-F14A-A2B1-0076-3DF1AE2B09EF}"/>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GB" sz="1800" b="1" dirty="0">
                <a:solidFill>
                  <a:srgbClr val="7F6000"/>
                </a:solidFill>
                <a:ea typeface="+mn-lt"/>
                <a:cs typeface="+mn-lt"/>
              </a:rPr>
              <a:t>Auto-Add Documents Launch / One-Time Consent</a:t>
            </a:r>
          </a:p>
        </p:txBody>
      </p:sp>
      <p:graphicFrame>
        <p:nvGraphicFramePr>
          <p:cNvPr id="12" name="Table 11">
            <a:extLst>
              <a:ext uri="{FF2B5EF4-FFF2-40B4-BE49-F238E27FC236}">
                <a16:creationId xmlns:a16="http://schemas.microsoft.com/office/drawing/2014/main" id="{D81F8209-DFB1-8A7E-2F53-EFF904667AFE}"/>
              </a:ext>
            </a:extLst>
          </p:cNvPr>
          <p:cNvGraphicFramePr>
            <a:graphicFrameLocks noGrp="1"/>
          </p:cNvGraphicFramePr>
          <p:nvPr>
            <p:extLst>
              <p:ext uri="{D42A27DB-BD31-4B8C-83A1-F6EECF244321}">
                <p14:modId xmlns:p14="http://schemas.microsoft.com/office/powerpoint/2010/main" val="131837702"/>
              </p:ext>
            </p:extLst>
          </p:nvPr>
        </p:nvGraphicFramePr>
        <p:xfrm>
          <a:off x="495084" y="1192509"/>
          <a:ext cx="10897006" cy="5237791"/>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186204">
                <a:tc>
                  <a:txBody>
                    <a:bodyPr/>
                    <a:lstStyle/>
                    <a:p>
                      <a:pPr>
                        <a:buNone/>
                      </a:pPr>
                      <a:r>
                        <a:rPr lang="en-US" sz="1200" dirty="0">
                          <a:effectLst/>
                        </a:rPr>
                        <a:t>Epic Name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Auto-Add Documents Launch / One-Time Consent</a:t>
                      </a:r>
                    </a:p>
                  </a:txBody>
                  <a:tcPr marL="6350" marR="6350" marT="6350" marB="0"/>
                </a:tc>
                <a:extLst>
                  <a:ext uri="{0D108BD9-81ED-4DB2-BD59-A6C34878D82A}">
                    <a16:rowId xmlns:a16="http://schemas.microsoft.com/office/drawing/2014/main" val="252372251"/>
                  </a:ext>
                </a:extLst>
              </a:tr>
              <a:tr h="884473">
                <a:tc>
                  <a:txBody>
                    <a:bodyPr/>
                    <a:lstStyle/>
                    <a:p>
                      <a:pPr>
                        <a:buNone/>
                      </a:pPr>
                      <a:r>
                        <a:rPr lang="en-US" sz="1200">
                          <a:effectLst/>
                        </a:rPr>
                        <a:t>Objectives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Introduce one-time consent allowing DV to periodically check for new/updated issued documents.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Auto-add eligible documents to the user’s vault with clear visibility and control.</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Reduce manual steps for users who frequently receive updated documents.</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One-time consent for DV to periodically check and auto-add new/updated documents from issuers. Note: Pending Legal TDRA approval</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User can grant one-time consent and review what it enables (scope, frequency, revocation).</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System can detect and auto-add new/updated documents from participating issuers.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User is notified (in-app and/or push) when a document is added/updated, with a link to view details.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User can revoke consent and stop further checks; revocation takes effect within the stated window.</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Product Management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Backend Development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Frontend/Mobile Development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Quality Assurance</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Customer Support / Ops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Legal/Compliance (approval gates)</a:t>
                      </a: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Legal/TDRA approval for consent language and periodic checks (noted as a gate).</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Issuer availability and rules for which documents can be auto-added.</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Notification/UX design for new document events and opt-out controls.</a:t>
                      </a: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dirty="0">
                          <a:effectLst/>
                        </a:rPr>
                        <a:t>Timeline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Dates: 21 May 2026 – 12 Aug 2026</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Sprints: 81–86</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Priority/Complexity: High/Low</a:t>
                      </a: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 UAE PASS users</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Participating issuers / Service Providers</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Legal &amp; Compliance</a:t>
                      </a: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1490662413"/>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8C770-616F-5C34-8AEC-14B0525DAF7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A8FA10-BE86-5C55-591B-D3B006AADE1E}"/>
              </a:ext>
            </a:extLst>
          </p:cNvPr>
          <p:cNvSpPr>
            <a:spLocks noGrp="1"/>
          </p:cNvSpPr>
          <p:nvPr>
            <p:ph type="sldNum" sz="quarter" idx="12"/>
          </p:nvPr>
        </p:nvSpPr>
        <p:spPr/>
        <p:txBody>
          <a:bodyPr/>
          <a:lstStyle/>
          <a:p>
            <a:fld id="{5AF43EBE-F72E-4D7A-8073-2997FF61F997}" type="slidenum">
              <a:rPr lang="en-US" smtClean="0"/>
              <a:t>14</a:t>
            </a:fld>
            <a:endParaRPr lang="en-US"/>
          </a:p>
        </p:txBody>
      </p:sp>
      <p:sp>
        <p:nvSpPr>
          <p:cNvPr id="7" name="Rectangle 6">
            <a:extLst>
              <a:ext uri="{FF2B5EF4-FFF2-40B4-BE49-F238E27FC236}">
                <a16:creationId xmlns:a16="http://schemas.microsoft.com/office/drawing/2014/main" id="{F74FDFF0-A5B6-18B7-2C72-8A05D45736B9}"/>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GB" sz="1800" b="1" dirty="0">
                <a:solidFill>
                  <a:srgbClr val="7F6000"/>
                </a:solidFill>
                <a:ea typeface="+mn-lt"/>
                <a:cs typeface="+mn-lt"/>
              </a:rPr>
              <a:t>Document Sharing Revision</a:t>
            </a:r>
          </a:p>
        </p:txBody>
      </p:sp>
      <p:graphicFrame>
        <p:nvGraphicFramePr>
          <p:cNvPr id="12" name="Table 11">
            <a:extLst>
              <a:ext uri="{FF2B5EF4-FFF2-40B4-BE49-F238E27FC236}">
                <a16:creationId xmlns:a16="http://schemas.microsoft.com/office/drawing/2014/main" id="{2BC3A377-BC24-C382-237D-85DC63DC2084}"/>
              </a:ext>
            </a:extLst>
          </p:cNvPr>
          <p:cNvGraphicFramePr>
            <a:graphicFrameLocks noGrp="1"/>
          </p:cNvGraphicFramePr>
          <p:nvPr>
            <p:extLst>
              <p:ext uri="{D42A27DB-BD31-4B8C-83A1-F6EECF244321}">
                <p14:modId xmlns:p14="http://schemas.microsoft.com/office/powerpoint/2010/main" val="1579480666"/>
              </p:ext>
            </p:extLst>
          </p:nvPr>
        </p:nvGraphicFramePr>
        <p:xfrm>
          <a:off x="495084" y="1192509"/>
          <a:ext cx="10897006" cy="5335323"/>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186204">
                <a:tc>
                  <a:txBody>
                    <a:bodyPr/>
                    <a:lstStyle/>
                    <a:p>
                      <a:pPr>
                        <a:buNone/>
                      </a:pPr>
                      <a:r>
                        <a:rPr lang="en-US" sz="1200" dirty="0">
                          <a:effectLst/>
                        </a:rPr>
                        <a:t>Epic Name</a:t>
                      </a:r>
                    </a:p>
                  </a:txBody>
                  <a:tcPr marL="0" marR="0" marT="0" marB="0" anchor="ct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GB" sz="1100" b="1" dirty="0">
                          <a:solidFill>
                            <a:srgbClr val="7F6000"/>
                          </a:solidFill>
                          <a:ea typeface="+mn-lt"/>
                          <a:cs typeface="+mn-lt"/>
                        </a:rPr>
                        <a:t>Document Sharing Revision</a:t>
                      </a:r>
                    </a:p>
                    <a:p>
                      <a:pPr algn="l" fontAlgn="t">
                        <a:buNone/>
                      </a:pPr>
                      <a:endParaRPr lang="en-US"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252372251"/>
                  </a:ext>
                </a:extLst>
              </a:tr>
              <a:tr h="884473">
                <a:tc>
                  <a:txBody>
                    <a:bodyPr/>
                    <a:lstStyle/>
                    <a:p>
                      <a:pPr>
                        <a:buNone/>
                      </a:pPr>
                      <a:r>
                        <a:rPr lang="en-US" sz="1200">
                          <a:effectLst/>
                        </a:rPr>
                        <a:t>Objectives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Redesign the sharing flow to increase successful shares and reduce retries.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Make selection, consent, and confirmation steps obvious and lightweight.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Improve failure recovery: clear reasons, next steps, and support hooks.</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Revamp the sharing flow across selection, consent, confirmation, and failure recovery, tied to status-based reporting for measurable improvements.</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Share flow supports: select document(s) → select recipient/provider → confirm scope/consent → share → track result.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Failures show the mapped status/error category and a recommended action (retry, switch channel, contact support).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Share success rate baseline established and post-release tracked.</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Support can diagnose a failed share using request ID and status history.</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US" sz="1100" b="0" i="0" u="none" strike="noStrike">
                          <a:solidFill>
                            <a:srgbClr val="000000"/>
                          </a:solidFill>
                          <a:effectLst/>
                          <a:latin typeface="Calibri" panose="020F0502020204030204" pitchFamily="34" charset="0"/>
                        </a:rPr>
                        <a:t>• Product Design (UX/UI)</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Product Management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Frontend/Mobile Development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Quality Assurance</a:t>
                      </a: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dirty="0">
                          <a:effectLst/>
                        </a:rPr>
                        <a:t>Dependencies</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Status-based reporting to identify top failure states and where users drop off.</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Design system components for consistent share UI patterns.</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Backend support for retry-safe operations and better error messages.</a:t>
                      </a: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dirty="0">
                          <a:effectLst/>
                        </a:rPr>
                        <a:t>Timeline</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Dates: 21 May 2026 – 12 Aug 2026</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Sprints: 81–86</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Priority/Complexity: High/Medium</a:t>
                      </a: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UAE PASS users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Service Providers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Support teams</a:t>
                      </a: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352029705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85E9C3-886D-068F-BF7F-F8546529B10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2F5186A-1E1D-FB14-2681-EB5A0858A775}"/>
              </a:ext>
            </a:extLst>
          </p:cNvPr>
          <p:cNvSpPr>
            <a:spLocks noGrp="1"/>
          </p:cNvSpPr>
          <p:nvPr>
            <p:ph type="sldNum" sz="quarter" idx="12"/>
          </p:nvPr>
        </p:nvSpPr>
        <p:spPr/>
        <p:txBody>
          <a:bodyPr/>
          <a:lstStyle/>
          <a:p>
            <a:fld id="{5AF43EBE-F72E-4D7A-8073-2997FF61F997}" type="slidenum">
              <a:rPr lang="en-US" smtClean="0"/>
              <a:t>15</a:t>
            </a:fld>
            <a:endParaRPr lang="en-US"/>
          </a:p>
        </p:txBody>
      </p:sp>
      <p:sp>
        <p:nvSpPr>
          <p:cNvPr id="7" name="Rectangle 6">
            <a:extLst>
              <a:ext uri="{FF2B5EF4-FFF2-40B4-BE49-F238E27FC236}">
                <a16:creationId xmlns:a16="http://schemas.microsoft.com/office/drawing/2014/main" id="{3DD0153A-448B-8D6A-1776-8DE82DED0E8B}"/>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GB" sz="1800" b="1" dirty="0">
                <a:solidFill>
                  <a:srgbClr val="7F6000"/>
                </a:solidFill>
                <a:ea typeface="+mn-lt"/>
                <a:cs typeface="+mn-lt"/>
              </a:rPr>
              <a:t>User </a:t>
            </a:r>
            <a:r>
              <a:rPr lang="en-GB" sz="1800" b="1" dirty="0" err="1">
                <a:solidFill>
                  <a:srgbClr val="7F6000"/>
                </a:solidFill>
                <a:ea typeface="+mn-lt"/>
                <a:cs typeface="+mn-lt"/>
              </a:rPr>
              <a:t>Behavior</a:t>
            </a:r>
            <a:r>
              <a:rPr lang="en-GB" sz="1800" b="1" dirty="0">
                <a:solidFill>
                  <a:srgbClr val="7F6000"/>
                </a:solidFill>
                <a:ea typeface="+mn-lt"/>
                <a:cs typeface="+mn-lt"/>
              </a:rPr>
              <a:t> Analytics Tool Selection (DDA Dependent) </a:t>
            </a:r>
          </a:p>
        </p:txBody>
      </p:sp>
      <p:graphicFrame>
        <p:nvGraphicFramePr>
          <p:cNvPr id="12" name="Table 11">
            <a:extLst>
              <a:ext uri="{FF2B5EF4-FFF2-40B4-BE49-F238E27FC236}">
                <a16:creationId xmlns:a16="http://schemas.microsoft.com/office/drawing/2014/main" id="{1DAC734D-8D35-720C-4E18-8AAC6414C490}"/>
              </a:ext>
            </a:extLst>
          </p:cNvPr>
          <p:cNvGraphicFramePr>
            <a:graphicFrameLocks noGrp="1"/>
          </p:cNvGraphicFramePr>
          <p:nvPr>
            <p:extLst>
              <p:ext uri="{D42A27DB-BD31-4B8C-83A1-F6EECF244321}">
                <p14:modId xmlns:p14="http://schemas.microsoft.com/office/powerpoint/2010/main" val="3971471288"/>
              </p:ext>
            </p:extLst>
          </p:nvPr>
        </p:nvGraphicFramePr>
        <p:xfrm>
          <a:off x="495084" y="1192509"/>
          <a:ext cx="10897006" cy="5347537"/>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186204">
                <a:tc>
                  <a:txBody>
                    <a:bodyPr/>
                    <a:lstStyle/>
                    <a:p>
                      <a:pPr>
                        <a:buNone/>
                      </a:pPr>
                      <a:r>
                        <a:rPr lang="en-US" sz="1200" dirty="0">
                          <a:effectLst/>
                        </a:rPr>
                        <a:t>Epic Name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User </a:t>
                      </a:r>
                      <a:r>
                        <a:rPr lang="en-GB" sz="1100" b="0" i="0" u="none" strike="noStrike" dirty="0" err="1">
                          <a:solidFill>
                            <a:srgbClr val="000000"/>
                          </a:solidFill>
                          <a:effectLst/>
                          <a:latin typeface="Calibri" panose="020F0502020204030204" pitchFamily="34" charset="0"/>
                        </a:rPr>
                        <a:t>Behavior</a:t>
                      </a:r>
                      <a:r>
                        <a:rPr lang="en-GB" sz="1100" b="0" i="0" u="none" strike="noStrike" dirty="0">
                          <a:solidFill>
                            <a:srgbClr val="000000"/>
                          </a:solidFill>
                          <a:effectLst/>
                          <a:latin typeface="Calibri" panose="020F0502020204030204" pitchFamily="34" charset="0"/>
                        </a:rPr>
                        <a:t> Analytics Tool Selection</a:t>
                      </a:r>
                    </a:p>
                  </a:txBody>
                  <a:tcPr marL="6350" marR="6350" marT="6350" marB="0"/>
                </a:tc>
                <a:extLst>
                  <a:ext uri="{0D108BD9-81ED-4DB2-BD59-A6C34878D82A}">
                    <a16:rowId xmlns:a16="http://schemas.microsoft.com/office/drawing/2014/main" val="252372251"/>
                  </a:ext>
                </a:extLst>
              </a:tr>
              <a:tr h="884473">
                <a:tc>
                  <a:txBody>
                    <a:bodyPr/>
                    <a:lstStyle/>
                    <a:p>
                      <a:pPr>
                        <a:buNone/>
                      </a:pPr>
                      <a:r>
                        <a:rPr lang="en-US" sz="1200" dirty="0">
                          <a:effectLst/>
                        </a:rPr>
                        <a:t>Objectives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Select a user-</a:t>
                      </a:r>
                      <a:r>
                        <a:rPr lang="en-GB" sz="1100" b="0" i="0" u="none" strike="noStrike" dirty="0" err="1">
                          <a:solidFill>
                            <a:srgbClr val="000000"/>
                          </a:solidFill>
                          <a:effectLst/>
                          <a:latin typeface="Calibri" panose="020F0502020204030204" pitchFamily="34" charset="0"/>
                        </a:rPr>
                        <a:t>behavior</a:t>
                      </a:r>
                      <a:r>
                        <a:rPr lang="en-GB" sz="1100" b="0" i="0" u="none" strike="noStrike" dirty="0">
                          <a:solidFill>
                            <a:srgbClr val="000000"/>
                          </a:solidFill>
                          <a:effectLst/>
                          <a:latin typeface="Calibri" panose="020F0502020204030204" pitchFamily="34" charset="0"/>
                        </a:rPr>
                        <a:t> analytics tool that supports session replay and key funnels for DV journeys.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Instrument core flows to measure drop-offs and time-to-complete (home → select doc → share/request).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Enable Real User Monitoring (RUM) signals to correlate performance issues with user impact.</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dirty="0">
                          <a:effectLst/>
                        </a:rPr>
                        <a:t>Description</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Select and integrate analytics tool (</a:t>
                      </a:r>
                      <a:r>
                        <a:rPr lang="en-GB" sz="1100" b="0" i="0" u="none" strike="noStrike" dirty="0" err="1">
                          <a:solidFill>
                            <a:srgbClr val="000000"/>
                          </a:solidFill>
                          <a:effectLst/>
                          <a:latin typeface="Calibri" panose="020F0502020204030204" pitchFamily="34" charset="0"/>
                        </a:rPr>
                        <a:t>UXCam</a:t>
                      </a:r>
                      <a:r>
                        <a:rPr lang="en-GB" sz="1100" b="0" i="0" u="none" strike="noStrike" dirty="0">
                          <a:solidFill>
                            <a:srgbClr val="000000"/>
                          </a:solidFill>
                          <a:effectLst/>
                          <a:latin typeface="Calibri" panose="020F0502020204030204" pitchFamily="34" charset="0"/>
                        </a:rPr>
                        <a:t>/Firebase Analytics) to enable data-driven optimization, session replay, and Real User Monitoring (RUM) for user </a:t>
                      </a:r>
                      <a:r>
                        <a:rPr lang="en-GB" sz="1100" b="0" i="0" u="none" strike="noStrike" dirty="0" err="1">
                          <a:solidFill>
                            <a:srgbClr val="000000"/>
                          </a:solidFill>
                          <a:effectLst/>
                          <a:latin typeface="Calibri" panose="020F0502020204030204" pitchFamily="34" charset="0"/>
                        </a:rPr>
                        <a:t>behavior</a:t>
                      </a:r>
                      <a:r>
                        <a:rPr lang="en-GB" sz="1100" b="0" i="0" u="none" strike="noStrike" dirty="0">
                          <a:solidFill>
                            <a:srgbClr val="000000"/>
                          </a:solidFill>
                          <a:effectLst/>
                          <a:latin typeface="Calibri" panose="020F0502020204030204" pitchFamily="34" charset="0"/>
                        </a:rPr>
                        <a:t> patterns. Relates to: 1</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Tool decision documented with reasons (capabilities, cost, privacy/security, integration effort).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Event taxonomy defined for at least 10 key events + 3 funnels.</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Dashboards show funnel conversion + top screens with rage taps/crashes/performance issues.</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Session replay is enabled for approved users with PII masking rules.</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Product Management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Backend Development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Frontend/Mobile Development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Quality Assurance</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Customer Support / Ops</a:t>
                      </a: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dirty="0">
                          <a:effectLst/>
                        </a:rPr>
                        <a:t>Dependencies</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Security, privacy, and data retention review for candidate tools (e.g., Firebase Analytics vs UXCam).</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Mobile app instrumentation plan and event taxonomy aligned to the status model.</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Access model for who can view session replays (PII considerations).</a:t>
                      </a: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dirty="0">
                          <a:effectLst/>
                        </a:rPr>
                        <a:t>Timeline</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Dates: 04 Jun 2026 – 15 Jul 2026</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Sprints: 82–84</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Priority/Complexity: High/Medium</a:t>
                      </a: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UAE PASS users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Service Providers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Support &amp; Operations teams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Product, UX, Engineering leads</a:t>
                      </a: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389807214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16503-5EE3-538D-FABF-69AE2845622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13176B-3A81-2653-FA82-A579920E3589}"/>
              </a:ext>
            </a:extLst>
          </p:cNvPr>
          <p:cNvSpPr>
            <a:spLocks noGrp="1"/>
          </p:cNvSpPr>
          <p:nvPr>
            <p:ph type="sldNum" sz="quarter" idx="12"/>
          </p:nvPr>
        </p:nvSpPr>
        <p:spPr/>
        <p:txBody>
          <a:bodyPr/>
          <a:lstStyle/>
          <a:p>
            <a:fld id="{5AF43EBE-F72E-4D7A-8073-2997FF61F997}" type="slidenum">
              <a:rPr lang="en-US" smtClean="0"/>
              <a:t>16</a:t>
            </a:fld>
            <a:endParaRPr lang="en-US"/>
          </a:p>
        </p:txBody>
      </p:sp>
      <p:sp>
        <p:nvSpPr>
          <p:cNvPr id="7" name="Rectangle 6">
            <a:extLst>
              <a:ext uri="{FF2B5EF4-FFF2-40B4-BE49-F238E27FC236}">
                <a16:creationId xmlns:a16="http://schemas.microsoft.com/office/drawing/2014/main" id="{E25091DA-B883-4FE5-2F17-E426A8285C2A}"/>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GB" sz="1800" b="1" dirty="0">
                <a:solidFill>
                  <a:srgbClr val="7F6000"/>
                </a:solidFill>
                <a:ea typeface="+mn-lt"/>
                <a:cs typeface="+mn-lt"/>
              </a:rPr>
              <a:t>Consent Sharing (Third Party Data)</a:t>
            </a:r>
          </a:p>
        </p:txBody>
      </p:sp>
      <p:graphicFrame>
        <p:nvGraphicFramePr>
          <p:cNvPr id="12" name="Table 11">
            <a:extLst>
              <a:ext uri="{FF2B5EF4-FFF2-40B4-BE49-F238E27FC236}">
                <a16:creationId xmlns:a16="http://schemas.microsoft.com/office/drawing/2014/main" id="{A3C8CFE0-DB5C-3685-4C41-6189BC219D32}"/>
              </a:ext>
            </a:extLst>
          </p:cNvPr>
          <p:cNvGraphicFramePr>
            <a:graphicFrameLocks noGrp="1"/>
          </p:cNvGraphicFramePr>
          <p:nvPr>
            <p:extLst>
              <p:ext uri="{D42A27DB-BD31-4B8C-83A1-F6EECF244321}">
                <p14:modId xmlns:p14="http://schemas.microsoft.com/office/powerpoint/2010/main" val="7771878"/>
              </p:ext>
            </p:extLst>
          </p:nvPr>
        </p:nvGraphicFramePr>
        <p:xfrm>
          <a:off x="495084" y="1192509"/>
          <a:ext cx="10897006" cy="5405431"/>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186204">
                <a:tc>
                  <a:txBody>
                    <a:bodyPr/>
                    <a:lstStyle/>
                    <a:p>
                      <a:pPr>
                        <a:buNone/>
                      </a:pPr>
                      <a:r>
                        <a:rPr lang="en-US" sz="1200" dirty="0">
                          <a:effectLst/>
                        </a:rPr>
                        <a:t>Epic Name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Consent Sharing (Third Party Data)</a:t>
                      </a:r>
                    </a:p>
                  </a:txBody>
                  <a:tcPr marL="6350" marR="6350" marT="6350" marB="0"/>
                </a:tc>
                <a:extLst>
                  <a:ext uri="{0D108BD9-81ED-4DB2-BD59-A6C34878D82A}">
                    <a16:rowId xmlns:a16="http://schemas.microsoft.com/office/drawing/2014/main" val="252372251"/>
                  </a:ext>
                </a:extLst>
              </a:tr>
              <a:tr h="884473">
                <a:tc>
                  <a:txBody>
                    <a:bodyPr/>
                    <a:lstStyle/>
                    <a:p>
                      <a:pPr>
                        <a:buNone/>
                      </a:pPr>
                      <a:r>
                        <a:rPr lang="en-US" sz="1200" dirty="0">
                          <a:effectLst/>
                        </a:rPr>
                        <a:t>Objectives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Enable sharing of third-party data through an explicit, user-controlled consent mechanism.</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Standardize consent capture (who, what, why, duration) to support audits and user trust.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Support downstream APIs to verify consent before data is shared.</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dirty="0">
                          <a:effectLst/>
                        </a:rPr>
                        <a:t>Description</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Sharing third party data via providing consent mechanism.</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Before any third-party data is shared, the user is shown scope + purpose and must confirm.</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Consents are stored with timestamp, requester identity, scope, and expiry (if applicable).</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User can view and revoke active consents.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APIs enforce consent checks and log consent reference IDs for audit.</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Product Management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Backend Development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Frontend/Mobile Development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Quality Assurance</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Customer Support / Ops</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Legal/Compliance (approval gates)</a:t>
                      </a: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dirty="0">
                          <a:effectLst/>
                        </a:rPr>
                        <a:t>Dependencies</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Consent model definition (data fields, TTL/expiry, revocation) and storage.</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UX patterns for clear disclosure and granular selection where needed.</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Legal/compliance review for consent wording and audit requirements.</a:t>
                      </a: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dirty="0">
                          <a:effectLst/>
                        </a:rPr>
                        <a:t>Timeline</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Dates: 18 Jun 2026 – 29 Jul 2026</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Sprints: 83–85</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Priority/Complexity: High/High</a:t>
                      </a: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UAE PASS users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Service Providers requesting third-party data</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Legal &amp; Compliance</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Audit/Operations</a:t>
                      </a: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3721133610"/>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AB153-6DCB-2DEE-BBB4-2A8E5628BA5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1BA37D-FA4B-1883-B812-DA37F04BFB43}"/>
              </a:ext>
            </a:extLst>
          </p:cNvPr>
          <p:cNvSpPr>
            <a:spLocks noGrp="1"/>
          </p:cNvSpPr>
          <p:nvPr>
            <p:ph type="sldNum" sz="quarter" idx="12"/>
          </p:nvPr>
        </p:nvSpPr>
        <p:spPr/>
        <p:txBody>
          <a:bodyPr/>
          <a:lstStyle/>
          <a:p>
            <a:fld id="{5AF43EBE-F72E-4D7A-8073-2997FF61F997}" type="slidenum">
              <a:rPr lang="en-US" smtClean="0"/>
              <a:t>17</a:t>
            </a:fld>
            <a:endParaRPr lang="en-US"/>
          </a:p>
        </p:txBody>
      </p:sp>
      <p:sp>
        <p:nvSpPr>
          <p:cNvPr id="7" name="Rectangle 6">
            <a:extLst>
              <a:ext uri="{FF2B5EF4-FFF2-40B4-BE49-F238E27FC236}">
                <a16:creationId xmlns:a16="http://schemas.microsoft.com/office/drawing/2014/main" id="{513D64B4-5299-CF17-6797-29EA9100129E}"/>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GB" sz="1800" b="1" dirty="0">
                <a:solidFill>
                  <a:srgbClr val="7F6000"/>
                </a:solidFill>
                <a:ea typeface="+mn-lt"/>
                <a:cs typeface="+mn-lt"/>
              </a:rPr>
              <a:t>Enable Download of All Issued Documents in DV</a:t>
            </a:r>
          </a:p>
        </p:txBody>
      </p:sp>
      <p:graphicFrame>
        <p:nvGraphicFramePr>
          <p:cNvPr id="12" name="Table 11">
            <a:extLst>
              <a:ext uri="{FF2B5EF4-FFF2-40B4-BE49-F238E27FC236}">
                <a16:creationId xmlns:a16="http://schemas.microsoft.com/office/drawing/2014/main" id="{9AF78664-BA41-AA2C-7A8F-32E57DB63045}"/>
              </a:ext>
            </a:extLst>
          </p:cNvPr>
          <p:cNvGraphicFramePr>
            <a:graphicFrameLocks noGrp="1"/>
          </p:cNvGraphicFramePr>
          <p:nvPr>
            <p:extLst>
              <p:ext uri="{D42A27DB-BD31-4B8C-83A1-F6EECF244321}">
                <p14:modId xmlns:p14="http://schemas.microsoft.com/office/powerpoint/2010/main" val="1051122406"/>
              </p:ext>
            </p:extLst>
          </p:nvPr>
        </p:nvGraphicFramePr>
        <p:xfrm>
          <a:off x="495084" y="1192509"/>
          <a:ext cx="10897006" cy="5050794"/>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186204">
                <a:tc>
                  <a:txBody>
                    <a:bodyPr/>
                    <a:lstStyle/>
                    <a:p>
                      <a:pPr>
                        <a:buNone/>
                      </a:pPr>
                      <a:r>
                        <a:rPr lang="en-US" sz="1200" dirty="0">
                          <a:effectLst/>
                        </a:rPr>
                        <a:t>Epic Name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Enable Download of All Issued Documents Types in DV</a:t>
                      </a:r>
                    </a:p>
                  </a:txBody>
                  <a:tcPr marL="6350" marR="6350" marT="6350" marB="0"/>
                </a:tc>
                <a:extLst>
                  <a:ext uri="{0D108BD9-81ED-4DB2-BD59-A6C34878D82A}">
                    <a16:rowId xmlns:a16="http://schemas.microsoft.com/office/drawing/2014/main" val="252372251"/>
                  </a:ext>
                </a:extLst>
              </a:tr>
              <a:tr h="884473">
                <a:tc>
                  <a:txBody>
                    <a:bodyPr/>
                    <a:lstStyle/>
                    <a:p>
                      <a:pPr>
                        <a:buNone/>
                      </a:pPr>
                      <a:r>
                        <a:rPr lang="en-US" sz="1200" dirty="0">
                          <a:effectLst/>
                        </a:rPr>
                        <a:t>Objectives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Allow users to download all issued documents available in DV.</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Reduce friction for users who need offline copies for personal record-keeping or external submissions.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Ensure downloads respect issuer rules and user entitlements.</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dirty="0">
                          <a:effectLst/>
                        </a:rPr>
                        <a:t>Description</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Enable downloading all issued documents in DV</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Enable the download of all the visualization based documents in Digital Vault. </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Product Management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Backend Development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Frontend/Mobile Development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Quality Assurance</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Customer Support / Ops</a:t>
                      </a: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dirty="0">
                          <a:effectLst/>
                        </a:rPr>
                        <a:t>Dependencies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Backend support for bulk selection and secure file packaging</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Rate limiting and security controls to prevent abuse.</a:t>
                      </a: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dirty="0">
                          <a:effectLst/>
                        </a:rPr>
                        <a:t>Timeline</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Dates: 13 Aug 2026 – 09 Sep 2026</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Sprints: 87–88</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Priority/Complexity: High/Low</a:t>
                      </a: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UAE PASS users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Support &amp; Operations teams</a:t>
                      </a: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1026272437"/>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295DC-D5A5-0098-40A9-DD4D6C28E85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755A26-422E-1DB8-590B-20614DAA8B50}"/>
              </a:ext>
            </a:extLst>
          </p:cNvPr>
          <p:cNvSpPr>
            <a:spLocks noGrp="1"/>
          </p:cNvSpPr>
          <p:nvPr>
            <p:ph type="sldNum" sz="quarter" idx="12"/>
          </p:nvPr>
        </p:nvSpPr>
        <p:spPr/>
        <p:txBody>
          <a:bodyPr/>
          <a:lstStyle/>
          <a:p>
            <a:fld id="{5AF43EBE-F72E-4D7A-8073-2997FF61F997}" type="slidenum">
              <a:rPr lang="en-US" smtClean="0"/>
              <a:t>18</a:t>
            </a:fld>
            <a:endParaRPr lang="en-US"/>
          </a:p>
        </p:txBody>
      </p:sp>
      <p:sp>
        <p:nvSpPr>
          <p:cNvPr id="7" name="Rectangle 6">
            <a:extLst>
              <a:ext uri="{FF2B5EF4-FFF2-40B4-BE49-F238E27FC236}">
                <a16:creationId xmlns:a16="http://schemas.microsoft.com/office/drawing/2014/main" id="{76297536-42BE-CB4D-869B-E3F84840DFA2}"/>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GB" sz="1800" b="1" dirty="0">
                <a:solidFill>
                  <a:srgbClr val="7F6000"/>
                </a:solidFill>
                <a:ea typeface="+mn-lt"/>
                <a:cs typeface="+mn-lt"/>
              </a:rPr>
              <a:t>UX/UI Enhancements Bundle 2</a:t>
            </a:r>
          </a:p>
        </p:txBody>
      </p:sp>
      <p:graphicFrame>
        <p:nvGraphicFramePr>
          <p:cNvPr id="12" name="Table 11">
            <a:extLst>
              <a:ext uri="{FF2B5EF4-FFF2-40B4-BE49-F238E27FC236}">
                <a16:creationId xmlns:a16="http://schemas.microsoft.com/office/drawing/2014/main" id="{4ACB410F-CD0F-27CA-5B71-BAC5ED64DAD7}"/>
              </a:ext>
            </a:extLst>
          </p:cNvPr>
          <p:cNvGraphicFramePr>
            <a:graphicFrameLocks noGrp="1"/>
          </p:cNvGraphicFramePr>
          <p:nvPr>
            <p:extLst>
              <p:ext uri="{D42A27DB-BD31-4B8C-83A1-F6EECF244321}">
                <p14:modId xmlns:p14="http://schemas.microsoft.com/office/powerpoint/2010/main" val="119127976"/>
              </p:ext>
            </p:extLst>
          </p:nvPr>
        </p:nvGraphicFramePr>
        <p:xfrm>
          <a:off x="495084" y="1192509"/>
          <a:ext cx="10897006" cy="5050794"/>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186204">
                <a:tc>
                  <a:txBody>
                    <a:bodyPr/>
                    <a:lstStyle/>
                    <a:p>
                      <a:pPr>
                        <a:buNone/>
                      </a:pPr>
                      <a:r>
                        <a:rPr lang="en-US" sz="1200" dirty="0">
                          <a:effectLst/>
                        </a:rPr>
                        <a:t>Epic Name</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UX/UI Enhancements Bundle 2</a:t>
                      </a:r>
                    </a:p>
                  </a:txBody>
                  <a:tcPr marL="6350" marR="6350" marT="6350" marB="0"/>
                </a:tc>
                <a:extLst>
                  <a:ext uri="{0D108BD9-81ED-4DB2-BD59-A6C34878D82A}">
                    <a16:rowId xmlns:a16="http://schemas.microsoft.com/office/drawing/2014/main" val="252372251"/>
                  </a:ext>
                </a:extLst>
              </a:tr>
              <a:tr h="884473">
                <a:tc>
                  <a:txBody>
                    <a:bodyPr/>
                    <a:lstStyle/>
                    <a:p>
                      <a:pPr>
                        <a:buNone/>
                      </a:pPr>
                      <a:r>
                        <a:rPr lang="en-US" sz="1200" dirty="0">
                          <a:effectLst/>
                        </a:rPr>
                        <a:t>Objectives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Deliver the second bundle of UI/UX improvements based on feedback and observed </a:t>
                      </a:r>
                      <a:r>
                        <a:rPr lang="en-GB" sz="1100" b="0" i="0" u="none" strike="noStrike" dirty="0" err="1">
                          <a:solidFill>
                            <a:srgbClr val="000000"/>
                          </a:solidFill>
                          <a:effectLst/>
                          <a:latin typeface="Calibri" panose="020F0502020204030204" pitchFamily="34" charset="0"/>
                        </a:rPr>
                        <a:t>behavior</a:t>
                      </a:r>
                      <a:r>
                        <a:rPr lang="en-GB" sz="1100" b="0" i="0" u="none" strike="noStrike" dirty="0">
                          <a:solidFill>
                            <a:srgbClr val="000000"/>
                          </a:solidFill>
                          <a:effectLst/>
                          <a:latin typeface="Calibri" panose="020F0502020204030204" pitchFamily="34" charset="0"/>
                        </a:rPr>
                        <a: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Address the top 3 usability issues discovered after analytics tooling is in place.</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dirty="0">
                          <a:effectLst/>
                        </a:rPr>
                        <a:t>Description</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Second bundle of UI/UX improvements based on design audit, design system update and accessibility findings</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TBD</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US" sz="1100" b="0" i="0" u="none" strike="noStrike">
                          <a:solidFill>
                            <a:srgbClr val="000000"/>
                          </a:solidFill>
                          <a:effectLst/>
                          <a:latin typeface="Calibri" panose="020F0502020204030204" pitchFamily="34" charset="0"/>
                        </a:rPr>
                        <a:t>• Product Design (UX/UI)</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Product Management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Frontend/Mobile Development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Quality Assurance</a:t>
                      </a: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dirty="0">
                          <a:effectLst/>
                        </a:rPr>
                        <a:t>Dependencies</a:t>
                      </a:r>
                    </a:p>
                  </a:txBody>
                  <a:tcPr marL="0" marR="0" marT="0" marB="0" anchor="ctr"/>
                </a:tc>
                <a:tc>
                  <a:txBody>
                    <a:bodyPr/>
                    <a:lstStyle/>
                    <a:p>
                      <a:pPr marL="171450" indent="-171450" algn="l" fontAlgn="t">
                        <a:buFont typeface="Arial" panose="020B0604020202020204" pitchFamily="34" charset="0"/>
                        <a:buChar char="•"/>
                      </a:pPr>
                      <a:r>
                        <a:rPr lang="en-GB" sz="1100" b="0" i="0" u="none" strike="noStrike" dirty="0">
                          <a:solidFill>
                            <a:srgbClr val="000000"/>
                          </a:solidFill>
                          <a:effectLst/>
                          <a:latin typeface="Calibri" panose="020F0502020204030204" pitchFamily="34" charset="0"/>
                        </a:rPr>
                        <a:t>Design Audit</a:t>
                      </a:r>
                    </a:p>
                    <a:p>
                      <a:pPr marL="171450" indent="-171450" algn="l" fontAlgn="t">
                        <a:buFont typeface="Arial" panose="020B0604020202020204" pitchFamily="34" charset="0"/>
                        <a:buChar char="•"/>
                      </a:pPr>
                      <a:r>
                        <a:rPr lang="en-GB" sz="1100" b="0" i="0" u="none" strike="noStrike" dirty="0">
                          <a:solidFill>
                            <a:srgbClr val="000000"/>
                          </a:solidFill>
                          <a:effectLst/>
                          <a:latin typeface="Calibri" panose="020F0502020204030204" pitchFamily="34" charset="0"/>
                        </a:rPr>
                        <a:t>Design System Update</a:t>
                      </a:r>
                    </a:p>
                    <a:p>
                      <a:pPr marL="171450" indent="-171450" algn="l" fontAlgn="t">
                        <a:buFont typeface="Arial" panose="020B0604020202020204" pitchFamily="34" charset="0"/>
                        <a:buChar char="•"/>
                      </a:pPr>
                      <a:r>
                        <a:rPr lang="en-GB" sz="1100" b="0" i="0" u="none" strike="noStrike" dirty="0">
                          <a:solidFill>
                            <a:srgbClr val="000000"/>
                          </a:solidFill>
                          <a:effectLst/>
                          <a:latin typeface="Calibri" panose="020F0502020204030204" pitchFamily="34" charset="0"/>
                        </a:rPr>
                        <a:t>Accessibility Reports</a:t>
                      </a: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dirty="0">
                          <a:effectLst/>
                        </a:rPr>
                        <a:t>Timeline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Dates: 13 Aug 2026 – 3 Dec 2026</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Sprints: 87–94</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Priority/Complexity: High/Medium</a:t>
                      </a: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 UAE PASS users</a:t>
                      </a: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2303080099"/>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B2DFCF-054D-D2DB-ABAC-145B80C1A85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485BBB-8768-EC73-A5F1-DEA7B95666A0}"/>
              </a:ext>
            </a:extLst>
          </p:cNvPr>
          <p:cNvSpPr>
            <a:spLocks noGrp="1"/>
          </p:cNvSpPr>
          <p:nvPr>
            <p:ph type="sldNum" sz="quarter" idx="12"/>
          </p:nvPr>
        </p:nvSpPr>
        <p:spPr/>
        <p:txBody>
          <a:bodyPr/>
          <a:lstStyle/>
          <a:p>
            <a:fld id="{5AF43EBE-F72E-4D7A-8073-2997FF61F997}" type="slidenum">
              <a:rPr lang="en-US" smtClean="0"/>
              <a:t>19</a:t>
            </a:fld>
            <a:endParaRPr lang="en-US"/>
          </a:p>
        </p:txBody>
      </p:sp>
      <p:sp>
        <p:nvSpPr>
          <p:cNvPr id="7" name="Rectangle 6">
            <a:extLst>
              <a:ext uri="{FF2B5EF4-FFF2-40B4-BE49-F238E27FC236}">
                <a16:creationId xmlns:a16="http://schemas.microsoft.com/office/drawing/2014/main" id="{6EB1D22E-B942-4521-AE10-CECA685AD8BF}"/>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GB" sz="1800" b="1" dirty="0">
                <a:solidFill>
                  <a:srgbClr val="7F6000"/>
                </a:solidFill>
                <a:ea typeface="+mn-lt"/>
                <a:cs typeface="+mn-lt"/>
              </a:rPr>
              <a:t>Design Audit</a:t>
            </a:r>
          </a:p>
        </p:txBody>
      </p:sp>
      <p:graphicFrame>
        <p:nvGraphicFramePr>
          <p:cNvPr id="12" name="Table 11">
            <a:extLst>
              <a:ext uri="{FF2B5EF4-FFF2-40B4-BE49-F238E27FC236}">
                <a16:creationId xmlns:a16="http://schemas.microsoft.com/office/drawing/2014/main" id="{8723CA7F-0E9B-B787-A005-933137BA2186}"/>
              </a:ext>
            </a:extLst>
          </p:cNvPr>
          <p:cNvGraphicFramePr>
            <a:graphicFrameLocks noGrp="1"/>
          </p:cNvGraphicFramePr>
          <p:nvPr>
            <p:extLst>
              <p:ext uri="{D42A27DB-BD31-4B8C-83A1-F6EECF244321}">
                <p14:modId xmlns:p14="http://schemas.microsoft.com/office/powerpoint/2010/main" val="3908376534"/>
              </p:ext>
            </p:extLst>
          </p:nvPr>
        </p:nvGraphicFramePr>
        <p:xfrm>
          <a:off x="495084" y="1192509"/>
          <a:ext cx="10897006" cy="5050794"/>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186204">
                <a:tc>
                  <a:txBody>
                    <a:bodyPr/>
                    <a:lstStyle/>
                    <a:p>
                      <a:pPr>
                        <a:buNone/>
                      </a:pPr>
                      <a:r>
                        <a:rPr lang="en-US" sz="1200" dirty="0">
                          <a:effectLst/>
                        </a:rPr>
                        <a:t>Epic Name</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Design Audit</a:t>
                      </a:r>
                    </a:p>
                  </a:txBody>
                  <a:tcPr marL="6350" marR="6350" marT="6350" marB="0"/>
                </a:tc>
                <a:extLst>
                  <a:ext uri="{0D108BD9-81ED-4DB2-BD59-A6C34878D82A}">
                    <a16:rowId xmlns:a16="http://schemas.microsoft.com/office/drawing/2014/main" val="252372251"/>
                  </a:ext>
                </a:extLst>
              </a:tr>
              <a:tr h="884473">
                <a:tc>
                  <a:txBody>
                    <a:bodyPr/>
                    <a:lstStyle/>
                    <a:p>
                      <a:pPr>
                        <a:buNone/>
                      </a:pPr>
                      <a:r>
                        <a:rPr lang="en-US" sz="1200" dirty="0">
                          <a:effectLst/>
                        </a:rPr>
                        <a:t>Objectives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Review core screens and journeys and capture pain points with evidence (screenshots, examples).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Identify quick wins vs larger redesign candidates and propose sequencing.</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Align priorities with Product and Engineering so the backlog is implementation-ready.</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dirty="0">
                          <a:effectLst/>
                        </a:rPr>
                        <a:t>Description</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UI/UX designer reviews the current screens to identify room for improvement and the biggest pain points (usability, clarity, consistency). Output is a prioritized backlog with recommended fixes. </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Audit report delivered with issues grouped by severity/impact and linked to screens.</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Prioritized improvement backlog created (with effort sizing placeholders).</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Top quick wins have clear specs and acceptance criteria ready for development.</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US" sz="1100" b="0" i="0" u="none" strike="noStrike">
                          <a:solidFill>
                            <a:srgbClr val="000000"/>
                          </a:solidFill>
                          <a:effectLst/>
                          <a:latin typeface="Calibri" panose="020F0502020204030204" pitchFamily="34" charset="0"/>
                        </a:rPr>
                        <a:t>• Product Design (UX/UI)</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Product Management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Frontend/Mobile Development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Quality Assurance</a:t>
                      </a: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dirty="0">
                          <a:effectLst/>
                        </a:rPr>
                        <a:t>Dependencies</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Agreed scope of screens/flows to audit.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Access to current designs/build, and top support ticket themes (if available).</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Review workshop with key stakeholders to finalize priorities.</a:t>
                      </a: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dirty="0">
                          <a:effectLst/>
                        </a:rPr>
                        <a:t>Timeline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Dates: 12 Feb 2026 – 08 Apr 2026 | Sprints: 74–77 | Priority/Complexity: High/Low</a:t>
                      </a: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100" b="0" i="0" u="none" strike="noStrike" dirty="0">
                          <a:solidFill>
                            <a:srgbClr val="000000"/>
                          </a:solidFill>
                          <a:effectLst/>
                          <a:latin typeface="Calibri" panose="020F0502020204030204" pitchFamily="34" charset="0"/>
                        </a:rPr>
                        <a:t>• UAE PASS users</a:t>
                      </a: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138179174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15AEF-D894-837B-FCEF-0AF0B9F7471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285464-DE68-BCDA-08C1-E7758E7E773E}"/>
              </a:ext>
            </a:extLst>
          </p:cNvPr>
          <p:cNvSpPr>
            <a:spLocks noGrp="1"/>
          </p:cNvSpPr>
          <p:nvPr>
            <p:ph type="sldNum" sz="quarter" idx="12"/>
          </p:nvPr>
        </p:nvSpPr>
        <p:spPr/>
        <p:txBody>
          <a:bodyPr/>
          <a:lstStyle/>
          <a:p>
            <a:fld id="{5AF43EBE-F72E-4D7A-8073-2997FF61F997}" type="slidenum">
              <a:rPr lang="en-US" smtClean="0"/>
              <a:t>20</a:t>
            </a:fld>
            <a:endParaRPr lang="en-US"/>
          </a:p>
        </p:txBody>
      </p:sp>
      <p:sp>
        <p:nvSpPr>
          <p:cNvPr id="7" name="Rectangle 6">
            <a:extLst>
              <a:ext uri="{FF2B5EF4-FFF2-40B4-BE49-F238E27FC236}">
                <a16:creationId xmlns:a16="http://schemas.microsoft.com/office/drawing/2014/main" id="{64C166C9-85B9-8A08-847E-BF2AACF3DCF1}"/>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nn-NO" sz="1800" b="1" dirty="0">
                <a:solidFill>
                  <a:srgbClr val="7F6000"/>
                </a:solidFill>
                <a:ea typeface="+mn-lt"/>
                <a:cs typeface="+mn-lt"/>
              </a:rPr>
              <a:t>Design System Update (DDA Dependent)</a:t>
            </a:r>
          </a:p>
        </p:txBody>
      </p:sp>
      <p:graphicFrame>
        <p:nvGraphicFramePr>
          <p:cNvPr id="12" name="Table 11">
            <a:extLst>
              <a:ext uri="{FF2B5EF4-FFF2-40B4-BE49-F238E27FC236}">
                <a16:creationId xmlns:a16="http://schemas.microsoft.com/office/drawing/2014/main" id="{66F5BC68-BCB7-F692-DB88-BF40D513F604}"/>
              </a:ext>
            </a:extLst>
          </p:cNvPr>
          <p:cNvGraphicFramePr>
            <a:graphicFrameLocks noGrp="1"/>
          </p:cNvGraphicFramePr>
          <p:nvPr>
            <p:extLst>
              <p:ext uri="{D42A27DB-BD31-4B8C-83A1-F6EECF244321}">
                <p14:modId xmlns:p14="http://schemas.microsoft.com/office/powerpoint/2010/main" val="479156435"/>
              </p:ext>
            </p:extLst>
          </p:nvPr>
        </p:nvGraphicFramePr>
        <p:xfrm>
          <a:off x="495084" y="1192509"/>
          <a:ext cx="10897006" cy="5403765"/>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186204">
                <a:tc>
                  <a:txBody>
                    <a:bodyPr/>
                    <a:lstStyle/>
                    <a:p>
                      <a:pPr>
                        <a:buNone/>
                      </a:pPr>
                      <a:r>
                        <a:rPr lang="en-US" sz="1200" dirty="0">
                          <a:effectLst/>
                        </a:rPr>
                        <a:t>Epic Name</a:t>
                      </a:r>
                    </a:p>
                  </a:txBody>
                  <a:tcPr marL="0" marR="0" marT="0" marB="0" anchor="ctr"/>
                </a:tc>
                <a:tc>
                  <a:txBody>
                    <a:bodyPr/>
                    <a:lstStyle/>
                    <a:p>
                      <a:pPr algn="l" fontAlgn="t">
                        <a:buNone/>
                      </a:pPr>
                      <a:r>
                        <a:rPr lang="nn-NO" sz="1100" b="0" i="0" u="none" strike="noStrike" dirty="0">
                          <a:solidFill>
                            <a:srgbClr val="000000"/>
                          </a:solidFill>
                          <a:effectLst/>
                          <a:latin typeface="Calibri" panose="020F0502020204030204" pitchFamily="34" charset="0"/>
                        </a:rPr>
                        <a:t>Design System Update (DDA Dependent)</a:t>
                      </a:r>
                    </a:p>
                  </a:txBody>
                  <a:tcPr marL="6350" marR="6350" marT="6350" marB="0"/>
                </a:tc>
                <a:extLst>
                  <a:ext uri="{0D108BD9-81ED-4DB2-BD59-A6C34878D82A}">
                    <a16:rowId xmlns:a16="http://schemas.microsoft.com/office/drawing/2014/main" val="252372251"/>
                  </a:ext>
                </a:extLst>
              </a:tr>
              <a:tr h="884473">
                <a:tc>
                  <a:txBody>
                    <a:bodyPr/>
                    <a:lstStyle/>
                    <a:p>
                      <a:pPr>
                        <a:buNone/>
                      </a:pPr>
                      <a:r>
                        <a:rPr lang="en-US" sz="1200" dirty="0">
                          <a:effectLst/>
                        </a:rPr>
                        <a:t>Objectives</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Design System Update</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dirty="0">
                          <a:effectLst/>
                        </a:rPr>
                        <a:t>Description</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Update and enhance the DV design system components and patterns based on current product needs.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Align DV and DDA design standards where applicable to reduce divergence.</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Improve implementation consistency by publishing clear guidelines and reusable assets.</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Joint effort with the DDA UI/UX team to update and enhance the DV design system so it stays up to date and supports consistent implementation across teams.</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Updated design system published with versioning and change log.</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High-usage components are standardized and adopted in the app.</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New work uses updated components; legacy screens have a migration plan.</a:t>
                      </a: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dirty="0">
                          <a:effectLst/>
                        </a:rPr>
                        <a:t>Dependencies</a:t>
                      </a:r>
                    </a:p>
                  </a:txBody>
                  <a:tcPr marL="0" marR="0" marT="0" marB="0" anchor="ctr"/>
                </a:tc>
                <a:tc>
                  <a:txBody>
                    <a:bodyPr/>
                    <a:lstStyle/>
                    <a:p>
                      <a:pPr algn="l" fontAlgn="t">
                        <a:buNone/>
                      </a:pPr>
                      <a:r>
                        <a:rPr lang="en-US" sz="1100" b="0" i="0" u="none" strike="noStrike">
                          <a:solidFill>
                            <a:srgbClr val="000000"/>
                          </a:solidFill>
                          <a:effectLst/>
                          <a:latin typeface="Calibri" panose="020F0502020204030204" pitchFamily="34" charset="0"/>
                        </a:rPr>
                        <a:t>• Product Design (UX/UI)</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DDA UX/UI Team (joint)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Product Management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Frontend/Mobile Development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Quality Assurance</a:t>
                      </a: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dirty="0">
                          <a:effectLst/>
                        </a:rPr>
                        <a:t>Timeline</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Regular working sessions with DDA UI/UX team and agreement on standards.</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Component inventory and gap analysis (what exists vs what’s missing).</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Engineering adoption plan for component library updates and migration.</a:t>
                      </a: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Dates: 12 Mar 2026 – 22 Apr 2026 | Sprints: 76–78 | Priority/Complexity: High/Medium</a:t>
                      </a: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200267417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9C99F-3B8B-4422-4A97-AF63312B643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6C5FC6-9571-90F7-9075-A81F4D2B8577}"/>
              </a:ext>
            </a:extLst>
          </p:cNvPr>
          <p:cNvSpPr>
            <a:spLocks noGrp="1"/>
          </p:cNvSpPr>
          <p:nvPr>
            <p:ph type="sldNum" sz="quarter" idx="12"/>
          </p:nvPr>
        </p:nvSpPr>
        <p:spPr/>
        <p:txBody>
          <a:bodyPr/>
          <a:lstStyle/>
          <a:p>
            <a:fld id="{5AF43EBE-F72E-4D7A-8073-2997FF61F997}" type="slidenum">
              <a:rPr lang="en-US" smtClean="0"/>
              <a:t>21</a:t>
            </a:fld>
            <a:endParaRPr lang="en-US"/>
          </a:p>
        </p:txBody>
      </p:sp>
      <p:sp>
        <p:nvSpPr>
          <p:cNvPr id="7" name="Rectangle 6">
            <a:extLst>
              <a:ext uri="{FF2B5EF4-FFF2-40B4-BE49-F238E27FC236}">
                <a16:creationId xmlns:a16="http://schemas.microsoft.com/office/drawing/2014/main" id="{AD9F1E79-53B7-72EA-0200-56CD3F93CA70}"/>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nn-NO" sz="1800" b="1" dirty="0">
                <a:solidFill>
                  <a:srgbClr val="7F6000"/>
                </a:solidFill>
                <a:ea typeface="+mn-lt"/>
                <a:cs typeface="+mn-lt"/>
              </a:rPr>
              <a:t>Accessibility Enhancement (DDA Dependent)</a:t>
            </a:r>
          </a:p>
        </p:txBody>
      </p:sp>
      <p:graphicFrame>
        <p:nvGraphicFramePr>
          <p:cNvPr id="12" name="Table 11">
            <a:extLst>
              <a:ext uri="{FF2B5EF4-FFF2-40B4-BE49-F238E27FC236}">
                <a16:creationId xmlns:a16="http://schemas.microsoft.com/office/drawing/2014/main" id="{C8FD5E2B-6DB7-19EE-032E-E813E9F1EE45}"/>
              </a:ext>
            </a:extLst>
          </p:cNvPr>
          <p:cNvGraphicFramePr>
            <a:graphicFrameLocks noGrp="1"/>
          </p:cNvGraphicFramePr>
          <p:nvPr>
            <p:extLst>
              <p:ext uri="{D42A27DB-BD31-4B8C-83A1-F6EECF244321}">
                <p14:modId xmlns:p14="http://schemas.microsoft.com/office/powerpoint/2010/main" val="1638685790"/>
              </p:ext>
            </p:extLst>
          </p:nvPr>
        </p:nvGraphicFramePr>
        <p:xfrm>
          <a:off x="495084" y="1192509"/>
          <a:ext cx="10897006" cy="5236125"/>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186204">
                <a:tc>
                  <a:txBody>
                    <a:bodyPr/>
                    <a:lstStyle/>
                    <a:p>
                      <a:pPr>
                        <a:buNone/>
                      </a:pPr>
                      <a:r>
                        <a:rPr lang="en-US" sz="1200" dirty="0">
                          <a:effectLst/>
                        </a:rPr>
                        <a:t>Epic Name</a:t>
                      </a:r>
                    </a:p>
                  </a:txBody>
                  <a:tcPr marL="0" marR="0" marT="0" marB="0" anchor="ctr"/>
                </a:tc>
                <a:tc>
                  <a:txBody>
                    <a:bodyPr/>
                    <a:lstStyle/>
                    <a:p>
                      <a:pPr algn="l" rtl="0" fontAlgn="t">
                        <a:buNone/>
                      </a:pPr>
                      <a:r>
                        <a:rPr lang="en-US" sz="1100" b="0" i="0" u="none" strike="noStrike" dirty="0">
                          <a:solidFill>
                            <a:srgbClr val="000000"/>
                          </a:solidFill>
                          <a:effectLst/>
                          <a:latin typeface="Calibri" panose="020F0502020204030204" pitchFamily="34" charset="0"/>
                        </a:rPr>
                        <a:t>Accessibility Enhancement</a:t>
                      </a:r>
                    </a:p>
                  </a:txBody>
                  <a:tcPr marL="6350" marR="6350" marT="6350" marB="0"/>
                </a:tc>
                <a:extLst>
                  <a:ext uri="{0D108BD9-81ED-4DB2-BD59-A6C34878D82A}">
                    <a16:rowId xmlns:a16="http://schemas.microsoft.com/office/drawing/2014/main" val="252372251"/>
                  </a:ext>
                </a:extLst>
              </a:tr>
              <a:tr h="884473">
                <a:tc>
                  <a:txBody>
                    <a:bodyPr/>
                    <a:lstStyle/>
                    <a:p>
                      <a:pPr>
                        <a:buNone/>
                      </a:pPr>
                      <a:r>
                        <a:rPr lang="en-US" sz="1200" dirty="0">
                          <a:effectLst/>
                        </a:rPr>
                        <a:t>Objectives</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Accessibility Enhancement</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dirty="0">
                          <a:effectLst/>
                        </a:rPr>
                        <a:t>Description</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Improve accessibility compliance across priority screens and critical flows.</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Embed accessibility checks into design, development, and QA so issues don’t regress.</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Reduce accessibility-related user friction and support cases.</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Increase the level of accessibility support in the app across key DV screens and flows (screen reader, contrast, dynamic text, focus order, touch targets) and validate against an agreed WCAG target.</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Priority flows meet the agreed accessibility checklist (labels, focus, scaling, contrast).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Accessibility checklist is added to QA and release criteria.</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Remaining gaps are documented with owners and a mitigation plan.</a:t>
                      </a: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dirty="0">
                          <a:effectLst/>
                        </a:rPr>
                        <a:t>Dependencies</a:t>
                      </a:r>
                    </a:p>
                  </a:txBody>
                  <a:tcPr marL="0" marR="0" marT="0" marB="0" anchor="ctr"/>
                </a:tc>
                <a:tc>
                  <a:txBody>
                    <a:bodyPr/>
                    <a:lstStyle/>
                    <a:p>
                      <a:pPr algn="l" fontAlgn="t">
                        <a:buNone/>
                      </a:pPr>
                      <a:r>
                        <a:rPr lang="en-US" sz="1100" b="0" i="0" u="none" strike="noStrike">
                          <a:solidFill>
                            <a:srgbClr val="000000"/>
                          </a:solidFill>
                          <a:effectLst/>
                          <a:latin typeface="Calibri" panose="020F0502020204030204" pitchFamily="34" charset="0"/>
                        </a:rPr>
                        <a:t>• Product Design (UX/UI)</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Product Management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Frontend/Mobile Development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Quality Assurance</a:t>
                      </a: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dirty="0">
                          <a:effectLst/>
                        </a:rPr>
                        <a:t>Timeline</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Define target WCAG level and priority flows in scope.</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Accessibility guidelines for designers and developers (components + content).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Testing approach (manual + automated) for iOS/Android.</a:t>
                      </a: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Dates: 23 Apr 2026 – 17 Jun 2026 | Sprints: 79–82 | Priority/Complexity: High/High</a:t>
                      </a: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3512424330"/>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63A1E-CB5F-3D82-7A8D-F147CE046C7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AF971C-5DE6-BB67-BD45-C7BDFFD88E02}"/>
              </a:ext>
            </a:extLst>
          </p:cNvPr>
          <p:cNvSpPr>
            <a:spLocks noGrp="1"/>
          </p:cNvSpPr>
          <p:nvPr>
            <p:ph type="sldNum" sz="quarter" idx="12"/>
          </p:nvPr>
        </p:nvSpPr>
        <p:spPr/>
        <p:txBody>
          <a:bodyPr/>
          <a:lstStyle/>
          <a:p>
            <a:fld id="{5AF43EBE-F72E-4D7A-8073-2997FF61F997}" type="slidenum">
              <a:rPr lang="en-US" smtClean="0"/>
              <a:t>22</a:t>
            </a:fld>
            <a:endParaRPr lang="en-US"/>
          </a:p>
        </p:txBody>
      </p:sp>
      <p:sp>
        <p:nvSpPr>
          <p:cNvPr id="7" name="Rectangle 6">
            <a:extLst>
              <a:ext uri="{FF2B5EF4-FFF2-40B4-BE49-F238E27FC236}">
                <a16:creationId xmlns:a16="http://schemas.microsoft.com/office/drawing/2014/main" id="{13ABF21F-36E0-2A84-8655-29D8E812D3E3}"/>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GB" sz="1800" b="1" dirty="0">
                <a:solidFill>
                  <a:srgbClr val="7F6000"/>
                </a:solidFill>
                <a:ea typeface="+mn-lt"/>
                <a:cs typeface="+mn-lt"/>
              </a:rPr>
              <a:t>Over the counter Document Sharing</a:t>
            </a:r>
          </a:p>
        </p:txBody>
      </p:sp>
      <p:graphicFrame>
        <p:nvGraphicFramePr>
          <p:cNvPr id="12" name="Table 11">
            <a:extLst>
              <a:ext uri="{FF2B5EF4-FFF2-40B4-BE49-F238E27FC236}">
                <a16:creationId xmlns:a16="http://schemas.microsoft.com/office/drawing/2014/main" id="{447EA3D3-D676-F407-5852-5B20192FAE9A}"/>
              </a:ext>
            </a:extLst>
          </p:cNvPr>
          <p:cNvGraphicFramePr>
            <a:graphicFrameLocks noGrp="1"/>
          </p:cNvGraphicFramePr>
          <p:nvPr>
            <p:extLst>
              <p:ext uri="{D42A27DB-BD31-4B8C-83A1-F6EECF244321}">
                <p14:modId xmlns:p14="http://schemas.microsoft.com/office/powerpoint/2010/main" val="818025731"/>
              </p:ext>
            </p:extLst>
          </p:nvPr>
        </p:nvGraphicFramePr>
        <p:xfrm>
          <a:off x="495084" y="1192509"/>
          <a:ext cx="10897006" cy="5047470"/>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0">
                <a:tc>
                  <a:txBody>
                    <a:bodyPr/>
                    <a:lstStyle/>
                    <a:p>
                      <a:pPr>
                        <a:buNone/>
                      </a:pPr>
                      <a:r>
                        <a:rPr lang="en-US" sz="1200" dirty="0">
                          <a:effectLst/>
                        </a:rPr>
                        <a:t>Epic Name</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Over the counter Document Sharing</a:t>
                      </a:r>
                    </a:p>
                  </a:txBody>
                  <a:tcPr marL="6350" marR="6350" marT="6350" marB="0"/>
                </a:tc>
                <a:extLst>
                  <a:ext uri="{0D108BD9-81ED-4DB2-BD59-A6C34878D82A}">
                    <a16:rowId xmlns:a16="http://schemas.microsoft.com/office/drawing/2014/main" val="252372251"/>
                  </a:ext>
                </a:extLst>
              </a:tr>
              <a:tr h="884473">
                <a:tc>
                  <a:txBody>
                    <a:bodyPr/>
                    <a:lstStyle/>
                    <a:p>
                      <a:pPr>
                        <a:buNone/>
                      </a:pPr>
                      <a:r>
                        <a:rPr lang="en-US" sz="1200" dirty="0">
                          <a:effectLst/>
                        </a:rPr>
                        <a:t>Objectives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Enable sharing of  documents over the counter through UAE PASS. </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dirty="0">
                          <a:effectLst/>
                        </a:rPr>
                        <a:t>Description</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Enable sharing of Digital Vault documents Over the counter.</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TBD</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i="0" u="none" strike="noStrike">
                          <a:solidFill>
                            <a:srgbClr val="000000"/>
                          </a:solidFill>
                          <a:effectLst/>
                          <a:latin typeface="Calibri" panose="020F0502020204030204" pitchFamily="34" charset="0"/>
                        </a:rPr>
                        <a:t>• Product Management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Backend Development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Frontend/Mobile Development</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Quality Assurance</a:t>
                      </a:r>
                      <a:br>
                        <a:rPr lang="en-GB" sz="1100" b="0" i="0" u="none" strike="noStrike">
                          <a:solidFill>
                            <a:srgbClr val="000000"/>
                          </a:solidFill>
                          <a:effectLst/>
                          <a:latin typeface="Calibri" panose="020F0502020204030204" pitchFamily="34" charset="0"/>
                        </a:rPr>
                      </a:br>
                      <a:r>
                        <a:rPr lang="en-GB" sz="1100" b="0" i="0" u="none" strike="noStrike">
                          <a:solidFill>
                            <a:srgbClr val="000000"/>
                          </a:solidFill>
                          <a:effectLst/>
                          <a:latin typeface="Calibri" panose="020F0502020204030204" pitchFamily="34" charset="0"/>
                        </a:rPr>
                        <a:t>• Customer Support / Ops</a:t>
                      </a: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dirty="0">
                          <a:effectLst/>
                        </a:rPr>
                        <a:t>Dependencies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Definition of 'verified copy' workflow and acceptable document types.</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Service Provider acceptance format and validation requirements.</a:t>
                      </a: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dirty="0">
                          <a:effectLst/>
                        </a:rPr>
                        <a:t>Timeline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Dates: 10 Sep 2026 – 3 Dec 2026</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Sprints: 89–94</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Priority/Complexity: High/High</a:t>
                      </a: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 UAE PASS users</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Service Providers</a:t>
                      </a: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175061021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7F79B-342E-E593-BA82-63139206421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E15073-5941-8C43-33A0-E0C2719833CD}"/>
              </a:ext>
            </a:extLst>
          </p:cNvPr>
          <p:cNvSpPr>
            <a:spLocks noGrp="1"/>
          </p:cNvSpPr>
          <p:nvPr>
            <p:ph type="sldNum" sz="quarter" idx="12"/>
          </p:nvPr>
        </p:nvSpPr>
        <p:spPr/>
        <p:txBody>
          <a:bodyPr/>
          <a:lstStyle/>
          <a:p>
            <a:fld id="{5AF43EBE-F72E-4D7A-8073-2997FF61F997}" type="slidenum">
              <a:rPr lang="en-US" smtClean="0"/>
              <a:t>23</a:t>
            </a:fld>
            <a:endParaRPr lang="en-US"/>
          </a:p>
        </p:txBody>
      </p:sp>
      <p:sp>
        <p:nvSpPr>
          <p:cNvPr id="7" name="Rectangle 6">
            <a:extLst>
              <a:ext uri="{FF2B5EF4-FFF2-40B4-BE49-F238E27FC236}">
                <a16:creationId xmlns:a16="http://schemas.microsoft.com/office/drawing/2014/main" id="{42EBDD31-DED2-0D27-6C48-4B04D65EA394}"/>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GB" sz="1800" b="1" dirty="0">
                <a:solidFill>
                  <a:srgbClr val="7F6000"/>
                </a:solidFill>
                <a:ea typeface="+mn-lt"/>
                <a:cs typeface="+mn-lt"/>
              </a:rPr>
              <a:t>QR code simplification – Direct sharing</a:t>
            </a:r>
          </a:p>
        </p:txBody>
      </p:sp>
      <p:graphicFrame>
        <p:nvGraphicFramePr>
          <p:cNvPr id="12" name="Table 11">
            <a:extLst>
              <a:ext uri="{FF2B5EF4-FFF2-40B4-BE49-F238E27FC236}">
                <a16:creationId xmlns:a16="http://schemas.microsoft.com/office/drawing/2014/main" id="{C30B5D5B-F77A-FB23-0422-E0A3D57B9C2A}"/>
              </a:ext>
            </a:extLst>
          </p:cNvPr>
          <p:cNvGraphicFramePr>
            <a:graphicFrameLocks noGrp="1"/>
          </p:cNvGraphicFramePr>
          <p:nvPr>
            <p:extLst>
              <p:ext uri="{D42A27DB-BD31-4B8C-83A1-F6EECF244321}">
                <p14:modId xmlns:p14="http://schemas.microsoft.com/office/powerpoint/2010/main" val="695170337"/>
              </p:ext>
            </p:extLst>
          </p:nvPr>
        </p:nvGraphicFramePr>
        <p:xfrm>
          <a:off x="495084" y="1192509"/>
          <a:ext cx="10897006" cy="5047470"/>
        </p:xfrm>
        <a:graphic>
          <a:graphicData uri="http://schemas.openxmlformats.org/drawingml/2006/table">
            <a:tbl>
              <a:tblPr bandRow="1">
                <a:tableStyleId>{16D9F66E-5EB9-4882-86FB-DCBF35E3C3E4}</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0">
                <a:tc>
                  <a:txBody>
                    <a:bodyPr/>
                    <a:lstStyle/>
                    <a:p>
                      <a:pPr>
                        <a:buNone/>
                      </a:pPr>
                      <a:r>
                        <a:rPr lang="en-US" sz="1200" dirty="0">
                          <a:effectLst/>
                        </a:rPr>
                        <a:t>Epic Name</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QR code simplification – Direct sharing</a:t>
                      </a:r>
                    </a:p>
                  </a:txBody>
                  <a:tcPr marL="6350" marR="6350" marT="6350" marB="0"/>
                </a:tc>
                <a:extLst>
                  <a:ext uri="{0D108BD9-81ED-4DB2-BD59-A6C34878D82A}">
                    <a16:rowId xmlns:a16="http://schemas.microsoft.com/office/drawing/2014/main" val="252372251"/>
                  </a:ext>
                </a:extLst>
              </a:tr>
              <a:tr h="884473">
                <a:tc>
                  <a:txBody>
                    <a:bodyPr/>
                    <a:lstStyle/>
                    <a:p>
                      <a:pPr>
                        <a:buNone/>
                      </a:pPr>
                      <a:r>
                        <a:rPr lang="en-US" sz="1200" dirty="0">
                          <a:effectLst/>
                        </a:rPr>
                        <a:t>Objectives</a:t>
                      </a:r>
                    </a:p>
                  </a:txBody>
                  <a:tcPr marL="0" marR="0" marT="0" marB="0" anchor="ctr"/>
                </a:tc>
                <a:tc>
                  <a:txBody>
                    <a:bodyPr/>
                    <a:lstStyle/>
                    <a:p>
                      <a:pPr marL="171450" indent="-171450" algn="l" fontAlgn="t">
                        <a:buFont typeface="Arial" panose="020B0604020202020204" pitchFamily="34" charset="0"/>
                        <a:buChar char="•"/>
                      </a:pPr>
                      <a:r>
                        <a:rPr lang="en-GB" sz="1100" b="0" i="0" u="none" strike="noStrike" dirty="0">
                          <a:solidFill>
                            <a:srgbClr val="000000"/>
                          </a:solidFill>
                          <a:effectLst/>
                          <a:latin typeface="Calibri" panose="020F0502020204030204" pitchFamily="34" charset="0"/>
                        </a:rPr>
                        <a:t>Adress SP feedback on the difficulty of scanning the current QR codes.</a:t>
                      </a:r>
                    </a:p>
                    <a:p>
                      <a:pPr marL="171450" indent="-171450" algn="l" fontAlgn="t">
                        <a:buFont typeface="Arial" panose="020B0604020202020204" pitchFamily="34" charset="0"/>
                        <a:buChar char="•"/>
                      </a:pPr>
                      <a:r>
                        <a:rPr lang="en-GB" sz="1100" b="0" i="0" u="none" strike="noStrike" dirty="0">
                          <a:solidFill>
                            <a:srgbClr val="000000"/>
                          </a:solidFill>
                          <a:effectLst/>
                          <a:latin typeface="Calibri" panose="020F0502020204030204" pitchFamily="34" charset="0"/>
                        </a:rPr>
                        <a:t>Simplify the UX/UI for sharing </a:t>
                      </a:r>
                    </a:p>
                    <a:p>
                      <a:pPr marL="171450" indent="-171450" algn="l" fontAlgn="t">
                        <a:buFont typeface="Arial" panose="020B0604020202020204" pitchFamily="34" charset="0"/>
                        <a:buChar char="•"/>
                      </a:pPr>
                      <a:r>
                        <a:rPr lang="en-GB" sz="1100" b="0" i="0" u="none" strike="noStrike" dirty="0">
                          <a:solidFill>
                            <a:srgbClr val="000000"/>
                          </a:solidFill>
                          <a:effectLst/>
                          <a:latin typeface="Calibri" panose="020F0502020204030204" pitchFamily="34" charset="0"/>
                        </a:rPr>
                        <a:t>Make it easier for SPs to integration the document sharing functionality </a:t>
                      </a:r>
                    </a:p>
                    <a:p>
                      <a:pPr algn="l" fontAlgn="t">
                        <a:buNone/>
                      </a:pP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dirty="0">
                          <a:effectLst/>
                        </a:rPr>
                        <a:t>Description</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Simplify the QR code generation logic and introduce a new way to trigger the sharing requests to the user from the SP channel.</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TBD</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Product Management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Backend Development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Frontend/Mobile Development</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Quality Assurance</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Customer Support / Ops</a:t>
                      </a: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dirty="0">
                          <a:effectLst/>
                        </a:rPr>
                        <a:t>Dependencies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DDA exposure of UDID identification services from email or mobile number or Eid.</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Existing integrations with Service providers</a:t>
                      </a: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dirty="0">
                          <a:effectLst/>
                        </a:rPr>
                        <a:t>Timeline</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 Dates: 29 Jan 2026 – 08 Apr 2026</a:t>
                      </a:r>
                      <a:br>
                        <a:rPr lang="en-GB" sz="1100" b="0" i="0" u="none" strike="noStrike" dirty="0">
                          <a:solidFill>
                            <a:srgbClr val="000000"/>
                          </a:solidFill>
                          <a:effectLst/>
                          <a:latin typeface="Calibri" panose="020F0502020204030204" pitchFamily="34" charset="0"/>
                        </a:rPr>
                      </a:br>
                      <a:r>
                        <a:rPr lang="en-GB" sz="1100" b="0" i="0" u="none" strike="noStrike" dirty="0">
                          <a:solidFill>
                            <a:srgbClr val="000000"/>
                          </a:solidFill>
                          <a:effectLst/>
                          <a:latin typeface="Calibri" panose="020F0502020204030204" pitchFamily="34" charset="0"/>
                        </a:rPr>
                        <a:t>• Sprints: 73–77</a:t>
                      </a:r>
                    </a:p>
                    <a:p>
                      <a:pPr algn="l" fontAlgn="t">
                        <a:buNone/>
                      </a:pPr>
                      <a:r>
                        <a:rPr lang="en-GB" sz="1100" b="0" i="0" u="none" strike="noStrike" dirty="0">
                          <a:solidFill>
                            <a:srgbClr val="000000"/>
                          </a:solidFill>
                          <a:effectLst/>
                          <a:latin typeface="Calibri" panose="020F0502020204030204" pitchFamily="34" charset="0"/>
                        </a:rPr>
                        <a:t>• Priority/Complexity: </a:t>
                      </a:r>
                      <a:r>
                        <a:rPr lang="en-GB" sz="1100" b="0" i="0" u="none" strike="noStrike">
                          <a:solidFill>
                            <a:srgbClr val="000000"/>
                          </a:solidFill>
                          <a:effectLst/>
                          <a:latin typeface="Calibri" panose="020F0502020204030204" pitchFamily="34" charset="0"/>
                        </a:rPr>
                        <a:t>High/Med</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US" sz="1100" b="0" i="0" u="none" strike="noStrike" dirty="0">
                          <a:solidFill>
                            <a:srgbClr val="000000"/>
                          </a:solidFill>
                          <a:effectLst/>
                          <a:latin typeface="Calibri" panose="020F0502020204030204" pitchFamily="34" charset="0"/>
                        </a:rPr>
                        <a:t>• UAE PASS users</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Service Providers</a:t>
                      </a: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2314866453"/>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51186-B9AA-3A39-0AE3-13B82D08AD9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5E9536-23F4-B870-1C34-CDABFBC4D6DA}"/>
              </a:ext>
            </a:extLst>
          </p:cNvPr>
          <p:cNvSpPr>
            <a:spLocks noGrp="1"/>
          </p:cNvSpPr>
          <p:nvPr>
            <p:ph type="sldNum" sz="quarter" idx="12"/>
          </p:nvPr>
        </p:nvSpPr>
        <p:spPr/>
        <p:txBody>
          <a:bodyPr/>
          <a:lstStyle/>
          <a:p>
            <a:fld id="{5AF43EBE-F72E-4D7A-8073-2997FF61F997}" type="slidenum">
              <a:rPr lang="en-US" smtClean="0"/>
              <a:t>24</a:t>
            </a:fld>
            <a:endParaRPr lang="en-US"/>
          </a:p>
        </p:txBody>
      </p:sp>
      <p:sp>
        <p:nvSpPr>
          <p:cNvPr id="7" name="Rectangle 6">
            <a:extLst>
              <a:ext uri="{FF2B5EF4-FFF2-40B4-BE49-F238E27FC236}">
                <a16:creationId xmlns:a16="http://schemas.microsoft.com/office/drawing/2014/main" id="{4D6293FD-DE3E-982E-5FF7-ADE7F2A10E6C}"/>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err="1">
                <a:solidFill>
                  <a:srgbClr val="7F6000"/>
                </a:solidFill>
                <a:ea typeface="+mn-lt"/>
                <a:cs typeface="+mn-lt"/>
              </a:rPr>
              <a:t>UAEVerify</a:t>
            </a:r>
            <a:r>
              <a:rPr lang="en-US" sz="1800" b="1" dirty="0">
                <a:solidFill>
                  <a:srgbClr val="7F6000"/>
                </a:solidFill>
                <a:ea typeface="+mn-lt"/>
                <a:cs typeface="+mn-lt"/>
              </a:rPr>
              <a:t> SEO</a:t>
            </a:r>
          </a:p>
        </p:txBody>
      </p:sp>
      <p:graphicFrame>
        <p:nvGraphicFramePr>
          <p:cNvPr id="10" name="Table 9">
            <a:extLst>
              <a:ext uri="{FF2B5EF4-FFF2-40B4-BE49-F238E27FC236}">
                <a16:creationId xmlns:a16="http://schemas.microsoft.com/office/drawing/2014/main" id="{1D04F3C9-FC7D-BB93-A213-2D70A1FB4CBD}"/>
              </a:ext>
            </a:extLst>
          </p:cNvPr>
          <p:cNvGraphicFramePr>
            <a:graphicFrameLocks noGrp="1"/>
          </p:cNvGraphicFramePr>
          <p:nvPr/>
        </p:nvGraphicFramePr>
        <p:xfrm>
          <a:off x="5424365" y="-342900"/>
          <a:ext cx="2794000" cy="4849495"/>
        </p:xfrm>
        <a:graphic>
          <a:graphicData uri="http://schemas.openxmlformats.org/drawingml/2006/table">
            <a:tbl>
              <a:tblPr bandRow="1">
                <a:tableStyleId>{2D5ABB26-0587-4C30-8999-92F81FD0307C}</a:tableStyleId>
              </a:tblPr>
              <a:tblGrid>
                <a:gridCol w="2794000">
                  <a:extLst>
                    <a:ext uri="{9D8B030D-6E8A-4147-A177-3AD203B41FA5}">
                      <a16:colId xmlns:a16="http://schemas.microsoft.com/office/drawing/2014/main" val="767768228"/>
                    </a:ext>
                  </a:extLst>
                </a:gridCol>
              </a:tblGrid>
              <a:tr h="152400">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1293919334"/>
                  </a:ext>
                </a:extLst>
              </a:tr>
              <a:tr h="762000">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1902996732"/>
                  </a:ext>
                </a:extLst>
              </a:tr>
              <a:tr h="678180">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614913821"/>
                  </a:ext>
                </a:extLst>
              </a:tr>
              <a:tr h="762000">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356537805"/>
                  </a:ext>
                </a:extLst>
              </a:tr>
              <a:tr h="678180">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2036589"/>
                  </a:ext>
                </a:extLst>
              </a:tr>
              <a:tr h="678180">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2350684322"/>
                  </a:ext>
                </a:extLst>
              </a:tr>
              <a:tr h="465455">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255465995"/>
                  </a:ext>
                </a:extLst>
              </a:tr>
              <a:tr h="551180">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763637209"/>
                  </a:ext>
                </a:extLst>
              </a:tr>
            </a:tbl>
          </a:graphicData>
        </a:graphic>
      </p:graphicFrame>
      <p:graphicFrame>
        <p:nvGraphicFramePr>
          <p:cNvPr id="12" name="Table 11">
            <a:extLst>
              <a:ext uri="{FF2B5EF4-FFF2-40B4-BE49-F238E27FC236}">
                <a16:creationId xmlns:a16="http://schemas.microsoft.com/office/drawing/2014/main" id="{2816B042-3483-95DE-66C3-3CE334774B07}"/>
              </a:ext>
            </a:extLst>
          </p:cNvPr>
          <p:cNvGraphicFramePr>
            <a:graphicFrameLocks noGrp="1"/>
          </p:cNvGraphicFramePr>
          <p:nvPr/>
        </p:nvGraphicFramePr>
        <p:xfrm>
          <a:off x="495084" y="1192509"/>
          <a:ext cx="10897006" cy="5114782"/>
        </p:xfrm>
        <a:graphic>
          <a:graphicData uri="http://schemas.openxmlformats.org/drawingml/2006/table">
            <a:tbl>
              <a:tblPr bandRow="1">
                <a:tableStyleId>{69CF1AB2-1976-4502-BF36-3FF5EA218861}</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884473">
                <a:tc>
                  <a:txBody>
                    <a:bodyPr/>
                    <a:lstStyle/>
                    <a:p>
                      <a:pPr>
                        <a:buNone/>
                      </a:pPr>
                      <a:r>
                        <a:rPr lang="en-US" sz="1200" dirty="0">
                          <a:effectLst/>
                        </a:rPr>
                        <a:t>Objectives</a:t>
                      </a:r>
                    </a:p>
                  </a:txBody>
                  <a:tcPr marL="0" marR="0" marT="0" marB="0" anchor="ctr"/>
                </a:tc>
                <a:tc>
                  <a:txBody>
                    <a:bodyPr/>
                    <a:lstStyle/>
                    <a:p>
                      <a:pPr algn="l" fontAlgn="t">
                        <a:buNone/>
                      </a:pPr>
                      <a:r>
                        <a:rPr lang="en-GB" sz="1100" b="0" u="none" strike="noStrike" dirty="0">
                          <a:solidFill>
                            <a:srgbClr val="000000"/>
                          </a:solidFill>
                          <a:effectLst/>
                        </a:rPr>
                        <a:t>• To implement the SEO for the </a:t>
                      </a:r>
                      <a:r>
                        <a:rPr lang="en-GB" sz="1100" b="0" u="none" strike="noStrike" dirty="0" err="1">
                          <a:solidFill>
                            <a:srgbClr val="000000"/>
                          </a:solidFill>
                          <a:effectLst/>
                        </a:rPr>
                        <a:t>UAEVerify</a:t>
                      </a:r>
                      <a:r>
                        <a:rPr lang="en-GB" sz="1100" b="0" u="none" strike="noStrike" dirty="0">
                          <a:solidFill>
                            <a:srgbClr val="000000"/>
                          </a:solidFill>
                          <a:effectLst/>
                        </a:rPr>
                        <a:t> portal</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r>
                        <a:rPr lang="en-US" sz="1100" dirty="0"/>
                        <a:t>Need to improve the SEO of the </a:t>
                      </a:r>
                      <a:r>
                        <a:rPr lang="en-US" sz="1100" b="1" dirty="0" err="1"/>
                        <a:t>UAEVerify</a:t>
                      </a:r>
                      <a:r>
                        <a:rPr lang="en-US" sz="1100" dirty="0"/>
                        <a:t> website by adding proper SEO metadata across key pages so the site can rank better in Google search results. This includes adding page-level meta tags and structured information that helps search engines understand the content and display rich previews.</a:t>
                      </a:r>
                    </a:p>
                    <a:p>
                      <a:r>
                        <a:rPr lang="en-US" sz="1100" dirty="0"/>
                        <a:t> </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dirty="0">
                          <a:effectLst/>
                        </a:rPr>
                        <a:t>Acceptance Criteria</a:t>
                      </a:r>
                    </a:p>
                  </a:txBody>
                  <a:tcPr marL="0" marR="0" marT="0" marB="0" anchor="ctr"/>
                </a:tc>
                <a:tc>
                  <a:txBody>
                    <a:bodyPr/>
                    <a:lstStyle/>
                    <a:p>
                      <a:pPr algn="l" fontAlgn="t">
                        <a:buNone/>
                      </a:pPr>
                      <a:r>
                        <a:rPr lang="en-GB" sz="1100" b="0" u="none" strike="noStrike" dirty="0">
                          <a:solidFill>
                            <a:srgbClr val="000000"/>
                          </a:solidFill>
                          <a:effectLst/>
                        </a:rPr>
                        <a:t>• The improved rank for </a:t>
                      </a:r>
                      <a:r>
                        <a:rPr lang="en-GB" sz="1100" b="0" u="none" strike="noStrike" dirty="0" err="1">
                          <a:solidFill>
                            <a:srgbClr val="000000"/>
                          </a:solidFill>
                          <a:effectLst/>
                        </a:rPr>
                        <a:t>UAEVerify</a:t>
                      </a:r>
                      <a:r>
                        <a:rPr lang="en-GB" sz="1100" b="0" u="none" strike="noStrike" dirty="0">
                          <a:solidFill>
                            <a:srgbClr val="000000"/>
                          </a:solidFill>
                          <a:effectLst/>
                        </a:rPr>
                        <a:t> website in google search, ideally it should appear at the top </a:t>
                      </a:r>
                    </a:p>
                    <a:p>
                      <a:pPr marL="0" marR="0" lvl="0" indent="0" algn="l" defTabSz="914400" rtl="0" eaLnBrk="1" fontAlgn="t" latinLnBrk="0" hangingPunct="1">
                        <a:lnSpc>
                          <a:spcPct val="100000"/>
                        </a:lnSpc>
                        <a:spcBef>
                          <a:spcPts val="0"/>
                        </a:spcBef>
                        <a:spcAft>
                          <a:spcPts val="0"/>
                        </a:spcAft>
                        <a:buClrTx/>
                        <a:buSzTx/>
                        <a:buFontTx/>
                        <a:buNone/>
                        <a:tabLst/>
                        <a:defRPr/>
                      </a:pPr>
                      <a:r>
                        <a:rPr lang="en-GB" sz="1100" b="0" u="none" strike="noStrike" dirty="0">
                          <a:solidFill>
                            <a:srgbClr val="000000"/>
                          </a:solidFill>
                          <a:effectLst/>
                        </a:rPr>
                        <a:t>• </a:t>
                      </a:r>
                      <a:r>
                        <a:rPr lang="en-GB" sz="1100" b="0" i="0" u="none" strike="noStrike" dirty="0">
                          <a:solidFill>
                            <a:srgbClr val="000000"/>
                          </a:solidFill>
                          <a:effectLst/>
                          <a:latin typeface="Calibri" panose="020F0502020204030204" pitchFamily="34" charset="0"/>
                        </a:rPr>
                        <a:t>Meta data per page is as per approved copy.</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u="none" strike="noStrike" dirty="0">
                          <a:solidFill>
                            <a:srgbClr val="000000"/>
                          </a:solidFill>
                          <a:effectLst/>
                        </a:rPr>
                        <a:t>• Service Provider Enablement/Partnerships</a:t>
                      </a:r>
                      <a:br>
                        <a:rPr lang="en-GB" sz="1100" b="0" u="none" strike="noStrike" dirty="0">
                          <a:solidFill>
                            <a:srgbClr val="000000"/>
                          </a:solidFill>
                          <a:effectLst/>
                        </a:rPr>
                      </a:br>
                      <a:r>
                        <a:rPr lang="en-GB" sz="1100" b="0" u="none" strike="noStrike" dirty="0">
                          <a:solidFill>
                            <a:srgbClr val="000000"/>
                          </a:solidFill>
                          <a:effectLst/>
                        </a:rPr>
                        <a:t>• Product Management</a:t>
                      </a:r>
                      <a:br>
                        <a:rPr lang="en-GB" sz="1100" b="0" u="none" strike="noStrike" dirty="0">
                          <a:solidFill>
                            <a:srgbClr val="000000"/>
                          </a:solidFill>
                          <a:effectLst/>
                        </a:rPr>
                      </a:br>
                      <a:r>
                        <a:rPr lang="en-GB" sz="1100" b="0" u="none" strike="noStrike" dirty="0">
                          <a:solidFill>
                            <a:srgbClr val="000000"/>
                          </a:solidFill>
                          <a:effectLst/>
                        </a:rPr>
                        <a:t>• Backend Development</a:t>
                      </a:r>
                      <a:br>
                        <a:rPr lang="en-GB" sz="1100" b="0" u="none" strike="noStrike" dirty="0">
                          <a:solidFill>
                            <a:srgbClr val="000000"/>
                          </a:solidFill>
                          <a:effectLst/>
                        </a:rPr>
                      </a:br>
                      <a:r>
                        <a:rPr lang="en-GB" sz="1100" b="0" u="none" strike="noStrike" dirty="0">
                          <a:solidFill>
                            <a:srgbClr val="000000"/>
                          </a:solidFill>
                          <a:effectLst/>
                        </a:rPr>
                        <a:t>• Frontend/Mobile Development</a:t>
                      </a:r>
                      <a:br>
                        <a:rPr lang="en-GB" sz="1100" b="0" u="none" strike="noStrike" dirty="0">
                          <a:solidFill>
                            <a:srgbClr val="000000"/>
                          </a:solidFill>
                          <a:effectLst/>
                        </a:rPr>
                      </a:br>
                      <a:r>
                        <a:rPr lang="en-GB" sz="1100" b="0" u="none" strike="noStrike" dirty="0">
                          <a:solidFill>
                            <a:srgbClr val="000000"/>
                          </a:solidFill>
                          <a:effectLst/>
                        </a:rPr>
                        <a:t>• Quality Assurance</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r>
                        <a:rPr lang="en-GB" sz="1100" b="0" u="none" strike="noStrike" dirty="0">
                          <a:solidFill>
                            <a:srgbClr val="000000"/>
                          </a:solidFill>
                          <a:effectLst/>
                        </a:rPr>
                        <a:t>• Google algorithm takes its time to improve the </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a:effectLst/>
                        </a:rPr>
                        <a:t>Timeline</a:t>
                      </a:r>
                    </a:p>
                  </a:txBody>
                  <a:tcPr marL="0" marR="0" marT="0" marB="0" anchor="ctr"/>
                </a:tc>
                <a:tc>
                  <a:txBody>
                    <a:bodyPr/>
                    <a:lstStyle/>
                    <a:p>
                      <a:pPr algn="l" fontAlgn="t">
                        <a:buNone/>
                      </a:pPr>
                      <a:r>
                        <a:rPr lang="en-GB" sz="1100" b="0" u="none" strike="noStrike" dirty="0">
                          <a:solidFill>
                            <a:srgbClr val="000000"/>
                          </a:solidFill>
                          <a:effectLst/>
                        </a:rPr>
                        <a:t>• Dates: 30 Jan 2026 – 10 Feb 2026</a:t>
                      </a:r>
                      <a:br>
                        <a:rPr lang="en-GB" sz="1100" b="0" u="none" strike="noStrike" dirty="0">
                          <a:solidFill>
                            <a:srgbClr val="000000"/>
                          </a:solidFill>
                          <a:effectLst/>
                        </a:rPr>
                      </a:br>
                      <a:r>
                        <a:rPr lang="en-GB" sz="1100" b="0" u="none" strike="noStrike" dirty="0">
                          <a:solidFill>
                            <a:srgbClr val="000000"/>
                          </a:solidFill>
                          <a:effectLst/>
                        </a:rPr>
                        <a:t>• Sprints: 73</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u="none" strike="noStrike" dirty="0">
                          <a:solidFill>
                            <a:srgbClr val="000000"/>
                          </a:solidFill>
                          <a:effectLst/>
                        </a:rPr>
                        <a:t>• UAE PASS users</a:t>
                      </a:r>
                      <a:br>
                        <a:rPr lang="en-GB" sz="1100" b="0" u="none" strike="noStrike" dirty="0">
                          <a:solidFill>
                            <a:srgbClr val="000000"/>
                          </a:solidFill>
                          <a:effectLst/>
                        </a:rPr>
                      </a:br>
                      <a:r>
                        <a:rPr lang="en-GB" sz="1100" b="0" u="none" strike="noStrike" dirty="0">
                          <a:solidFill>
                            <a:srgbClr val="000000"/>
                          </a:solidFill>
                          <a:effectLst/>
                        </a:rPr>
                        <a:t>• Service Providers (form owners)</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157720267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13868-BE71-2D65-F6DF-6ECAF026169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85E65D-E918-0CBF-D8A9-BFB316A1BD26}"/>
              </a:ext>
            </a:extLst>
          </p:cNvPr>
          <p:cNvSpPr>
            <a:spLocks noGrp="1"/>
          </p:cNvSpPr>
          <p:nvPr>
            <p:ph type="sldNum" sz="quarter" idx="12"/>
          </p:nvPr>
        </p:nvSpPr>
        <p:spPr/>
        <p:txBody>
          <a:bodyPr/>
          <a:lstStyle/>
          <a:p>
            <a:fld id="{5AF43EBE-F72E-4D7A-8073-2997FF61F997}" type="slidenum">
              <a:rPr lang="en-US" smtClean="0"/>
              <a:t>25</a:t>
            </a:fld>
            <a:endParaRPr lang="en-US"/>
          </a:p>
        </p:txBody>
      </p:sp>
      <p:sp>
        <p:nvSpPr>
          <p:cNvPr id="7" name="Rectangle 6">
            <a:extLst>
              <a:ext uri="{FF2B5EF4-FFF2-40B4-BE49-F238E27FC236}">
                <a16:creationId xmlns:a16="http://schemas.microsoft.com/office/drawing/2014/main" id="{59E16F2E-6E61-A57A-E62E-6EFE0D7EB9DB}"/>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a:solidFill>
                  <a:srgbClr val="7F6000"/>
                </a:solidFill>
                <a:ea typeface="+mn-lt"/>
                <a:cs typeface="+mn-lt"/>
              </a:rPr>
              <a:t>Error to status code linking </a:t>
            </a:r>
          </a:p>
        </p:txBody>
      </p:sp>
      <p:graphicFrame>
        <p:nvGraphicFramePr>
          <p:cNvPr id="10" name="Table 9">
            <a:extLst>
              <a:ext uri="{FF2B5EF4-FFF2-40B4-BE49-F238E27FC236}">
                <a16:creationId xmlns:a16="http://schemas.microsoft.com/office/drawing/2014/main" id="{2713B5AA-C382-557E-4D97-3BB734833439}"/>
              </a:ext>
            </a:extLst>
          </p:cNvPr>
          <p:cNvGraphicFramePr>
            <a:graphicFrameLocks noGrp="1"/>
          </p:cNvGraphicFramePr>
          <p:nvPr/>
        </p:nvGraphicFramePr>
        <p:xfrm>
          <a:off x="5424365" y="-342900"/>
          <a:ext cx="2794000" cy="4849495"/>
        </p:xfrm>
        <a:graphic>
          <a:graphicData uri="http://schemas.openxmlformats.org/drawingml/2006/table">
            <a:tbl>
              <a:tblPr bandRow="1">
                <a:tableStyleId>{2D5ABB26-0587-4C30-8999-92F81FD0307C}</a:tableStyleId>
              </a:tblPr>
              <a:tblGrid>
                <a:gridCol w="2794000">
                  <a:extLst>
                    <a:ext uri="{9D8B030D-6E8A-4147-A177-3AD203B41FA5}">
                      <a16:colId xmlns:a16="http://schemas.microsoft.com/office/drawing/2014/main" val="767768228"/>
                    </a:ext>
                  </a:extLst>
                </a:gridCol>
              </a:tblGrid>
              <a:tr h="152400">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1293919334"/>
                  </a:ext>
                </a:extLst>
              </a:tr>
              <a:tr h="762000">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1902996732"/>
                  </a:ext>
                </a:extLst>
              </a:tr>
              <a:tr h="678180">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614913821"/>
                  </a:ext>
                </a:extLst>
              </a:tr>
              <a:tr h="762000">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356537805"/>
                  </a:ext>
                </a:extLst>
              </a:tr>
              <a:tr h="678180">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2036589"/>
                  </a:ext>
                </a:extLst>
              </a:tr>
              <a:tr h="678180">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2350684322"/>
                  </a:ext>
                </a:extLst>
              </a:tr>
              <a:tr h="465455">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3255465995"/>
                  </a:ext>
                </a:extLst>
              </a:tr>
              <a:tr h="551180">
                <a:tc>
                  <a:txBody>
                    <a:bodyPr/>
                    <a:lstStyle/>
                    <a:p>
                      <a:pPr>
                        <a:buNone/>
                      </a:pPr>
                      <a:endParaRPr lang="en-US">
                        <a:effectLst/>
                      </a:endParaRPr>
                    </a:p>
                  </a:txBody>
                  <a:tcPr marL="0" marR="0" marT="0" marB="0" anchor="ctr">
                    <a:lnL>
                      <a:noFill/>
                    </a:lnL>
                    <a:lnR>
                      <a:noFill/>
                    </a:lnR>
                    <a:lnT>
                      <a:noFill/>
                    </a:lnT>
                    <a:lnB>
                      <a:noFill/>
                    </a:lnB>
                    <a:noFill/>
                  </a:tcPr>
                </a:tc>
                <a:extLst>
                  <a:ext uri="{0D108BD9-81ED-4DB2-BD59-A6C34878D82A}">
                    <a16:rowId xmlns:a16="http://schemas.microsoft.com/office/drawing/2014/main" val="763637209"/>
                  </a:ext>
                </a:extLst>
              </a:tr>
            </a:tbl>
          </a:graphicData>
        </a:graphic>
      </p:graphicFrame>
      <p:graphicFrame>
        <p:nvGraphicFramePr>
          <p:cNvPr id="12" name="Table 11">
            <a:extLst>
              <a:ext uri="{FF2B5EF4-FFF2-40B4-BE49-F238E27FC236}">
                <a16:creationId xmlns:a16="http://schemas.microsoft.com/office/drawing/2014/main" id="{1335F90A-00A7-2049-8741-99428F266799}"/>
              </a:ext>
            </a:extLst>
          </p:cNvPr>
          <p:cNvGraphicFramePr>
            <a:graphicFrameLocks noGrp="1"/>
          </p:cNvGraphicFramePr>
          <p:nvPr>
            <p:extLst>
              <p:ext uri="{D42A27DB-BD31-4B8C-83A1-F6EECF244321}">
                <p14:modId xmlns:p14="http://schemas.microsoft.com/office/powerpoint/2010/main" val="2462342086"/>
              </p:ext>
            </p:extLst>
          </p:nvPr>
        </p:nvGraphicFramePr>
        <p:xfrm>
          <a:off x="495084" y="1192509"/>
          <a:ext cx="10897006" cy="4864590"/>
        </p:xfrm>
        <a:graphic>
          <a:graphicData uri="http://schemas.openxmlformats.org/drawingml/2006/table">
            <a:tbl>
              <a:tblPr bandRow="1">
                <a:tableStyleId>{69CF1AB2-1976-4502-BF36-3FF5EA218861}</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884473">
                <a:tc>
                  <a:txBody>
                    <a:bodyPr/>
                    <a:lstStyle/>
                    <a:p>
                      <a:pPr>
                        <a:buNone/>
                      </a:pPr>
                      <a:r>
                        <a:rPr lang="en-US" sz="1200" dirty="0">
                          <a:effectLst/>
                        </a:rPr>
                        <a:t>Objectives</a:t>
                      </a:r>
                    </a:p>
                  </a:txBody>
                  <a:tcPr marL="0" marR="0" marT="0" marB="0" anchor="ctr"/>
                </a:tc>
                <a:tc>
                  <a:txBody>
                    <a:bodyPr/>
                    <a:lstStyle/>
                    <a:p>
                      <a:pPr algn="l" fontAlgn="t">
                        <a:buNone/>
                      </a:pPr>
                      <a:r>
                        <a:rPr lang="en-GB" sz="1100" b="0" u="none" strike="noStrike" dirty="0">
                          <a:solidFill>
                            <a:srgbClr val="000000"/>
                          </a:solidFill>
                          <a:effectLst/>
                        </a:rPr>
                        <a:t>• To create the operational dashboard to track the state of the sharing request using the latest status model.</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algn="l" fontAlgn="t">
                        <a:buNone/>
                      </a:pPr>
                      <a:r>
                        <a:rPr lang="en-GB" sz="1100" b="0" u="none" strike="noStrike" dirty="0">
                          <a:solidFill>
                            <a:srgbClr val="000000"/>
                          </a:solidFill>
                          <a:effectLst/>
                        </a:rPr>
                        <a:t>Auto-fill forms using stored document data to streamline user workflows. Note: Service Provider related</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u="none" strike="noStrike" dirty="0">
                          <a:solidFill>
                            <a:srgbClr val="000000"/>
                          </a:solidFill>
                          <a:effectLst/>
                        </a:rPr>
                        <a:t>• Should be able to track the sharing request using ID</a:t>
                      </a:r>
                    </a:p>
                    <a:p>
                      <a:pPr marL="0" marR="0" lvl="0" indent="0" algn="l" defTabSz="914400" rtl="0" eaLnBrk="1" fontAlgn="t" latinLnBrk="0" hangingPunct="1">
                        <a:lnSpc>
                          <a:spcPct val="100000"/>
                        </a:lnSpc>
                        <a:spcBef>
                          <a:spcPts val="0"/>
                        </a:spcBef>
                        <a:spcAft>
                          <a:spcPts val="0"/>
                        </a:spcAft>
                        <a:buClrTx/>
                        <a:buSzTx/>
                        <a:buFontTx/>
                        <a:buNone/>
                        <a:tabLst/>
                        <a:defRPr/>
                      </a:pPr>
                      <a:r>
                        <a:rPr lang="en-GB" sz="1100" b="0" u="none" strike="noStrike" dirty="0">
                          <a:solidFill>
                            <a:srgbClr val="000000"/>
                          </a:solidFill>
                          <a:effectLst/>
                        </a:rPr>
                        <a:t>• To track the respective state for the sharing request</a:t>
                      </a:r>
                    </a:p>
                    <a:p>
                      <a:pPr marL="0" marR="0" lvl="0" indent="0" algn="l" defTabSz="914400" rtl="0" eaLnBrk="1" fontAlgn="t" latinLnBrk="0" hangingPunct="1">
                        <a:lnSpc>
                          <a:spcPct val="100000"/>
                        </a:lnSpc>
                        <a:spcBef>
                          <a:spcPts val="0"/>
                        </a:spcBef>
                        <a:spcAft>
                          <a:spcPts val="0"/>
                        </a:spcAft>
                        <a:buClrTx/>
                        <a:buSzTx/>
                        <a:buFontTx/>
                        <a:buNone/>
                        <a:tabLst/>
                        <a:defRPr/>
                      </a:pPr>
                      <a:r>
                        <a:rPr lang="en-GB" sz="1100" b="0" u="none" strike="noStrike" dirty="0">
                          <a:solidFill>
                            <a:srgbClr val="000000"/>
                          </a:solidFill>
                          <a:effectLst/>
                        </a:rPr>
                        <a:t>• Updated funnel chart</a:t>
                      </a:r>
                    </a:p>
                    <a:p>
                      <a:pPr marL="0" marR="0" lvl="0" indent="0" algn="l" defTabSz="914400" rtl="0" eaLnBrk="1" fontAlgn="t" latinLnBrk="0" hangingPunct="1">
                        <a:lnSpc>
                          <a:spcPct val="100000"/>
                        </a:lnSpc>
                        <a:spcBef>
                          <a:spcPts val="0"/>
                        </a:spcBef>
                        <a:spcAft>
                          <a:spcPts val="0"/>
                        </a:spcAft>
                        <a:buClrTx/>
                        <a:buSzTx/>
                        <a:buFontTx/>
                        <a:buNone/>
                        <a:tabLst/>
                        <a:defRPr/>
                      </a:pPr>
                      <a:endParaRPr lang="en-GB" sz="1100" b="0" u="none" strike="noStrike" dirty="0">
                        <a:solidFill>
                          <a:srgbClr val="000000"/>
                        </a:solidFill>
                        <a:effectLst/>
                      </a:endParaRPr>
                    </a:p>
                    <a:p>
                      <a:pPr marL="0" marR="0" lvl="0" indent="0" algn="l" defTabSz="914400" rtl="0" eaLnBrk="1" fontAlgn="t" latinLnBrk="0" hangingPunct="1">
                        <a:lnSpc>
                          <a:spcPct val="100000"/>
                        </a:lnSpc>
                        <a:spcBef>
                          <a:spcPts val="0"/>
                        </a:spcBef>
                        <a:spcAft>
                          <a:spcPts val="0"/>
                        </a:spcAft>
                        <a:buClrTx/>
                        <a:buSzTx/>
                        <a:buFontTx/>
                        <a:buNone/>
                        <a:tabLst/>
                        <a:defRPr/>
                      </a:pPr>
                      <a:endParaRPr lang="en-GB" sz="1100" b="0" u="none" strike="noStrike" dirty="0">
                        <a:solidFill>
                          <a:srgbClr val="000000"/>
                        </a:solidFill>
                        <a:effectLst/>
                      </a:endParaRPr>
                    </a:p>
                    <a:p>
                      <a:pPr algn="l" fontAlgn="t">
                        <a:buNone/>
                      </a:pPr>
                      <a:endParaRPr lang="en-GB" sz="1100" b="0" u="none" strike="noStrike" dirty="0">
                        <a:solidFill>
                          <a:srgbClr val="000000"/>
                        </a:solidFill>
                        <a:effectLst/>
                      </a:endParaRP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u="none" strike="noStrike" dirty="0">
                          <a:solidFill>
                            <a:srgbClr val="000000"/>
                          </a:solidFill>
                          <a:effectLst/>
                        </a:rPr>
                        <a:t>• Service Provider Enablement/Partnerships</a:t>
                      </a:r>
                      <a:br>
                        <a:rPr lang="en-GB" sz="1100" b="0" u="none" strike="noStrike" dirty="0">
                          <a:solidFill>
                            <a:srgbClr val="000000"/>
                          </a:solidFill>
                          <a:effectLst/>
                        </a:rPr>
                      </a:br>
                      <a:r>
                        <a:rPr lang="en-GB" sz="1100" b="0" u="none" strike="noStrike" dirty="0">
                          <a:solidFill>
                            <a:srgbClr val="000000"/>
                          </a:solidFill>
                          <a:effectLst/>
                        </a:rPr>
                        <a:t>• Product Management</a:t>
                      </a:r>
                      <a:br>
                        <a:rPr lang="en-GB" sz="1100" b="0" u="none" strike="noStrike" dirty="0">
                          <a:solidFill>
                            <a:srgbClr val="000000"/>
                          </a:solidFill>
                          <a:effectLst/>
                        </a:rPr>
                      </a:br>
                      <a:r>
                        <a:rPr lang="en-GB" sz="1100" b="0" u="none" strike="noStrike" dirty="0">
                          <a:solidFill>
                            <a:srgbClr val="000000"/>
                          </a:solidFill>
                          <a:effectLst/>
                        </a:rPr>
                        <a:t>• Backend Development</a:t>
                      </a:r>
                      <a:br>
                        <a:rPr lang="en-GB" sz="1100" b="0" u="none" strike="noStrike" dirty="0">
                          <a:solidFill>
                            <a:srgbClr val="000000"/>
                          </a:solidFill>
                          <a:effectLst/>
                        </a:rPr>
                      </a:br>
                      <a:r>
                        <a:rPr lang="en-GB" sz="1100" b="0" u="none" strike="noStrike" dirty="0">
                          <a:solidFill>
                            <a:srgbClr val="000000"/>
                          </a:solidFill>
                          <a:effectLst/>
                        </a:rPr>
                        <a:t>• Frontend/Mobile Development</a:t>
                      </a:r>
                      <a:br>
                        <a:rPr lang="en-GB" sz="1100" b="0" u="none" strike="noStrike" dirty="0">
                          <a:solidFill>
                            <a:srgbClr val="000000"/>
                          </a:solidFill>
                          <a:effectLst/>
                        </a:rPr>
                      </a:br>
                      <a:r>
                        <a:rPr lang="en-GB" sz="1100" b="0" u="none" strike="noStrike" dirty="0">
                          <a:solidFill>
                            <a:srgbClr val="000000"/>
                          </a:solidFill>
                          <a:effectLst/>
                        </a:rPr>
                        <a:t>• Quality Assurance</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r>
                        <a:rPr lang="en-GB" sz="1100" b="0" u="none" strike="noStrike" dirty="0">
                          <a:solidFill>
                            <a:srgbClr val="000000"/>
                          </a:solidFill>
                          <a:effectLst/>
                        </a:rPr>
                        <a:t>• The data should be present in production as agreed format, there might be some updates required to optimise the visualisation at DB side</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a:effectLst/>
                        </a:rPr>
                        <a:t>Timeline</a:t>
                      </a:r>
                    </a:p>
                  </a:txBody>
                  <a:tcPr marL="0" marR="0" marT="0" marB="0" anchor="ctr"/>
                </a:tc>
                <a:tc>
                  <a:txBody>
                    <a:bodyPr/>
                    <a:lstStyle/>
                    <a:p>
                      <a:pPr algn="l" fontAlgn="t">
                        <a:buNone/>
                      </a:pPr>
                      <a:r>
                        <a:rPr lang="en-GB" sz="1100" b="0" u="none" strike="noStrike" dirty="0">
                          <a:solidFill>
                            <a:srgbClr val="000000"/>
                          </a:solidFill>
                          <a:effectLst/>
                        </a:rPr>
                        <a:t>• Dates: 12 Feb 2026 – 15 March 2026</a:t>
                      </a:r>
                      <a:br>
                        <a:rPr lang="en-GB" sz="1100" b="0" u="none" strike="noStrike" dirty="0">
                          <a:solidFill>
                            <a:srgbClr val="000000"/>
                          </a:solidFill>
                          <a:effectLst/>
                        </a:rPr>
                      </a:br>
                      <a:r>
                        <a:rPr lang="en-GB" sz="1100" b="0" u="none" strike="noStrike" dirty="0">
                          <a:solidFill>
                            <a:srgbClr val="000000"/>
                          </a:solidFill>
                          <a:effectLst/>
                        </a:rPr>
                        <a:t>• Sprints:  Sprint 74- Sprint 76</a:t>
                      </a:r>
                      <a:br>
                        <a:rPr lang="en-GB" sz="1100" b="0" u="none" strike="noStrike" dirty="0">
                          <a:solidFill>
                            <a:srgbClr val="000000"/>
                          </a:solidFill>
                          <a:effectLst/>
                        </a:rPr>
                      </a:br>
                      <a:r>
                        <a:rPr lang="en-GB" sz="1100" b="0" u="none" strike="noStrike" dirty="0">
                          <a:solidFill>
                            <a:srgbClr val="000000"/>
                          </a:solidFill>
                          <a:effectLst/>
                        </a:rPr>
                        <a:t>• Priority/Complexity: High/Low</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u="none" strike="noStrike" dirty="0">
                          <a:solidFill>
                            <a:srgbClr val="000000"/>
                          </a:solidFill>
                          <a:effectLst/>
                        </a:rPr>
                        <a:t>• UAE PASS users</a:t>
                      </a:r>
                      <a:br>
                        <a:rPr lang="en-GB" sz="1100" b="0" u="none" strike="noStrike" dirty="0">
                          <a:solidFill>
                            <a:srgbClr val="000000"/>
                          </a:solidFill>
                          <a:effectLst/>
                        </a:rPr>
                      </a:br>
                      <a:r>
                        <a:rPr lang="en-GB" sz="1100" b="0" u="none" strike="noStrike" dirty="0">
                          <a:solidFill>
                            <a:srgbClr val="000000"/>
                          </a:solidFill>
                          <a:effectLst/>
                        </a:rPr>
                        <a:t>• Service Providers (form owners)</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2794337280"/>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AC848-8BE4-300A-7DC5-7AF778E34C0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7342F0-9C47-5C94-BAB3-6D9969378ECE}"/>
              </a:ext>
            </a:extLst>
          </p:cNvPr>
          <p:cNvSpPr>
            <a:spLocks noGrp="1"/>
          </p:cNvSpPr>
          <p:nvPr>
            <p:ph type="sldNum" sz="quarter" idx="12"/>
          </p:nvPr>
        </p:nvSpPr>
        <p:spPr/>
        <p:txBody>
          <a:bodyPr/>
          <a:lstStyle/>
          <a:p>
            <a:fld id="{5AF43EBE-F72E-4D7A-8073-2997FF61F997}" type="slidenum">
              <a:rPr lang="en-US" smtClean="0"/>
              <a:t>26</a:t>
            </a:fld>
            <a:endParaRPr lang="en-US"/>
          </a:p>
        </p:txBody>
      </p:sp>
      <p:sp>
        <p:nvSpPr>
          <p:cNvPr id="7" name="Rectangle 6">
            <a:extLst>
              <a:ext uri="{FF2B5EF4-FFF2-40B4-BE49-F238E27FC236}">
                <a16:creationId xmlns:a16="http://schemas.microsoft.com/office/drawing/2014/main" id="{61C8C520-D11E-E82A-E3F9-09F54CC14556}"/>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a:solidFill>
                  <a:srgbClr val="7F6000"/>
                </a:solidFill>
                <a:ea typeface="+mn-lt"/>
                <a:cs typeface="+mn-lt"/>
              </a:rPr>
              <a:t>Infinite loader detection and resolution  </a:t>
            </a:r>
          </a:p>
        </p:txBody>
      </p:sp>
      <p:graphicFrame>
        <p:nvGraphicFramePr>
          <p:cNvPr id="12" name="Table 11">
            <a:extLst>
              <a:ext uri="{FF2B5EF4-FFF2-40B4-BE49-F238E27FC236}">
                <a16:creationId xmlns:a16="http://schemas.microsoft.com/office/drawing/2014/main" id="{F8B8E040-28B4-5EEF-E177-103C78EE6D3D}"/>
              </a:ext>
            </a:extLst>
          </p:cNvPr>
          <p:cNvGraphicFramePr>
            <a:graphicFrameLocks noGrp="1"/>
          </p:cNvGraphicFramePr>
          <p:nvPr>
            <p:extLst>
              <p:ext uri="{D42A27DB-BD31-4B8C-83A1-F6EECF244321}">
                <p14:modId xmlns:p14="http://schemas.microsoft.com/office/powerpoint/2010/main" val="3461194617"/>
              </p:ext>
            </p:extLst>
          </p:nvPr>
        </p:nvGraphicFramePr>
        <p:xfrm>
          <a:off x="456794" y="993305"/>
          <a:ext cx="10897006" cy="5785342"/>
        </p:xfrm>
        <a:graphic>
          <a:graphicData uri="http://schemas.openxmlformats.org/drawingml/2006/table">
            <a:tbl>
              <a:tblPr bandRow="1">
                <a:tableStyleId>{69CF1AB2-1976-4502-BF36-3FF5EA218861}</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884473">
                <a:tc>
                  <a:txBody>
                    <a:bodyPr/>
                    <a:lstStyle/>
                    <a:p>
                      <a:pPr>
                        <a:buNone/>
                      </a:pPr>
                      <a:r>
                        <a:rPr lang="en-US" sz="1200" dirty="0">
                          <a:effectLst/>
                        </a:rPr>
                        <a:t>Objectives</a:t>
                      </a:r>
                    </a:p>
                  </a:txBody>
                  <a:tcPr marL="0" marR="0" marT="0" marB="0" anchor="ctr"/>
                </a:tc>
                <a:tc>
                  <a:txBody>
                    <a:bodyPr/>
                    <a:lstStyle/>
                    <a:p>
                      <a:pPr algn="l" fontAlgn="t">
                        <a:buNone/>
                      </a:pPr>
                      <a:r>
                        <a:rPr lang="en-GB" sz="1100" b="0" u="none" strike="noStrike" dirty="0">
                          <a:solidFill>
                            <a:srgbClr val="000000"/>
                          </a:solidFill>
                          <a:effectLst/>
                        </a:rPr>
                        <a:t>• Detect and resolve infinite loading states across the application.</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dirty="0">
                          <a:effectLst/>
                        </a:rPr>
                        <a:t>Description</a:t>
                      </a:r>
                    </a:p>
                  </a:txBody>
                  <a:tcPr marL="0" marR="0" marT="0" marB="0" anchor="ctr"/>
                </a:tc>
                <a:tc>
                  <a:txBody>
                    <a:bodyPr/>
                    <a:lstStyle/>
                    <a:p>
                      <a:pPr marL="171450" indent="-171450">
                        <a:buFont typeface="Arial" panose="020B0604020202020204" pitchFamily="34" charset="0"/>
                        <a:buChar char="•"/>
                      </a:pPr>
                      <a:r>
                        <a:rPr lang="en-US" sz="1100" dirty="0"/>
                        <a:t>Issuer list</a:t>
                      </a:r>
                    </a:p>
                    <a:p>
                      <a:pPr marL="171450" indent="-171450">
                        <a:buFont typeface="Arial" panose="020B0604020202020204" pitchFamily="34" charset="0"/>
                        <a:buChar char="•"/>
                      </a:pPr>
                      <a:r>
                        <a:rPr lang="en-US" sz="1100" dirty="0"/>
                        <a:t>Download and Share </a:t>
                      </a:r>
                    </a:p>
                    <a:p>
                      <a:pPr marL="171450" indent="-171450">
                        <a:buFont typeface="Arial" panose="020B0604020202020204" pitchFamily="34" charset="0"/>
                        <a:buChar char="•"/>
                      </a:pPr>
                      <a:r>
                        <a:rPr lang="en-US" sz="1100" dirty="0"/>
                        <a:t>QR verification</a:t>
                      </a:r>
                    </a:p>
                    <a:p>
                      <a:pPr marL="171450" indent="-171450">
                        <a:buFont typeface="Arial" panose="020B0604020202020204" pitchFamily="34" charset="0"/>
                        <a:buChar char="•"/>
                      </a:pPr>
                      <a:r>
                        <a:rPr lang="en-US" sz="1100" dirty="0"/>
                        <a:t>Notification list</a:t>
                      </a:r>
                    </a:p>
                    <a:p>
                      <a:pPr marL="171450" indent="-171450">
                        <a:buFont typeface="Arial" panose="020B0604020202020204" pitchFamily="34" charset="0"/>
                        <a:buChar char="•"/>
                      </a:pPr>
                      <a:r>
                        <a:rPr lang="en-US" sz="1100" dirty="0"/>
                        <a:t>actionable and non actionable notification details </a:t>
                      </a:r>
                    </a:p>
                    <a:p>
                      <a:pPr marL="171450" indent="-171450">
                        <a:buFont typeface="Arial" panose="020B0604020202020204" pitchFamily="34" charset="0"/>
                        <a:buChar char="•"/>
                      </a:pPr>
                      <a:r>
                        <a:rPr lang="en-US" sz="1100" dirty="0"/>
                        <a:t>document selection screen</a:t>
                      </a:r>
                    </a:p>
                    <a:p>
                      <a:pPr marL="171450" indent="-171450">
                        <a:buFont typeface="Arial" panose="020B0604020202020204" pitchFamily="34" charset="0"/>
                        <a:buChar char="•"/>
                      </a:pPr>
                      <a:endParaRPr lang="en-US" sz="1100" dirty="0"/>
                    </a:p>
                    <a:p>
                      <a:pPr marL="0" indent="0">
                        <a:buFont typeface="Arial" panose="020B0604020202020204" pitchFamily="34" charset="0"/>
                        <a:buNone/>
                      </a:pPr>
                      <a:r>
                        <a:rPr lang="en-US" sz="1100" dirty="0"/>
                        <a:t>include above  remaining scenarios </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u="none" strike="noStrike" dirty="0">
                          <a:solidFill>
                            <a:srgbClr val="000000"/>
                          </a:solidFill>
                          <a:effectLst/>
                        </a:rPr>
                        <a:t>• Reduction of the loader </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u="none" strike="noStrike" dirty="0">
                          <a:solidFill>
                            <a:srgbClr val="000000"/>
                          </a:solidFill>
                          <a:effectLst/>
                        </a:rPr>
                        <a:t>• Product Management</a:t>
                      </a:r>
                      <a:br>
                        <a:rPr lang="en-GB" sz="1100" b="0" u="none" strike="noStrike" dirty="0">
                          <a:solidFill>
                            <a:srgbClr val="000000"/>
                          </a:solidFill>
                          <a:effectLst/>
                        </a:rPr>
                      </a:br>
                      <a:r>
                        <a:rPr lang="en-GB" sz="1100" b="0" u="none" strike="noStrike" dirty="0">
                          <a:solidFill>
                            <a:srgbClr val="000000"/>
                          </a:solidFill>
                          <a:effectLst/>
                        </a:rPr>
                        <a:t>• Backend Development</a:t>
                      </a:r>
                      <a:br>
                        <a:rPr lang="en-GB" sz="1100" b="0" u="none" strike="noStrike" dirty="0">
                          <a:solidFill>
                            <a:srgbClr val="000000"/>
                          </a:solidFill>
                          <a:effectLst/>
                        </a:rPr>
                      </a:br>
                      <a:r>
                        <a:rPr lang="en-GB" sz="1100" b="0" u="none" strike="noStrike" dirty="0">
                          <a:solidFill>
                            <a:srgbClr val="000000"/>
                          </a:solidFill>
                          <a:effectLst/>
                        </a:rPr>
                        <a:t>• Frontend/Mobile Development</a:t>
                      </a:r>
                      <a:br>
                        <a:rPr lang="en-GB" sz="1100" b="0" u="none" strike="noStrike" dirty="0">
                          <a:solidFill>
                            <a:srgbClr val="000000"/>
                          </a:solidFill>
                          <a:effectLst/>
                        </a:rPr>
                      </a:br>
                      <a:r>
                        <a:rPr lang="en-GB" sz="1100" b="0" u="none" strike="noStrike" dirty="0">
                          <a:solidFill>
                            <a:srgbClr val="000000"/>
                          </a:solidFill>
                          <a:effectLst/>
                        </a:rPr>
                        <a:t>• Quality Assurance</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dirty="0">
                          <a:effectLst/>
                        </a:rPr>
                        <a:t>Timeline</a:t>
                      </a:r>
                    </a:p>
                  </a:txBody>
                  <a:tcPr marL="0" marR="0" marT="0" marB="0" anchor="ctr"/>
                </a:tc>
                <a:tc>
                  <a:txBody>
                    <a:bodyPr/>
                    <a:lstStyle/>
                    <a:p>
                      <a:pPr algn="l" fontAlgn="t">
                        <a:buNone/>
                      </a:pPr>
                      <a:r>
                        <a:rPr lang="en-GB" sz="1100" b="0" u="none" strike="noStrike" dirty="0">
                          <a:solidFill>
                            <a:srgbClr val="000000"/>
                          </a:solidFill>
                          <a:effectLst/>
                        </a:rPr>
                        <a:t>• Dates: 31 Jan 2025 – 11 Mar 2026</a:t>
                      </a:r>
                      <a:br>
                        <a:rPr lang="en-GB" sz="1100" b="0" u="none" strike="noStrike" dirty="0">
                          <a:solidFill>
                            <a:srgbClr val="000000"/>
                          </a:solidFill>
                          <a:effectLst/>
                        </a:rPr>
                      </a:br>
                      <a:r>
                        <a:rPr lang="en-GB" sz="1100" b="0" u="none" strike="noStrike" dirty="0">
                          <a:solidFill>
                            <a:srgbClr val="000000"/>
                          </a:solidFill>
                          <a:effectLst/>
                        </a:rPr>
                        <a:t>• Sprints: 71-75</a:t>
                      </a:r>
                      <a:br>
                        <a:rPr lang="en-GB" sz="1100" b="0" u="none" strike="noStrike" dirty="0">
                          <a:solidFill>
                            <a:srgbClr val="000000"/>
                          </a:solidFill>
                          <a:effectLst/>
                        </a:rPr>
                      </a:br>
                      <a:r>
                        <a:rPr lang="en-GB" sz="1100" b="0" u="none" strike="noStrike" dirty="0">
                          <a:solidFill>
                            <a:srgbClr val="000000"/>
                          </a:solidFill>
                          <a:effectLst/>
                        </a:rPr>
                        <a:t>• Priority/Complexity: High/Low</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u="none" strike="noStrike" dirty="0">
                          <a:solidFill>
                            <a:srgbClr val="000000"/>
                          </a:solidFill>
                          <a:effectLst/>
                        </a:rPr>
                        <a:t>• UAE PASS users</a:t>
                      </a:r>
                      <a:br>
                        <a:rPr lang="en-GB" sz="1100" b="0" u="none" strike="noStrike" dirty="0">
                          <a:solidFill>
                            <a:srgbClr val="000000"/>
                          </a:solidFill>
                          <a:effectLst/>
                        </a:rPr>
                      </a:br>
                      <a:r>
                        <a:rPr lang="en-GB" sz="1100" b="0" u="none" strike="noStrike" dirty="0">
                          <a:solidFill>
                            <a:srgbClr val="000000"/>
                          </a:solidFill>
                          <a:effectLst/>
                        </a:rPr>
                        <a:t>• Service Providers (form owners)</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989406679"/>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78CEE-2A58-D0B1-C452-6CF0000CFA4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DFA83A-B396-C9BA-D532-D5FC5C7F074F}"/>
              </a:ext>
            </a:extLst>
          </p:cNvPr>
          <p:cNvSpPr>
            <a:spLocks noGrp="1"/>
          </p:cNvSpPr>
          <p:nvPr>
            <p:ph type="sldNum" sz="quarter" idx="12"/>
          </p:nvPr>
        </p:nvSpPr>
        <p:spPr/>
        <p:txBody>
          <a:bodyPr/>
          <a:lstStyle/>
          <a:p>
            <a:fld id="{5AF43EBE-F72E-4D7A-8073-2997FF61F997}" type="slidenum">
              <a:rPr lang="en-US" smtClean="0"/>
              <a:t>27</a:t>
            </a:fld>
            <a:endParaRPr lang="en-US"/>
          </a:p>
        </p:txBody>
      </p:sp>
      <p:sp>
        <p:nvSpPr>
          <p:cNvPr id="7" name="Rectangle 6">
            <a:extLst>
              <a:ext uri="{FF2B5EF4-FFF2-40B4-BE49-F238E27FC236}">
                <a16:creationId xmlns:a16="http://schemas.microsoft.com/office/drawing/2014/main" id="{09BCF703-9E53-FAD3-2C06-D14AEA9C45F5}"/>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a:solidFill>
                  <a:srgbClr val="7F6000"/>
                </a:solidFill>
                <a:ea typeface="+mn-lt"/>
                <a:cs typeface="+mn-lt"/>
              </a:rPr>
              <a:t>Firebase configuration and optimization </a:t>
            </a:r>
          </a:p>
        </p:txBody>
      </p:sp>
      <p:graphicFrame>
        <p:nvGraphicFramePr>
          <p:cNvPr id="12" name="Table 11">
            <a:extLst>
              <a:ext uri="{FF2B5EF4-FFF2-40B4-BE49-F238E27FC236}">
                <a16:creationId xmlns:a16="http://schemas.microsoft.com/office/drawing/2014/main" id="{302FCBE4-1A18-011D-4CE0-4604557ABDF3}"/>
              </a:ext>
            </a:extLst>
          </p:cNvPr>
          <p:cNvGraphicFramePr>
            <a:graphicFrameLocks noGrp="1"/>
          </p:cNvGraphicFramePr>
          <p:nvPr/>
        </p:nvGraphicFramePr>
        <p:xfrm>
          <a:off x="495084" y="1192509"/>
          <a:ext cx="10897006" cy="5282422"/>
        </p:xfrm>
        <a:graphic>
          <a:graphicData uri="http://schemas.openxmlformats.org/drawingml/2006/table">
            <a:tbl>
              <a:tblPr bandRow="1">
                <a:tableStyleId>{69CF1AB2-1976-4502-BF36-3FF5EA218861}</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884473">
                <a:tc>
                  <a:txBody>
                    <a:bodyPr/>
                    <a:lstStyle/>
                    <a:p>
                      <a:pPr>
                        <a:buNone/>
                      </a:pPr>
                      <a:r>
                        <a:rPr lang="en-US" sz="1200" dirty="0">
                          <a:effectLst/>
                        </a:rPr>
                        <a:t>Objectives</a:t>
                      </a:r>
                    </a:p>
                  </a:txBody>
                  <a:tcPr marL="0" marR="0" marT="0" marB="0" anchor="ctr"/>
                </a:tc>
                <a:tc>
                  <a:txBody>
                    <a:bodyPr/>
                    <a:lstStyle/>
                    <a:p>
                      <a:pPr algn="l" fontAlgn="t">
                        <a:buNone/>
                      </a:pPr>
                      <a:r>
                        <a:rPr lang="en-GB" sz="1100" b="0" u="none" strike="noStrike" dirty="0">
                          <a:solidFill>
                            <a:srgbClr val="000000"/>
                          </a:solidFill>
                          <a:effectLst/>
                        </a:rPr>
                        <a:t>• To create the TTL based document deletion </a:t>
                      </a:r>
                    </a:p>
                    <a:p>
                      <a:pPr marL="0" marR="0" lvl="0" indent="0" algn="l" defTabSz="914400" rtl="0" eaLnBrk="1" fontAlgn="t" latinLnBrk="0" hangingPunct="1">
                        <a:lnSpc>
                          <a:spcPct val="100000"/>
                        </a:lnSpc>
                        <a:spcBef>
                          <a:spcPts val="0"/>
                        </a:spcBef>
                        <a:spcAft>
                          <a:spcPts val="0"/>
                        </a:spcAft>
                        <a:buClrTx/>
                        <a:buSzTx/>
                        <a:buFontTx/>
                        <a:buNone/>
                        <a:tabLst/>
                        <a:defRPr/>
                      </a:pPr>
                      <a:r>
                        <a:rPr lang="en-GB" sz="1100" b="0" u="none" strike="noStrike" dirty="0">
                          <a:solidFill>
                            <a:srgbClr val="000000"/>
                          </a:solidFill>
                          <a:effectLst/>
                        </a:rPr>
                        <a:t>• Timely deletion of the anonymous users </a:t>
                      </a:r>
                    </a:p>
                    <a:p>
                      <a:pPr algn="l" fontAlgn="t">
                        <a:buNone/>
                      </a:pP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algn="l" fontAlgn="t">
                        <a:buNone/>
                      </a:pPr>
                      <a:r>
                        <a:rPr lang="en-GB" sz="1100" b="0" u="none" strike="noStrike" dirty="0">
                          <a:solidFill>
                            <a:srgbClr val="000000"/>
                          </a:solidFill>
                          <a:effectLst/>
                        </a:rPr>
                        <a:t>After the incident of the 6th December, we have stopped the batch processes. These batch processor was taking care of deletion of the documents from the collection and deleting the anonymous users. </a:t>
                      </a:r>
                    </a:p>
                    <a:p>
                      <a:pPr algn="l" fontAlgn="t">
                        <a:buNone/>
                      </a:pPr>
                      <a:endParaRPr lang="en-GB" sz="1100" b="0" u="none" strike="noStrike" dirty="0">
                        <a:solidFill>
                          <a:srgbClr val="000000"/>
                        </a:solidFill>
                        <a:effectLst/>
                      </a:endParaRPr>
                    </a:p>
                    <a:p>
                      <a:pPr algn="l" fontAlgn="t">
                        <a:buNone/>
                      </a:pPr>
                      <a:r>
                        <a:rPr lang="en-GB" sz="1100" b="0" u="none" strike="noStrike" dirty="0">
                          <a:solidFill>
                            <a:srgbClr val="000000"/>
                          </a:solidFill>
                          <a:effectLst/>
                        </a:rPr>
                        <a:t>So now, as we are not having a batch processor running, we need TTL-based document deletion and Google Function based scheduled deletion of the anonymous users. </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u="none" strike="noStrike" dirty="0">
                          <a:solidFill>
                            <a:srgbClr val="000000"/>
                          </a:solidFill>
                          <a:effectLst/>
                        </a:rPr>
                        <a:t>• The collection should have latest </a:t>
                      </a:r>
                      <a:r>
                        <a:rPr lang="en-GB" sz="1100" b="0" u="none" strike="noStrike" dirty="0" err="1">
                          <a:solidFill>
                            <a:srgbClr val="000000"/>
                          </a:solidFill>
                          <a:effectLst/>
                        </a:rPr>
                        <a:t>docment</a:t>
                      </a:r>
                      <a:r>
                        <a:rPr lang="en-GB" sz="1100" b="0" u="none" strike="noStrike" dirty="0">
                          <a:solidFill>
                            <a:srgbClr val="000000"/>
                          </a:solidFill>
                          <a:effectLst/>
                        </a:rPr>
                        <a:t> as per the configuration all older documents should be deleted form the firebase</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u="none" strike="noStrike">
                          <a:solidFill>
                            <a:srgbClr val="000000"/>
                          </a:solidFill>
                          <a:effectLst/>
                        </a:rPr>
                        <a:t>• Service Provider Enablement/Partnerships</a:t>
                      </a:r>
                      <a:br>
                        <a:rPr lang="en-GB" sz="1100" b="0" u="none" strike="noStrike">
                          <a:solidFill>
                            <a:srgbClr val="000000"/>
                          </a:solidFill>
                          <a:effectLst/>
                        </a:rPr>
                      </a:br>
                      <a:r>
                        <a:rPr lang="en-GB" sz="1100" b="0" u="none" strike="noStrike">
                          <a:solidFill>
                            <a:srgbClr val="000000"/>
                          </a:solidFill>
                          <a:effectLst/>
                        </a:rPr>
                        <a:t>• Product Management</a:t>
                      </a:r>
                      <a:br>
                        <a:rPr lang="en-GB" sz="1100" b="0" u="none" strike="noStrike">
                          <a:solidFill>
                            <a:srgbClr val="000000"/>
                          </a:solidFill>
                          <a:effectLst/>
                        </a:rPr>
                      </a:br>
                      <a:r>
                        <a:rPr lang="en-GB" sz="1100" b="0" u="none" strike="noStrike">
                          <a:solidFill>
                            <a:srgbClr val="000000"/>
                          </a:solidFill>
                          <a:effectLst/>
                        </a:rPr>
                        <a:t>• Backend Development</a:t>
                      </a:r>
                      <a:br>
                        <a:rPr lang="en-GB" sz="1100" b="0" u="none" strike="noStrike">
                          <a:solidFill>
                            <a:srgbClr val="000000"/>
                          </a:solidFill>
                          <a:effectLst/>
                        </a:rPr>
                      </a:br>
                      <a:r>
                        <a:rPr lang="en-GB" sz="1100" b="0" u="none" strike="noStrike">
                          <a:solidFill>
                            <a:srgbClr val="000000"/>
                          </a:solidFill>
                          <a:effectLst/>
                        </a:rPr>
                        <a:t>• Frontend/Mobile Development</a:t>
                      </a:r>
                      <a:br>
                        <a:rPr lang="en-GB" sz="1100" b="0" u="none" strike="noStrike">
                          <a:solidFill>
                            <a:srgbClr val="000000"/>
                          </a:solidFill>
                          <a:effectLst/>
                        </a:rPr>
                      </a:br>
                      <a:r>
                        <a:rPr lang="en-GB" sz="1100" b="0" u="none" strike="noStrike">
                          <a:solidFill>
                            <a:srgbClr val="000000"/>
                          </a:solidFill>
                          <a:effectLst/>
                        </a:rPr>
                        <a:t>• Quality Assurance</a:t>
                      </a:r>
                      <a:endParaRPr lang="en-GB" sz="1100" b="0" i="0" u="none" strike="noStrike">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r>
                        <a:rPr lang="en-GB" sz="1100" b="0" u="none" strike="noStrike" dirty="0">
                          <a:solidFill>
                            <a:srgbClr val="000000"/>
                          </a:solidFill>
                          <a:effectLst/>
                        </a:rPr>
                        <a:t>• Google cloud </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a:effectLst/>
                        </a:rPr>
                        <a:t>Timeline</a:t>
                      </a:r>
                    </a:p>
                  </a:txBody>
                  <a:tcPr marL="0" marR="0" marT="0" marB="0" anchor="ctr"/>
                </a:tc>
                <a:tc>
                  <a:txBody>
                    <a:bodyPr/>
                    <a:lstStyle/>
                    <a:p>
                      <a:pPr algn="l" fontAlgn="t">
                        <a:buNone/>
                      </a:pPr>
                      <a:r>
                        <a:rPr lang="en-GB" sz="1100" b="0" u="none" strike="noStrike" dirty="0">
                          <a:solidFill>
                            <a:srgbClr val="000000"/>
                          </a:solidFill>
                          <a:effectLst/>
                        </a:rPr>
                        <a:t>• Dates: 15 Jan 2026 – 15 mar 2026</a:t>
                      </a:r>
                      <a:br>
                        <a:rPr lang="en-GB" sz="1100" b="0" u="none" strike="noStrike" dirty="0">
                          <a:solidFill>
                            <a:srgbClr val="000000"/>
                          </a:solidFill>
                          <a:effectLst/>
                        </a:rPr>
                      </a:br>
                      <a:r>
                        <a:rPr lang="en-GB" sz="1100" b="0" u="none" strike="noStrike" dirty="0">
                          <a:solidFill>
                            <a:srgbClr val="000000"/>
                          </a:solidFill>
                          <a:effectLst/>
                        </a:rPr>
                        <a:t>• Sprints: </a:t>
                      </a:r>
                      <a:br>
                        <a:rPr lang="en-GB" sz="1100" b="0" u="none" strike="noStrike" dirty="0">
                          <a:solidFill>
                            <a:srgbClr val="000000"/>
                          </a:solidFill>
                          <a:effectLst/>
                        </a:rPr>
                      </a:br>
                      <a:r>
                        <a:rPr lang="en-GB" sz="1100" b="0" u="none" strike="noStrike" dirty="0">
                          <a:solidFill>
                            <a:srgbClr val="000000"/>
                          </a:solidFill>
                          <a:effectLst/>
                        </a:rPr>
                        <a:t>• Priority/Complexity: High/Low</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u="none" strike="noStrike" dirty="0">
                          <a:solidFill>
                            <a:srgbClr val="000000"/>
                          </a:solidFill>
                          <a:effectLst/>
                        </a:rPr>
                        <a:t>• UAE PASS users</a:t>
                      </a:r>
                      <a:br>
                        <a:rPr lang="en-GB" sz="1100" b="0" u="none" strike="noStrike" dirty="0">
                          <a:solidFill>
                            <a:srgbClr val="000000"/>
                          </a:solidFill>
                          <a:effectLst/>
                        </a:rPr>
                      </a:br>
                      <a:r>
                        <a:rPr lang="en-GB" sz="1100" b="0" u="none" strike="noStrike" dirty="0">
                          <a:solidFill>
                            <a:srgbClr val="000000"/>
                          </a:solidFill>
                          <a:effectLst/>
                        </a:rPr>
                        <a:t>• Service Providers (form owners)</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1838476285"/>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99871-360E-A322-5D98-B07BBFB8311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C44F02E-7B28-AECB-40E6-765487FE47D7}"/>
              </a:ext>
            </a:extLst>
          </p:cNvPr>
          <p:cNvSpPr>
            <a:spLocks noGrp="1"/>
          </p:cNvSpPr>
          <p:nvPr>
            <p:ph type="sldNum" sz="quarter" idx="12"/>
          </p:nvPr>
        </p:nvSpPr>
        <p:spPr/>
        <p:txBody>
          <a:bodyPr/>
          <a:lstStyle/>
          <a:p>
            <a:fld id="{5AF43EBE-F72E-4D7A-8073-2997FF61F997}" type="slidenum">
              <a:rPr lang="en-US" smtClean="0"/>
              <a:t>28</a:t>
            </a:fld>
            <a:endParaRPr lang="en-US"/>
          </a:p>
        </p:txBody>
      </p:sp>
      <p:sp>
        <p:nvSpPr>
          <p:cNvPr id="7" name="Rectangle 6">
            <a:extLst>
              <a:ext uri="{FF2B5EF4-FFF2-40B4-BE49-F238E27FC236}">
                <a16:creationId xmlns:a16="http://schemas.microsoft.com/office/drawing/2014/main" id="{1EF94599-D3F8-4F5B-1A3C-AFFE1E3386C6}"/>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a:solidFill>
                  <a:srgbClr val="7F6000"/>
                </a:solidFill>
                <a:ea typeface="+mn-lt"/>
                <a:cs typeface="+mn-lt"/>
              </a:rPr>
              <a:t>Service provides SDK</a:t>
            </a:r>
          </a:p>
        </p:txBody>
      </p:sp>
      <p:graphicFrame>
        <p:nvGraphicFramePr>
          <p:cNvPr id="12" name="Table 11">
            <a:extLst>
              <a:ext uri="{FF2B5EF4-FFF2-40B4-BE49-F238E27FC236}">
                <a16:creationId xmlns:a16="http://schemas.microsoft.com/office/drawing/2014/main" id="{29CDAE03-1F02-CD81-C5F7-1C31D7EAA404}"/>
              </a:ext>
            </a:extLst>
          </p:cNvPr>
          <p:cNvGraphicFramePr>
            <a:graphicFrameLocks noGrp="1"/>
          </p:cNvGraphicFramePr>
          <p:nvPr/>
        </p:nvGraphicFramePr>
        <p:xfrm>
          <a:off x="495084" y="1192509"/>
          <a:ext cx="10897006" cy="4864590"/>
        </p:xfrm>
        <a:graphic>
          <a:graphicData uri="http://schemas.openxmlformats.org/drawingml/2006/table">
            <a:tbl>
              <a:tblPr bandRow="1">
                <a:tableStyleId>{69CF1AB2-1976-4502-BF36-3FF5EA218861}</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884473">
                <a:tc>
                  <a:txBody>
                    <a:bodyPr/>
                    <a:lstStyle/>
                    <a:p>
                      <a:pPr>
                        <a:buNone/>
                      </a:pPr>
                      <a:r>
                        <a:rPr lang="en-US" sz="1200" dirty="0">
                          <a:effectLst/>
                        </a:rPr>
                        <a:t>Objectives</a:t>
                      </a:r>
                    </a:p>
                  </a:txBody>
                  <a:tcPr marL="0" marR="0" marT="0" marB="0" anchor="ctr"/>
                </a:tc>
                <a:tc>
                  <a:txBody>
                    <a:bodyPr/>
                    <a:lstStyle/>
                    <a:p>
                      <a:pPr algn="l" fontAlgn="t">
                        <a:buNone/>
                      </a:pPr>
                      <a:r>
                        <a:rPr lang="en-GB" sz="1100" b="0" u="none" strike="noStrike" dirty="0">
                          <a:solidFill>
                            <a:srgbClr val="000000"/>
                          </a:solidFill>
                          <a:effectLst/>
                        </a:rPr>
                        <a:t>• To create the software development (SDK) kit for the SPs, this will improve the implementation time for SPs.</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To create the software development kit for the service providers, it will be for Android and iOS app development. SDK will have all the API implementation which is required for D-Week. It will be easy to integrate where they just need to  change the configuration.</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u="none" strike="noStrike" dirty="0">
                          <a:solidFill>
                            <a:srgbClr val="000000"/>
                          </a:solidFill>
                          <a:effectLst/>
                        </a:rPr>
                        <a:t>• easy to integrate setup for app development</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u="none" strike="noStrike" dirty="0">
                          <a:solidFill>
                            <a:srgbClr val="000000"/>
                          </a:solidFill>
                          <a:effectLst/>
                        </a:rPr>
                        <a:t>• Service Provider Enablement/Partnerships</a:t>
                      </a:r>
                      <a:br>
                        <a:rPr lang="en-GB" sz="1100" b="0" u="none" strike="noStrike" dirty="0">
                          <a:solidFill>
                            <a:srgbClr val="000000"/>
                          </a:solidFill>
                          <a:effectLst/>
                        </a:rPr>
                      </a:br>
                      <a:r>
                        <a:rPr lang="en-GB" sz="1100" b="0" u="none" strike="noStrike" dirty="0">
                          <a:solidFill>
                            <a:srgbClr val="000000"/>
                          </a:solidFill>
                          <a:effectLst/>
                        </a:rPr>
                        <a:t>• Product Management</a:t>
                      </a:r>
                      <a:br>
                        <a:rPr lang="en-GB" sz="1100" b="0" u="none" strike="noStrike" dirty="0">
                          <a:solidFill>
                            <a:srgbClr val="000000"/>
                          </a:solidFill>
                          <a:effectLst/>
                        </a:rPr>
                      </a:br>
                      <a:r>
                        <a:rPr lang="en-GB" sz="1100" b="0" u="none" strike="noStrike" dirty="0">
                          <a:solidFill>
                            <a:srgbClr val="000000"/>
                          </a:solidFill>
                          <a:effectLst/>
                        </a:rPr>
                        <a:t>• Backend Development</a:t>
                      </a:r>
                      <a:br>
                        <a:rPr lang="en-GB" sz="1100" b="0" u="none" strike="noStrike" dirty="0">
                          <a:solidFill>
                            <a:srgbClr val="000000"/>
                          </a:solidFill>
                          <a:effectLst/>
                        </a:rPr>
                      </a:br>
                      <a:r>
                        <a:rPr lang="en-GB" sz="1100" b="0" u="none" strike="noStrike" dirty="0">
                          <a:solidFill>
                            <a:srgbClr val="000000"/>
                          </a:solidFill>
                          <a:effectLst/>
                        </a:rPr>
                        <a:t>• Frontend/Mobile Development</a:t>
                      </a:r>
                      <a:br>
                        <a:rPr lang="en-GB" sz="1100" b="0" u="none" strike="noStrike" dirty="0">
                          <a:solidFill>
                            <a:srgbClr val="000000"/>
                          </a:solidFill>
                          <a:effectLst/>
                        </a:rPr>
                      </a:br>
                      <a:r>
                        <a:rPr lang="en-GB" sz="1100" b="0" u="none" strike="noStrike" dirty="0">
                          <a:solidFill>
                            <a:srgbClr val="000000"/>
                          </a:solidFill>
                          <a:effectLst/>
                        </a:rPr>
                        <a:t>• Quality Assurance</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r>
                        <a:rPr lang="en-GB" sz="1100" b="0" u="none" strike="noStrike" dirty="0">
                          <a:solidFill>
                            <a:srgbClr val="000000"/>
                          </a:solidFill>
                          <a:effectLst/>
                        </a:rPr>
                        <a:t>• iOS and Android development process SPs are following </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a:effectLst/>
                        </a:rPr>
                        <a:t>Timeline</a:t>
                      </a:r>
                    </a:p>
                  </a:txBody>
                  <a:tcPr marL="0" marR="0" marT="0" marB="0" anchor="ctr"/>
                </a:tc>
                <a:tc>
                  <a:txBody>
                    <a:bodyPr/>
                    <a:lstStyle/>
                    <a:p>
                      <a:pPr algn="l" fontAlgn="t">
                        <a:buNone/>
                      </a:pPr>
                      <a:r>
                        <a:rPr lang="en-GB" sz="1100" b="0" u="none" strike="noStrike" dirty="0">
                          <a:solidFill>
                            <a:srgbClr val="000000"/>
                          </a:solidFill>
                          <a:effectLst/>
                        </a:rPr>
                        <a:t>• Dates: 1 Apr 2026 – 30 May 2026</a:t>
                      </a:r>
                      <a:br>
                        <a:rPr lang="en-GB" sz="1100" b="0" u="none" strike="noStrike" dirty="0">
                          <a:solidFill>
                            <a:srgbClr val="000000"/>
                          </a:solidFill>
                          <a:effectLst/>
                        </a:rPr>
                      </a:br>
                      <a:r>
                        <a:rPr lang="en-GB" sz="1100" b="0" u="none" strike="noStrike" dirty="0">
                          <a:solidFill>
                            <a:srgbClr val="000000"/>
                          </a:solidFill>
                          <a:effectLst/>
                        </a:rPr>
                        <a:t>• Sprints: </a:t>
                      </a:r>
                      <a:br>
                        <a:rPr lang="en-GB" sz="1100" b="0" u="none" strike="noStrike" dirty="0">
                          <a:solidFill>
                            <a:srgbClr val="000000"/>
                          </a:solidFill>
                          <a:effectLst/>
                        </a:rPr>
                      </a:br>
                      <a:r>
                        <a:rPr lang="en-GB" sz="1100" b="0" u="none" strike="noStrike" dirty="0">
                          <a:solidFill>
                            <a:srgbClr val="000000"/>
                          </a:solidFill>
                          <a:effectLst/>
                        </a:rPr>
                        <a:t>• Priority/Complexity: High/Low</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u="none" strike="noStrike" dirty="0">
                          <a:solidFill>
                            <a:srgbClr val="000000"/>
                          </a:solidFill>
                          <a:effectLst/>
                        </a:rPr>
                        <a:t>• UAE PASS users</a:t>
                      </a:r>
                      <a:br>
                        <a:rPr lang="en-GB" sz="1100" b="0" u="none" strike="noStrike" dirty="0">
                          <a:solidFill>
                            <a:srgbClr val="000000"/>
                          </a:solidFill>
                          <a:effectLst/>
                        </a:rPr>
                      </a:br>
                      <a:r>
                        <a:rPr lang="en-GB" sz="1100" b="0" u="none" strike="noStrike" dirty="0">
                          <a:solidFill>
                            <a:srgbClr val="000000"/>
                          </a:solidFill>
                          <a:effectLst/>
                        </a:rPr>
                        <a:t>• Service Providers (form owners)</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1344296781"/>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BB463-D946-0FFA-AD7B-A6DB96A8107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1F4B21-DED5-733B-5F19-FBBCCF204062}"/>
              </a:ext>
            </a:extLst>
          </p:cNvPr>
          <p:cNvSpPr>
            <a:spLocks noGrp="1"/>
          </p:cNvSpPr>
          <p:nvPr>
            <p:ph type="sldNum" sz="quarter" idx="12"/>
          </p:nvPr>
        </p:nvSpPr>
        <p:spPr/>
        <p:txBody>
          <a:bodyPr/>
          <a:lstStyle/>
          <a:p>
            <a:fld id="{5AF43EBE-F72E-4D7A-8073-2997FF61F997}" type="slidenum">
              <a:rPr lang="en-US" smtClean="0"/>
              <a:t>29</a:t>
            </a:fld>
            <a:endParaRPr lang="en-US"/>
          </a:p>
        </p:txBody>
      </p:sp>
      <p:sp>
        <p:nvSpPr>
          <p:cNvPr id="7" name="Rectangle 6">
            <a:extLst>
              <a:ext uri="{FF2B5EF4-FFF2-40B4-BE49-F238E27FC236}">
                <a16:creationId xmlns:a16="http://schemas.microsoft.com/office/drawing/2014/main" id="{84080D24-D6C0-DD97-B128-7D78B3EE9D0C}"/>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a:solidFill>
                  <a:srgbClr val="7F6000"/>
                </a:solidFill>
                <a:ea typeface="+mn-lt"/>
                <a:cs typeface="+mn-lt"/>
              </a:rPr>
              <a:t>DR Automation</a:t>
            </a:r>
          </a:p>
        </p:txBody>
      </p:sp>
      <p:graphicFrame>
        <p:nvGraphicFramePr>
          <p:cNvPr id="12" name="Table 11">
            <a:extLst>
              <a:ext uri="{FF2B5EF4-FFF2-40B4-BE49-F238E27FC236}">
                <a16:creationId xmlns:a16="http://schemas.microsoft.com/office/drawing/2014/main" id="{836B6033-3FC4-BB3E-E546-DE21B97EFE0A}"/>
              </a:ext>
            </a:extLst>
          </p:cNvPr>
          <p:cNvGraphicFramePr>
            <a:graphicFrameLocks noGrp="1"/>
          </p:cNvGraphicFramePr>
          <p:nvPr/>
        </p:nvGraphicFramePr>
        <p:xfrm>
          <a:off x="495084" y="1192509"/>
          <a:ext cx="10897006" cy="5114782"/>
        </p:xfrm>
        <a:graphic>
          <a:graphicData uri="http://schemas.openxmlformats.org/drawingml/2006/table">
            <a:tbl>
              <a:tblPr bandRow="1">
                <a:tableStyleId>{69CF1AB2-1976-4502-BF36-3FF5EA218861}</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884473">
                <a:tc>
                  <a:txBody>
                    <a:bodyPr/>
                    <a:lstStyle/>
                    <a:p>
                      <a:pPr>
                        <a:buNone/>
                      </a:pPr>
                      <a:r>
                        <a:rPr lang="en-US" sz="1200" dirty="0">
                          <a:effectLst/>
                        </a:rPr>
                        <a:t>Objectives</a:t>
                      </a:r>
                    </a:p>
                  </a:txBody>
                  <a:tcPr marL="0" marR="0" marT="0" marB="0" anchor="ctr"/>
                </a:tc>
                <a:tc>
                  <a:txBody>
                    <a:bodyPr/>
                    <a:lstStyle/>
                    <a:p>
                      <a:pPr algn="l" fontAlgn="t">
                        <a:buNone/>
                      </a:pPr>
                      <a:r>
                        <a:rPr lang="en-GB" sz="1100" b="0" u="none" strike="noStrike" dirty="0">
                          <a:solidFill>
                            <a:srgbClr val="000000"/>
                          </a:solidFill>
                          <a:effectLst/>
                        </a:rPr>
                        <a:t>• To prepare for the automated DR drill which would happen mid this Year</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algn="l" fontAlgn="t">
                        <a:buNone/>
                      </a:pPr>
                      <a:r>
                        <a:rPr lang="en-GB" sz="1100" b="0" u="none" strike="noStrike" dirty="0">
                          <a:solidFill>
                            <a:srgbClr val="000000"/>
                          </a:solidFill>
                          <a:effectLst/>
                        </a:rPr>
                        <a:t>• To create scripts for making apps live in one environment (DR) and stop in other (PROD)</a:t>
                      </a:r>
                    </a:p>
                    <a:p>
                      <a:pPr algn="l" fontAlgn="t">
                        <a:buNone/>
                      </a:pPr>
                      <a:r>
                        <a:rPr lang="en-GB" sz="1100" b="0" u="none" strike="noStrike" dirty="0">
                          <a:solidFill>
                            <a:srgbClr val="000000"/>
                          </a:solidFill>
                          <a:effectLst/>
                        </a:rPr>
                        <a:t>• Script to swich the primary DB</a:t>
                      </a:r>
                    </a:p>
                    <a:p>
                      <a:pPr algn="l" fontAlgn="t">
                        <a:buNone/>
                      </a:pPr>
                      <a:r>
                        <a:rPr lang="en-GB" sz="1100" b="0" u="none" strike="noStrike" dirty="0">
                          <a:solidFill>
                            <a:srgbClr val="000000"/>
                          </a:solidFill>
                          <a:effectLst/>
                        </a:rPr>
                        <a:t>• Script based traffic switching </a:t>
                      </a:r>
                      <a:endParaRPr lang="en-GB" sz="1100" b="0" i="0" u="none" strike="noStrike" dirty="0">
                        <a:solidFill>
                          <a:srgbClr val="000000"/>
                        </a:solidFill>
                        <a:effectLst/>
                        <a:latin typeface="Calibri" panose="020F0502020204030204" pitchFamily="34" charset="0"/>
                      </a:endParaRPr>
                    </a:p>
                    <a:p>
                      <a:pPr algn="l" fontAlgn="t">
                        <a:buNone/>
                      </a:pP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u="none" strike="noStrike" dirty="0">
                          <a:solidFill>
                            <a:srgbClr val="000000"/>
                          </a:solidFill>
                          <a:effectLst/>
                        </a:rPr>
                        <a:t>• to complete the DR under 20 min</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u="none" strike="noStrike">
                          <a:solidFill>
                            <a:srgbClr val="000000"/>
                          </a:solidFill>
                          <a:effectLst/>
                        </a:rPr>
                        <a:t>• Service Provider Enablement/Partnerships</a:t>
                      </a:r>
                      <a:br>
                        <a:rPr lang="en-GB" sz="1100" b="0" u="none" strike="noStrike">
                          <a:solidFill>
                            <a:srgbClr val="000000"/>
                          </a:solidFill>
                          <a:effectLst/>
                        </a:rPr>
                      </a:br>
                      <a:r>
                        <a:rPr lang="en-GB" sz="1100" b="0" u="none" strike="noStrike">
                          <a:solidFill>
                            <a:srgbClr val="000000"/>
                          </a:solidFill>
                          <a:effectLst/>
                        </a:rPr>
                        <a:t>• Product Management</a:t>
                      </a:r>
                      <a:br>
                        <a:rPr lang="en-GB" sz="1100" b="0" u="none" strike="noStrike">
                          <a:solidFill>
                            <a:srgbClr val="000000"/>
                          </a:solidFill>
                          <a:effectLst/>
                        </a:rPr>
                      </a:br>
                      <a:r>
                        <a:rPr lang="en-GB" sz="1100" b="0" u="none" strike="noStrike">
                          <a:solidFill>
                            <a:srgbClr val="000000"/>
                          </a:solidFill>
                          <a:effectLst/>
                        </a:rPr>
                        <a:t>• Backend Development</a:t>
                      </a:r>
                      <a:br>
                        <a:rPr lang="en-GB" sz="1100" b="0" u="none" strike="noStrike">
                          <a:solidFill>
                            <a:srgbClr val="000000"/>
                          </a:solidFill>
                          <a:effectLst/>
                        </a:rPr>
                      </a:br>
                      <a:r>
                        <a:rPr lang="en-GB" sz="1100" b="0" u="none" strike="noStrike">
                          <a:solidFill>
                            <a:srgbClr val="000000"/>
                          </a:solidFill>
                          <a:effectLst/>
                        </a:rPr>
                        <a:t>• Frontend/Mobile Development</a:t>
                      </a:r>
                      <a:br>
                        <a:rPr lang="en-GB" sz="1100" b="0" u="none" strike="noStrike">
                          <a:solidFill>
                            <a:srgbClr val="000000"/>
                          </a:solidFill>
                          <a:effectLst/>
                        </a:rPr>
                      </a:br>
                      <a:r>
                        <a:rPr lang="en-GB" sz="1100" b="0" u="none" strike="noStrike">
                          <a:solidFill>
                            <a:srgbClr val="000000"/>
                          </a:solidFill>
                          <a:effectLst/>
                        </a:rPr>
                        <a:t>• Quality Assurance</a:t>
                      </a:r>
                      <a:endParaRPr lang="en-GB" sz="1100" b="0" i="0" u="none" strike="noStrike">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r>
                        <a:rPr lang="en-GB" sz="1100" b="0" u="none" strike="noStrike" dirty="0">
                          <a:solidFill>
                            <a:srgbClr val="000000"/>
                          </a:solidFill>
                          <a:effectLst/>
                        </a:rPr>
                        <a:t>• </a:t>
                      </a:r>
                      <a:r>
                        <a:rPr lang="en-GB" sz="1100" b="0" u="none" strike="noStrike" dirty="0">
                          <a:solidFill>
                            <a:srgbClr val="FF0000"/>
                          </a:solidFill>
                          <a:effectLst/>
                        </a:rPr>
                        <a:t>FEDNET</a:t>
                      </a:r>
                      <a:endParaRPr lang="en-GB" sz="1100" b="0" i="0" u="none" strike="noStrike" dirty="0">
                        <a:solidFill>
                          <a:srgbClr val="FF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a:effectLst/>
                        </a:rPr>
                        <a:t>Timeline</a:t>
                      </a:r>
                    </a:p>
                  </a:txBody>
                  <a:tcPr marL="0" marR="0" marT="0" marB="0" anchor="ctr"/>
                </a:tc>
                <a:tc>
                  <a:txBody>
                    <a:bodyPr/>
                    <a:lstStyle/>
                    <a:p>
                      <a:pPr algn="l" fontAlgn="t">
                        <a:buNone/>
                      </a:pPr>
                      <a:r>
                        <a:rPr lang="en-GB" sz="1100" b="0" u="none" strike="noStrike" dirty="0">
                          <a:solidFill>
                            <a:srgbClr val="000000"/>
                          </a:solidFill>
                          <a:effectLst/>
                        </a:rPr>
                        <a:t>• Dates: 15 Mar 2026 – 30 June 2026</a:t>
                      </a:r>
                      <a:br>
                        <a:rPr lang="en-GB" sz="1100" b="0" u="none" strike="noStrike" dirty="0">
                          <a:solidFill>
                            <a:srgbClr val="000000"/>
                          </a:solidFill>
                          <a:effectLst/>
                        </a:rPr>
                      </a:br>
                      <a:r>
                        <a:rPr lang="en-GB" sz="1100" b="0" u="none" strike="noStrike" dirty="0">
                          <a:solidFill>
                            <a:srgbClr val="000000"/>
                          </a:solidFill>
                          <a:effectLst/>
                        </a:rPr>
                        <a:t>• Sprints: </a:t>
                      </a:r>
                      <a:br>
                        <a:rPr lang="en-GB" sz="1100" b="0" u="none" strike="noStrike" dirty="0">
                          <a:solidFill>
                            <a:srgbClr val="000000"/>
                          </a:solidFill>
                          <a:effectLst/>
                        </a:rPr>
                      </a:br>
                      <a:r>
                        <a:rPr lang="en-GB" sz="1100" b="0" u="none" strike="noStrike" dirty="0">
                          <a:solidFill>
                            <a:srgbClr val="000000"/>
                          </a:solidFill>
                          <a:effectLst/>
                        </a:rPr>
                        <a:t>• Priority/Complexity: High/Low</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u="none" strike="noStrike" dirty="0">
                          <a:solidFill>
                            <a:srgbClr val="000000"/>
                          </a:solidFill>
                          <a:effectLst/>
                        </a:rPr>
                        <a:t>• UAE PASS users</a:t>
                      </a:r>
                      <a:br>
                        <a:rPr lang="en-GB" sz="1100" b="0" u="none" strike="noStrike" dirty="0">
                          <a:solidFill>
                            <a:srgbClr val="000000"/>
                          </a:solidFill>
                          <a:effectLst/>
                        </a:rPr>
                      </a:br>
                      <a:r>
                        <a:rPr lang="en-GB" sz="1100" b="0" u="none" strike="noStrike" dirty="0">
                          <a:solidFill>
                            <a:srgbClr val="000000"/>
                          </a:solidFill>
                          <a:effectLst/>
                        </a:rPr>
                        <a:t>• Service Providers (form owners)</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3679970645"/>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78330-8A0D-4B90-6066-EFB5AC53646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C5353C-6EB4-01FA-6D28-A3A6616B7FBA}"/>
              </a:ext>
            </a:extLst>
          </p:cNvPr>
          <p:cNvSpPr>
            <a:spLocks noGrp="1"/>
          </p:cNvSpPr>
          <p:nvPr>
            <p:ph type="sldNum" sz="quarter" idx="12"/>
          </p:nvPr>
        </p:nvSpPr>
        <p:spPr/>
        <p:txBody>
          <a:bodyPr/>
          <a:lstStyle/>
          <a:p>
            <a:fld id="{5AF43EBE-F72E-4D7A-8073-2997FF61F997}" type="slidenum">
              <a:rPr lang="en-US" smtClean="0"/>
              <a:t>30</a:t>
            </a:fld>
            <a:endParaRPr lang="en-US"/>
          </a:p>
        </p:txBody>
      </p:sp>
      <p:sp>
        <p:nvSpPr>
          <p:cNvPr id="7" name="Rectangle 6">
            <a:extLst>
              <a:ext uri="{FF2B5EF4-FFF2-40B4-BE49-F238E27FC236}">
                <a16:creationId xmlns:a16="http://schemas.microsoft.com/office/drawing/2014/main" id="{065AB18E-EFD1-2887-5B03-BAF62318D30F}"/>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a:solidFill>
                  <a:srgbClr val="7F6000"/>
                </a:solidFill>
                <a:ea typeface="+mn-lt"/>
                <a:cs typeface="+mn-lt"/>
              </a:rPr>
              <a:t>SP Automation testing suite</a:t>
            </a:r>
          </a:p>
        </p:txBody>
      </p:sp>
      <p:graphicFrame>
        <p:nvGraphicFramePr>
          <p:cNvPr id="12" name="Table 11">
            <a:extLst>
              <a:ext uri="{FF2B5EF4-FFF2-40B4-BE49-F238E27FC236}">
                <a16:creationId xmlns:a16="http://schemas.microsoft.com/office/drawing/2014/main" id="{903E69E2-D5E0-C826-1C75-8A4294F01A73}"/>
              </a:ext>
            </a:extLst>
          </p:cNvPr>
          <p:cNvGraphicFramePr>
            <a:graphicFrameLocks noGrp="1"/>
          </p:cNvGraphicFramePr>
          <p:nvPr/>
        </p:nvGraphicFramePr>
        <p:xfrm>
          <a:off x="495084" y="1192509"/>
          <a:ext cx="10897006" cy="4947142"/>
        </p:xfrm>
        <a:graphic>
          <a:graphicData uri="http://schemas.openxmlformats.org/drawingml/2006/table">
            <a:tbl>
              <a:tblPr bandRow="1">
                <a:tableStyleId>{69CF1AB2-1976-4502-BF36-3FF5EA218861}</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884473">
                <a:tc>
                  <a:txBody>
                    <a:bodyPr/>
                    <a:lstStyle/>
                    <a:p>
                      <a:pPr>
                        <a:buNone/>
                      </a:pPr>
                      <a:r>
                        <a:rPr lang="en-US" sz="1200" dirty="0">
                          <a:effectLst/>
                        </a:rPr>
                        <a:t>Objectives</a:t>
                      </a:r>
                    </a:p>
                  </a:txBody>
                  <a:tcPr marL="0" marR="0" marT="0" marB="0" anchor="ctr"/>
                </a:tc>
                <a:tc>
                  <a:txBody>
                    <a:bodyPr/>
                    <a:lstStyle/>
                    <a:p>
                      <a:pPr algn="l" fontAlgn="t">
                        <a:buNone/>
                      </a:pPr>
                      <a:r>
                        <a:rPr lang="en-GB" sz="1100" b="0" u="none" strike="noStrike" dirty="0">
                          <a:solidFill>
                            <a:srgbClr val="000000"/>
                          </a:solidFill>
                          <a:effectLst/>
                        </a:rPr>
                        <a:t>• To create the automation testing suite for the SPs</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As like the SDK to make the development faster, so this testing suite will complement the development. After completion of the development, if we have a set of Set of testing activities will be automated for service providers. Those will give the result and it will speed up their testing with the digital wall backing. </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u="none" strike="noStrike">
                          <a:solidFill>
                            <a:srgbClr val="000000"/>
                          </a:solidFill>
                          <a:effectLst/>
                        </a:rPr>
                        <a:t>• Service Provider Enablement/Partnerships</a:t>
                      </a:r>
                      <a:br>
                        <a:rPr lang="en-GB" sz="1100" b="0" u="none" strike="noStrike">
                          <a:solidFill>
                            <a:srgbClr val="000000"/>
                          </a:solidFill>
                          <a:effectLst/>
                        </a:rPr>
                      </a:br>
                      <a:r>
                        <a:rPr lang="en-GB" sz="1100" b="0" u="none" strike="noStrike">
                          <a:solidFill>
                            <a:srgbClr val="000000"/>
                          </a:solidFill>
                          <a:effectLst/>
                        </a:rPr>
                        <a:t>• Product Management</a:t>
                      </a:r>
                      <a:br>
                        <a:rPr lang="en-GB" sz="1100" b="0" u="none" strike="noStrike">
                          <a:solidFill>
                            <a:srgbClr val="000000"/>
                          </a:solidFill>
                          <a:effectLst/>
                        </a:rPr>
                      </a:br>
                      <a:r>
                        <a:rPr lang="en-GB" sz="1100" b="0" u="none" strike="noStrike">
                          <a:solidFill>
                            <a:srgbClr val="000000"/>
                          </a:solidFill>
                          <a:effectLst/>
                        </a:rPr>
                        <a:t>• Backend Development</a:t>
                      </a:r>
                      <a:br>
                        <a:rPr lang="en-GB" sz="1100" b="0" u="none" strike="noStrike">
                          <a:solidFill>
                            <a:srgbClr val="000000"/>
                          </a:solidFill>
                          <a:effectLst/>
                        </a:rPr>
                      </a:br>
                      <a:r>
                        <a:rPr lang="en-GB" sz="1100" b="0" u="none" strike="noStrike">
                          <a:solidFill>
                            <a:srgbClr val="000000"/>
                          </a:solidFill>
                          <a:effectLst/>
                        </a:rPr>
                        <a:t>• Frontend/Mobile Development</a:t>
                      </a:r>
                      <a:br>
                        <a:rPr lang="en-GB" sz="1100" b="0" u="none" strike="noStrike">
                          <a:solidFill>
                            <a:srgbClr val="000000"/>
                          </a:solidFill>
                          <a:effectLst/>
                        </a:rPr>
                      </a:br>
                      <a:r>
                        <a:rPr lang="en-GB" sz="1100" b="0" u="none" strike="noStrike">
                          <a:solidFill>
                            <a:srgbClr val="000000"/>
                          </a:solidFill>
                          <a:effectLst/>
                        </a:rPr>
                        <a:t>• Quality Assurance</a:t>
                      </a:r>
                      <a:endParaRPr lang="en-GB" sz="1100" b="0" i="0" u="none" strike="noStrike">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a:effectLst/>
                        </a:rPr>
                        <a:t>Timeline</a:t>
                      </a:r>
                    </a:p>
                  </a:txBody>
                  <a:tcPr marL="0" marR="0" marT="0" marB="0" anchor="ctr"/>
                </a:tc>
                <a:tc>
                  <a:txBody>
                    <a:bodyPr/>
                    <a:lstStyle/>
                    <a:p>
                      <a:pPr algn="l" fontAlgn="t">
                        <a:buNone/>
                      </a:pPr>
                      <a:r>
                        <a:rPr lang="en-GB" sz="1100" b="0" u="none" strike="noStrike">
                          <a:solidFill>
                            <a:srgbClr val="000000"/>
                          </a:solidFill>
                          <a:effectLst/>
                        </a:rPr>
                        <a:t>• Dates: 26 Feb 2026 – 25 Mar 2026</a:t>
                      </a:r>
                      <a:br>
                        <a:rPr lang="en-GB" sz="1100" b="0" u="none" strike="noStrike">
                          <a:solidFill>
                            <a:srgbClr val="000000"/>
                          </a:solidFill>
                          <a:effectLst/>
                        </a:rPr>
                      </a:br>
                      <a:r>
                        <a:rPr lang="en-GB" sz="1100" b="0" u="none" strike="noStrike">
                          <a:solidFill>
                            <a:srgbClr val="000000"/>
                          </a:solidFill>
                          <a:effectLst/>
                        </a:rPr>
                        <a:t>• Sprints: 75–76</a:t>
                      </a:r>
                      <a:br>
                        <a:rPr lang="en-GB" sz="1100" b="0" u="none" strike="noStrike">
                          <a:solidFill>
                            <a:srgbClr val="000000"/>
                          </a:solidFill>
                          <a:effectLst/>
                        </a:rPr>
                      </a:br>
                      <a:r>
                        <a:rPr lang="en-GB" sz="1100" b="0" u="none" strike="noStrike">
                          <a:solidFill>
                            <a:srgbClr val="000000"/>
                          </a:solidFill>
                          <a:effectLst/>
                        </a:rPr>
                        <a:t>• Priority/Complexity: High/Low</a:t>
                      </a:r>
                      <a:endParaRPr lang="en-GB" sz="1100" b="0" i="0" u="none" strike="noStrike">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u="none" strike="noStrike" dirty="0">
                          <a:solidFill>
                            <a:srgbClr val="000000"/>
                          </a:solidFill>
                          <a:effectLst/>
                        </a:rPr>
                        <a:t>• UAE PASS users</a:t>
                      </a:r>
                      <a:br>
                        <a:rPr lang="en-GB" sz="1100" b="0" u="none" strike="noStrike" dirty="0">
                          <a:solidFill>
                            <a:srgbClr val="000000"/>
                          </a:solidFill>
                          <a:effectLst/>
                        </a:rPr>
                      </a:br>
                      <a:r>
                        <a:rPr lang="en-GB" sz="1100" b="0" u="none" strike="noStrike" dirty="0">
                          <a:solidFill>
                            <a:srgbClr val="000000"/>
                          </a:solidFill>
                          <a:effectLst/>
                        </a:rPr>
                        <a:t>• Service Providers (form owners)</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4034013134"/>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D8783-906D-DE04-41F0-7C41957D34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D87803A-0CA2-B67C-63C2-CA9A12999B37}"/>
              </a:ext>
            </a:extLst>
          </p:cNvPr>
          <p:cNvSpPr>
            <a:spLocks noGrp="1"/>
          </p:cNvSpPr>
          <p:nvPr>
            <p:ph type="sldNum" sz="quarter" idx="12"/>
          </p:nvPr>
        </p:nvSpPr>
        <p:spPr/>
        <p:txBody>
          <a:bodyPr/>
          <a:lstStyle/>
          <a:p>
            <a:fld id="{5AF43EBE-F72E-4D7A-8073-2997FF61F997}" type="slidenum">
              <a:rPr lang="en-US" smtClean="0"/>
              <a:t>31</a:t>
            </a:fld>
            <a:endParaRPr lang="en-US"/>
          </a:p>
        </p:txBody>
      </p:sp>
      <p:sp>
        <p:nvSpPr>
          <p:cNvPr id="7" name="Rectangle 6">
            <a:extLst>
              <a:ext uri="{FF2B5EF4-FFF2-40B4-BE49-F238E27FC236}">
                <a16:creationId xmlns:a16="http://schemas.microsoft.com/office/drawing/2014/main" id="{C3CF0D6C-F807-4527-1D02-6C80FE76C09D}"/>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a:solidFill>
                  <a:srgbClr val="7F6000"/>
                </a:solidFill>
                <a:ea typeface="+mn-lt"/>
                <a:cs typeface="+mn-lt"/>
              </a:rPr>
              <a:t>UAE Verify QR code scan vs Doc upload  </a:t>
            </a:r>
          </a:p>
        </p:txBody>
      </p:sp>
      <p:graphicFrame>
        <p:nvGraphicFramePr>
          <p:cNvPr id="12" name="Table 11">
            <a:extLst>
              <a:ext uri="{FF2B5EF4-FFF2-40B4-BE49-F238E27FC236}">
                <a16:creationId xmlns:a16="http://schemas.microsoft.com/office/drawing/2014/main" id="{C8E3C4D9-B9F5-3BA0-D828-2EF14F0FEA3E}"/>
              </a:ext>
            </a:extLst>
          </p:cNvPr>
          <p:cNvGraphicFramePr>
            <a:graphicFrameLocks noGrp="1"/>
          </p:cNvGraphicFramePr>
          <p:nvPr/>
        </p:nvGraphicFramePr>
        <p:xfrm>
          <a:off x="495084" y="1192509"/>
          <a:ext cx="10897006" cy="4864590"/>
        </p:xfrm>
        <a:graphic>
          <a:graphicData uri="http://schemas.openxmlformats.org/drawingml/2006/table">
            <a:tbl>
              <a:tblPr bandRow="1">
                <a:tableStyleId>{69CF1AB2-1976-4502-BF36-3FF5EA218861}</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884473">
                <a:tc>
                  <a:txBody>
                    <a:bodyPr/>
                    <a:lstStyle/>
                    <a:p>
                      <a:pPr>
                        <a:buNone/>
                      </a:pPr>
                      <a:r>
                        <a:rPr lang="en-US" sz="1200" dirty="0">
                          <a:effectLst/>
                        </a:rPr>
                        <a:t>Objectives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Fix License Name and Number not showing when customer scans QR code from UAE Verify portal.</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algn="l" fontAlgn="t">
                        <a:buNone/>
                      </a:pPr>
                      <a:r>
                        <a:rPr lang="en-GB" sz="1100" b="0" u="none" strike="noStrike" dirty="0">
                          <a:solidFill>
                            <a:srgbClr val="000000"/>
                          </a:solidFill>
                          <a:effectLst/>
                        </a:rPr>
                        <a:t>Fix License Name and Number not showing when customer scans QR code from UAE Verify portal.</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u="none" strike="noStrike">
                          <a:solidFill>
                            <a:srgbClr val="000000"/>
                          </a:solidFill>
                          <a:effectLst/>
                        </a:rPr>
                        <a:t>• Service Provider Enablement/Partnerships</a:t>
                      </a:r>
                      <a:br>
                        <a:rPr lang="en-GB" sz="1100" b="0" u="none" strike="noStrike">
                          <a:solidFill>
                            <a:srgbClr val="000000"/>
                          </a:solidFill>
                          <a:effectLst/>
                        </a:rPr>
                      </a:br>
                      <a:r>
                        <a:rPr lang="en-GB" sz="1100" b="0" u="none" strike="noStrike">
                          <a:solidFill>
                            <a:srgbClr val="000000"/>
                          </a:solidFill>
                          <a:effectLst/>
                        </a:rPr>
                        <a:t>• Product Management</a:t>
                      </a:r>
                      <a:br>
                        <a:rPr lang="en-GB" sz="1100" b="0" u="none" strike="noStrike">
                          <a:solidFill>
                            <a:srgbClr val="000000"/>
                          </a:solidFill>
                          <a:effectLst/>
                        </a:rPr>
                      </a:br>
                      <a:r>
                        <a:rPr lang="en-GB" sz="1100" b="0" u="none" strike="noStrike">
                          <a:solidFill>
                            <a:srgbClr val="000000"/>
                          </a:solidFill>
                          <a:effectLst/>
                        </a:rPr>
                        <a:t>• Backend Development</a:t>
                      </a:r>
                      <a:br>
                        <a:rPr lang="en-GB" sz="1100" b="0" u="none" strike="noStrike">
                          <a:solidFill>
                            <a:srgbClr val="000000"/>
                          </a:solidFill>
                          <a:effectLst/>
                        </a:rPr>
                      </a:br>
                      <a:r>
                        <a:rPr lang="en-GB" sz="1100" b="0" u="none" strike="noStrike">
                          <a:solidFill>
                            <a:srgbClr val="000000"/>
                          </a:solidFill>
                          <a:effectLst/>
                        </a:rPr>
                        <a:t>• Frontend/Mobile Development</a:t>
                      </a:r>
                      <a:br>
                        <a:rPr lang="en-GB" sz="1100" b="0" u="none" strike="noStrike">
                          <a:solidFill>
                            <a:srgbClr val="000000"/>
                          </a:solidFill>
                          <a:effectLst/>
                        </a:rPr>
                      </a:br>
                      <a:r>
                        <a:rPr lang="en-GB" sz="1100" b="0" u="none" strike="noStrike">
                          <a:solidFill>
                            <a:srgbClr val="000000"/>
                          </a:solidFill>
                          <a:effectLst/>
                        </a:rPr>
                        <a:t>• Quality Assurance</a:t>
                      </a:r>
                      <a:endParaRPr lang="en-GB" sz="1100" b="0" i="0" u="none" strike="noStrike">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a:effectLst/>
                        </a:rPr>
                        <a:t>Timeline</a:t>
                      </a:r>
                    </a:p>
                  </a:txBody>
                  <a:tcPr marL="0" marR="0" marT="0" marB="0" anchor="ctr"/>
                </a:tc>
                <a:tc>
                  <a:txBody>
                    <a:bodyPr/>
                    <a:lstStyle/>
                    <a:p>
                      <a:pPr algn="l" fontAlgn="t">
                        <a:buNone/>
                      </a:pPr>
                      <a:r>
                        <a:rPr lang="en-GB" sz="1100" b="0" u="none" strike="noStrike" dirty="0">
                          <a:solidFill>
                            <a:srgbClr val="000000"/>
                          </a:solidFill>
                          <a:effectLst/>
                        </a:rPr>
                        <a:t>• Dates: 15 July 2026 – 25 Sept 2026</a:t>
                      </a:r>
                      <a:br>
                        <a:rPr lang="en-GB" sz="1100" b="0" u="none" strike="noStrike" dirty="0">
                          <a:solidFill>
                            <a:srgbClr val="000000"/>
                          </a:solidFill>
                          <a:effectLst/>
                        </a:rPr>
                      </a:br>
                      <a:r>
                        <a:rPr lang="en-GB" sz="1100" b="0" u="none" strike="noStrike" dirty="0">
                          <a:solidFill>
                            <a:srgbClr val="000000"/>
                          </a:solidFill>
                          <a:effectLst/>
                        </a:rPr>
                        <a:t>• Sprints:</a:t>
                      </a:r>
                      <a:br>
                        <a:rPr lang="en-GB" sz="1100" b="0" u="none" strike="noStrike" dirty="0">
                          <a:solidFill>
                            <a:srgbClr val="000000"/>
                          </a:solidFill>
                          <a:effectLst/>
                        </a:rPr>
                      </a:br>
                      <a:r>
                        <a:rPr lang="en-GB" sz="1100" b="0" u="none" strike="noStrike" dirty="0">
                          <a:solidFill>
                            <a:srgbClr val="000000"/>
                          </a:solidFill>
                          <a:effectLst/>
                        </a:rPr>
                        <a:t>• Priority/Complexity: High/Low</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u="none" strike="noStrike" dirty="0">
                          <a:solidFill>
                            <a:srgbClr val="000000"/>
                          </a:solidFill>
                          <a:effectLst/>
                        </a:rPr>
                        <a:t>• UAE PASS users</a:t>
                      </a:r>
                      <a:br>
                        <a:rPr lang="en-GB" sz="1100" b="0" u="none" strike="noStrike" dirty="0">
                          <a:solidFill>
                            <a:srgbClr val="000000"/>
                          </a:solidFill>
                          <a:effectLst/>
                        </a:rPr>
                      </a:br>
                      <a:r>
                        <a:rPr lang="en-GB" sz="1100" b="0" u="none" strike="noStrike" dirty="0">
                          <a:solidFill>
                            <a:srgbClr val="000000"/>
                          </a:solidFill>
                          <a:effectLst/>
                        </a:rPr>
                        <a:t>• Service Providers (form owners)</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199184995"/>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6FA97-C77C-3E9C-F6A1-1E81C57D020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6AF0E2-A3EE-3679-3945-CC3BBAB892EF}"/>
              </a:ext>
            </a:extLst>
          </p:cNvPr>
          <p:cNvSpPr>
            <a:spLocks noGrp="1"/>
          </p:cNvSpPr>
          <p:nvPr>
            <p:ph type="sldNum" sz="quarter" idx="12"/>
          </p:nvPr>
        </p:nvSpPr>
        <p:spPr/>
        <p:txBody>
          <a:bodyPr/>
          <a:lstStyle/>
          <a:p>
            <a:fld id="{5AF43EBE-F72E-4D7A-8073-2997FF61F997}" type="slidenum">
              <a:rPr lang="en-US" smtClean="0"/>
              <a:t>32</a:t>
            </a:fld>
            <a:endParaRPr lang="en-US"/>
          </a:p>
        </p:txBody>
      </p:sp>
      <p:sp>
        <p:nvSpPr>
          <p:cNvPr id="7" name="Rectangle 6">
            <a:extLst>
              <a:ext uri="{FF2B5EF4-FFF2-40B4-BE49-F238E27FC236}">
                <a16:creationId xmlns:a16="http://schemas.microsoft.com/office/drawing/2014/main" id="{ABC52D10-79C1-D271-B03C-C96ACB12A431}"/>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a:solidFill>
                  <a:srgbClr val="7F6000"/>
                </a:solidFill>
                <a:ea typeface="+mn-lt"/>
                <a:cs typeface="+mn-lt"/>
              </a:rPr>
              <a:t>Blockchain Upgrade</a:t>
            </a:r>
          </a:p>
        </p:txBody>
      </p:sp>
      <p:graphicFrame>
        <p:nvGraphicFramePr>
          <p:cNvPr id="12" name="Table 11">
            <a:extLst>
              <a:ext uri="{FF2B5EF4-FFF2-40B4-BE49-F238E27FC236}">
                <a16:creationId xmlns:a16="http://schemas.microsoft.com/office/drawing/2014/main" id="{7C6DBD9D-1C73-A886-EC25-8E7299714912}"/>
              </a:ext>
            </a:extLst>
          </p:cNvPr>
          <p:cNvGraphicFramePr>
            <a:graphicFrameLocks noGrp="1"/>
          </p:cNvGraphicFramePr>
          <p:nvPr/>
        </p:nvGraphicFramePr>
        <p:xfrm>
          <a:off x="495084" y="1192509"/>
          <a:ext cx="10897006" cy="4864590"/>
        </p:xfrm>
        <a:graphic>
          <a:graphicData uri="http://schemas.openxmlformats.org/drawingml/2006/table">
            <a:tbl>
              <a:tblPr bandRow="1">
                <a:tableStyleId>{69CF1AB2-1976-4502-BF36-3FF5EA218861}</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884473">
                <a:tc>
                  <a:txBody>
                    <a:bodyPr/>
                    <a:lstStyle/>
                    <a:p>
                      <a:pPr>
                        <a:buNone/>
                      </a:pPr>
                      <a:r>
                        <a:rPr lang="en-US" sz="1200" dirty="0">
                          <a:effectLst/>
                        </a:rPr>
                        <a:t>Objectives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To upgrade the digital vault blockchain </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marL="0" marR="0" lvl="0" indent="0" algn="l">
                        <a:lnSpc>
                          <a:spcPct val="100000"/>
                        </a:lnSpc>
                        <a:spcBef>
                          <a:spcPts val="0"/>
                        </a:spcBef>
                        <a:spcAft>
                          <a:spcPts val="0"/>
                        </a:spcAft>
                        <a:buNone/>
                      </a:pPr>
                      <a:r>
                        <a:rPr lang="en-US" sz="1100" dirty="0"/>
                        <a:t>The Blockchain Upgrade project aims to enhance the current blockchain infrastructure by selecting the most suitable blockchain technology, validating feasibility, and ensuring future scalability. The project will be executed in three phases:</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Fully functional DV app with new blockchain </a:t>
                      </a: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u="none" strike="noStrike">
                          <a:solidFill>
                            <a:srgbClr val="000000"/>
                          </a:solidFill>
                          <a:effectLst/>
                        </a:rPr>
                        <a:t>• Service Provider Enablement/Partnerships</a:t>
                      </a:r>
                      <a:br>
                        <a:rPr lang="en-GB" sz="1100" b="0" u="none" strike="noStrike">
                          <a:solidFill>
                            <a:srgbClr val="000000"/>
                          </a:solidFill>
                          <a:effectLst/>
                        </a:rPr>
                      </a:br>
                      <a:r>
                        <a:rPr lang="en-GB" sz="1100" b="0" u="none" strike="noStrike">
                          <a:solidFill>
                            <a:srgbClr val="000000"/>
                          </a:solidFill>
                          <a:effectLst/>
                        </a:rPr>
                        <a:t>• Product Management</a:t>
                      </a:r>
                      <a:br>
                        <a:rPr lang="en-GB" sz="1100" b="0" u="none" strike="noStrike">
                          <a:solidFill>
                            <a:srgbClr val="000000"/>
                          </a:solidFill>
                          <a:effectLst/>
                        </a:rPr>
                      </a:br>
                      <a:r>
                        <a:rPr lang="en-GB" sz="1100" b="0" u="none" strike="noStrike">
                          <a:solidFill>
                            <a:srgbClr val="000000"/>
                          </a:solidFill>
                          <a:effectLst/>
                        </a:rPr>
                        <a:t>• Backend Development</a:t>
                      </a:r>
                      <a:br>
                        <a:rPr lang="en-GB" sz="1100" b="0" u="none" strike="noStrike">
                          <a:solidFill>
                            <a:srgbClr val="000000"/>
                          </a:solidFill>
                          <a:effectLst/>
                        </a:rPr>
                      </a:br>
                      <a:r>
                        <a:rPr lang="en-GB" sz="1100" b="0" u="none" strike="noStrike">
                          <a:solidFill>
                            <a:srgbClr val="000000"/>
                          </a:solidFill>
                          <a:effectLst/>
                        </a:rPr>
                        <a:t>• Frontend/Mobile Development</a:t>
                      </a:r>
                      <a:br>
                        <a:rPr lang="en-GB" sz="1100" b="0" u="none" strike="noStrike">
                          <a:solidFill>
                            <a:srgbClr val="000000"/>
                          </a:solidFill>
                          <a:effectLst/>
                        </a:rPr>
                      </a:br>
                      <a:r>
                        <a:rPr lang="en-GB" sz="1100" b="0" u="none" strike="noStrike">
                          <a:solidFill>
                            <a:srgbClr val="000000"/>
                          </a:solidFill>
                          <a:effectLst/>
                        </a:rPr>
                        <a:t>• Quality Assurance</a:t>
                      </a:r>
                      <a:endParaRPr lang="en-GB" sz="1100" b="0" i="0" u="none" strike="noStrike">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a:effectLst/>
                        </a:rPr>
                        <a:t>Timeline</a:t>
                      </a:r>
                    </a:p>
                  </a:txBody>
                  <a:tcPr marL="0" marR="0" marT="0" marB="0" anchor="ctr"/>
                </a:tc>
                <a:tc>
                  <a:txBody>
                    <a:bodyPr/>
                    <a:lstStyle/>
                    <a:p>
                      <a:pPr algn="l" fontAlgn="t">
                        <a:buNone/>
                      </a:pPr>
                      <a:r>
                        <a:rPr lang="en-GB" sz="1100" b="0" u="none" strike="noStrike" dirty="0">
                          <a:solidFill>
                            <a:srgbClr val="000000"/>
                          </a:solidFill>
                          <a:effectLst/>
                        </a:rPr>
                        <a:t>• Dates: 1 Aug 2026 – 30 Jan 2027</a:t>
                      </a:r>
                      <a:br>
                        <a:rPr lang="en-GB" sz="1100" b="0" u="none" strike="noStrike" dirty="0">
                          <a:solidFill>
                            <a:srgbClr val="000000"/>
                          </a:solidFill>
                          <a:effectLst/>
                        </a:rPr>
                      </a:br>
                      <a:r>
                        <a:rPr lang="en-GB" sz="1100" b="0" u="none" strike="noStrike" dirty="0">
                          <a:solidFill>
                            <a:srgbClr val="000000"/>
                          </a:solidFill>
                          <a:effectLst/>
                        </a:rPr>
                        <a:t>• Sprints:</a:t>
                      </a:r>
                      <a:br>
                        <a:rPr lang="en-GB" sz="1100" b="0" u="none" strike="noStrike" dirty="0">
                          <a:solidFill>
                            <a:srgbClr val="000000"/>
                          </a:solidFill>
                          <a:effectLst/>
                        </a:rPr>
                      </a:br>
                      <a:r>
                        <a:rPr lang="en-GB" sz="1100" b="0" u="none" strike="noStrike" dirty="0">
                          <a:solidFill>
                            <a:srgbClr val="000000"/>
                          </a:solidFill>
                          <a:effectLst/>
                        </a:rPr>
                        <a:t>• Priority/Complexity: High/Low</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u="none" strike="noStrike" dirty="0">
                          <a:solidFill>
                            <a:srgbClr val="000000"/>
                          </a:solidFill>
                          <a:effectLst/>
                        </a:rPr>
                        <a:t>• UAE PASS users</a:t>
                      </a:r>
                      <a:br>
                        <a:rPr lang="en-GB" sz="1100" b="0" u="none" strike="noStrike" dirty="0">
                          <a:solidFill>
                            <a:srgbClr val="000000"/>
                          </a:solidFill>
                          <a:effectLst/>
                        </a:rPr>
                      </a:br>
                      <a:r>
                        <a:rPr lang="en-GB" sz="1100" b="0" u="none" strike="noStrike" dirty="0">
                          <a:solidFill>
                            <a:srgbClr val="000000"/>
                          </a:solidFill>
                          <a:effectLst/>
                        </a:rPr>
                        <a:t>• Service Providers (form owners)</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343861565"/>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2F8C4-CF43-6D2B-DA55-DDB6BD953BD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E0DCB06-CC3B-5097-44FD-43FD90097818}"/>
              </a:ext>
            </a:extLst>
          </p:cNvPr>
          <p:cNvSpPr>
            <a:spLocks noGrp="1"/>
          </p:cNvSpPr>
          <p:nvPr>
            <p:ph type="sldNum" sz="quarter" idx="12"/>
          </p:nvPr>
        </p:nvSpPr>
        <p:spPr/>
        <p:txBody>
          <a:bodyPr/>
          <a:lstStyle/>
          <a:p>
            <a:fld id="{5AF43EBE-F72E-4D7A-8073-2997FF61F997}" type="slidenum">
              <a:rPr lang="en-US" smtClean="0"/>
              <a:t>33</a:t>
            </a:fld>
            <a:endParaRPr lang="en-US"/>
          </a:p>
        </p:txBody>
      </p:sp>
      <p:sp>
        <p:nvSpPr>
          <p:cNvPr id="7" name="Rectangle 6">
            <a:extLst>
              <a:ext uri="{FF2B5EF4-FFF2-40B4-BE49-F238E27FC236}">
                <a16:creationId xmlns:a16="http://schemas.microsoft.com/office/drawing/2014/main" id="{52A40E0C-4C85-6707-2D65-7460DC2B4A42}"/>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a:solidFill>
                  <a:srgbClr val="7F6000"/>
                </a:solidFill>
                <a:ea typeface="+mn-lt"/>
                <a:cs typeface="+mn-lt"/>
              </a:rPr>
              <a:t>CI/CD Pipeline automation </a:t>
            </a:r>
          </a:p>
        </p:txBody>
      </p:sp>
      <p:graphicFrame>
        <p:nvGraphicFramePr>
          <p:cNvPr id="12" name="Table 11">
            <a:extLst>
              <a:ext uri="{FF2B5EF4-FFF2-40B4-BE49-F238E27FC236}">
                <a16:creationId xmlns:a16="http://schemas.microsoft.com/office/drawing/2014/main" id="{EEF9E7A7-E690-4987-15AE-5D9CAAAC4EA4}"/>
              </a:ext>
            </a:extLst>
          </p:cNvPr>
          <p:cNvGraphicFramePr>
            <a:graphicFrameLocks noGrp="1"/>
          </p:cNvGraphicFramePr>
          <p:nvPr/>
        </p:nvGraphicFramePr>
        <p:xfrm>
          <a:off x="495084" y="1192509"/>
          <a:ext cx="10897006" cy="4864590"/>
        </p:xfrm>
        <a:graphic>
          <a:graphicData uri="http://schemas.openxmlformats.org/drawingml/2006/table">
            <a:tbl>
              <a:tblPr bandRow="1">
                <a:tableStyleId>{69CF1AB2-1976-4502-BF36-3FF5EA218861}</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884473">
                <a:tc>
                  <a:txBody>
                    <a:bodyPr/>
                    <a:lstStyle/>
                    <a:p>
                      <a:pPr>
                        <a:buNone/>
                      </a:pPr>
                      <a:r>
                        <a:rPr lang="en-US" sz="1200" dirty="0">
                          <a:effectLst/>
                        </a:rPr>
                        <a:t>Objectives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To automate the deployment in respective environment </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marL="0" marR="0" lvl="0" indent="0" algn="l">
                        <a:lnSpc>
                          <a:spcPct val="100000"/>
                        </a:lnSpc>
                        <a:spcBef>
                          <a:spcPts val="0"/>
                        </a:spcBef>
                        <a:spcAft>
                          <a:spcPts val="0"/>
                        </a:spcAft>
                        <a:buNone/>
                      </a:pPr>
                      <a:r>
                        <a:rPr lang="en-US" sz="1100" dirty="0"/>
                        <a:t>We implement the branching strategy, and based on the branching strategy, the respective code should be deployed in the respective environment. For example, if we have a dev branch, and if the code is committed to that particular branch, the service deployment shall happen in dev env.</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u="none" strike="noStrike">
                          <a:solidFill>
                            <a:srgbClr val="000000"/>
                          </a:solidFill>
                          <a:effectLst/>
                        </a:rPr>
                        <a:t>• Service Provider Enablement/Partnerships</a:t>
                      </a:r>
                      <a:br>
                        <a:rPr lang="en-GB" sz="1100" b="0" u="none" strike="noStrike">
                          <a:solidFill>
                            <a:srgbClr val="000000"/>
                          </a:solidFill>
                          <a:effectLst/>
                        </a:rPr>
                      </a:br>
                      <a:r>
                        <a:rPr lang="en-GB" sz="1100" b="0" u="none" strike="noStrike">
                          <a:solidFill>
                            <a:srgbClr val="000000"/>
                          </a:solidFill>
                          <a:effectLst/>
                        </a:rPr>
                        <a:t>• Product Management</a:t>
                      </a:r>
                      <a:br>
                        <a:rPr lang="en-GB" sz="1100" b="0" u="none" strike="noStrike">
                          <a:solidFill>
                            <a:srgbClr val="000000"/>
                          </a:solidFill>
                          <a:effectLst/>
                        </a:rPr>
                      </a:br>
                      <a:r>
                        <a:rPr lang="en-GB" sz="1100" b="0" u="none" strike="noStrike">
                          <a:solidFill>
                            <a:srgbClr val="000000"/>
                          </a:solidFill>
                          <a:effectLst/>
                        </a:rPr>
                        <a:t>• Backend Development</a:t>
                      </a:r>
                      <a:br>
                        <a:rPr lang="en-GB" sz="1100" b="0" u="none" strike="noStrike">
                          <a:solidFill>
                            <a:srgbClr val="000000"/>
                          </a:solidFill>
                          <a:effectLst/>
                        </a:rPr>
                      </a:br>
                      <a:r>
                        <a:rPr lang="en-GB" sz="1100" b="0" u="none" strike="noStrike">
                          <a:solidFill>
                            <a:srgbClr val="000000"/>
                          </a:solidFill>
                          <a:effectLst/>
                        </a:rPr>
                        <a:t>• Frontend/Mobile Development</a:t>
                      </a:r>
                      <a:br>
                        <a:rPr lang="en-GB" sz="1100" b="0" u="none" strike="noStrike">
                          <a:solidFill>
                            <a:srgbClr val="000000"/>
                          </a:solidFill>
                          <a:effectLst/>
                        </a:rPr>
                      </a:br>
                      <a:r>
                        <a:rPr lang="en-GB" sz="1100" b="0" u="none" strike="noStrike">
                          <a:solidFill>
                            <a:srgbClr val="000000"/>
                          </a:solidFill>
                          <a:effectLst/>
                        </a:rPr>
                        <a:t>• Quality Assurance</a:t>
                      </a:r>
                      <a:endParaRPr lang="en-GB" sz="1100" b="0" i="0" u="none" strike="noStrike">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a:effectLst/>
                        </a:rPr>
                        <a:t>Timeline</a:t>
                      </a:r>
                    </a:p>
                  </a:txBody>
                  <a:tcPr marL="0" marR="0" marT="0" marB="0" anchor="ctr"/>
                </a:tc>
                <a:tc>
                  <a:txBody>
                    <a:bodyPr/>
                    <a:lstStyle/>
                    <a:p>
                      <a:pPr algn="l" fontAlgn="t">
                        <a:buNone/>
                      </a:pPr>
                      <a:r>
                        <a:rPr lang="en-GB" sz="1100" b="0" u="none" strike="noStrike" dirty="0">
                          <a:solidFill>
                            <a:srgbClr val="000000"/>
                          </a:solidFill>
                          <a:effectLst/>
                        </a:rPr>
                        <a:t>• Dates: 1 Oct 2026 – 30 Nov 2026</a:t>
                      </a:r>
                      <a:br>
                        <a:rPr lang="en-GB" sz="1100" b="0" u="none" strike="noStrike" dirty="0">
                          <a:solidFill>
                            <a:srgbClr val="000000"/>
                          </a:solidFill>
                          <a:effectLst/>
                        </a:rPr>
                      </a:br>
                      <a:r>
                        <a:rPr lang="en-GB" sz="1100" b="0" u="none" strike="noStrike" dirty="0">
                          <a:solidFill>
                            <a:srgbClr val="000000"/>
                          </a:solidFill>
                          <a:effectLst/>
                        </a:rPr>
                        <a:t>• Sprints:</a:t>
                      </a:r>
                      <a:br>
                        <a:rPr lang="en-GB" sz="1100" b="0" u="none" strike="noStrike" dirty="0">
                          <a:solidFill>
                            <a:srgbClr val="000000"/>
                          </a:solidFill>
                          <a:effectLst/>
                        </a:rPr>
                      </a:br>
                      <a:r>
                        <a:rPr lang="en-GB" sz="1100" b="0" u="none" strike="noStrike" dirty="0">
                          <a:solidFill>
                            <a:srgbClr val="000000"/>
                          </a:solidFill>
                          <a:effectLst/>
                        </a:rPr>
                        <a:t>• Priority/Complexity: High/Low</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u="none" strike="noStrike" dirty="0">
                          <a:solidFill>
                            <a:srgbClr val="000000"/>
                          </a:solidFill>
                          <a:effectLst/>
                        </a:rPr>
                        <a:t>• UAE PASS users</a:t>
                      </a:r>
                      <a:br>
                        <a:rPr lang="en-GB" sz="1100" b="0" u="none" strike="noStrike" dirty="0">
                          <a:solidFill>
                            <a:srgbClr val="000000"/>
                          </a:solidFill>
                          <a:effectLst/>
                        </a:rPr>
                      </a:br>
                      <a:r>
                        <a:rPr lang="en-GB" sz="1100" b="0" u="none" strike="noStrike" dirty="0">
                          <a:solidFill>
                            <a:srgbClr val="000000"/>
                          </a:solidFill>
                          <a:effectLst/>
                        </a:rPr>
                        <a:t>• Service Providers (form owners)</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33825225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D4F08-4094-E7EE-4240-5BF23C693BE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8385CF-7D81-994E-11BB-CA78EDE8EC3B}"/>
              </a:ext>
            </a:extLst>
          </p:cNvPr>
          <p:cNvSpPr>
            <a:spLocks noGrp="1"/>
          </p:cNvSpPr>
          <p:nvPr>
            <p:ph type="sldNum" sz="quarter" idx="12"/>
          </p:nvPr>
        </p:nvSpPr>
        <p:spPr/>
        <p:txBody>
          <a:bodyPr/>
          <a:lstStyle/>
          <a:p>
            <a:fld id="{5AF43EBE-F72E-4D7A-8073-2997FF61F997}" type="slidenum">
              <a:rPr lang="en-US" smtClean="0"/>
              <a:t>34</a:t>
            </a:fld>
            <a:endParaRPr lang="en-US"/>
          </a:p>
        </p:txBody>
      </p:sp>
      <p:sp>
        <p:nvSpPr>
          <p:cNvPr id="7" name="Rectangle 6">
            <a:extLst>
              <a:ext uri="{FF2B5EF4-FFF2-40B4-BE49-F238E27FC236}">
                <a16:creationId xmlns:a16="http://schemas.microsoft.com/office/drawing/2014/main" id="{2703C8D3-D127-0ED6-567C-98D742DE773E}"/>
              </a:ext>
            </a:extLst>
          </p:cNvPr>
          <p:cNvSpPr/>
          <p:nvPr/>
        </p:nvSpPr>
        <p:spPr>
          <a:xfrm>
            <a:off x="3415006" y="79353"/>
            <a:ext cx="7938794" cy="766252"/>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indent="0" defTabSz="914400">
              <a:spcBef>
                <a:spcPct val="0"/>
              </a:spcBef>
              <a:spcAft>
                <a:spcPct val="0"/>
              </a:spcAft>
              <a:buNone/>
              <a:defRPr/>
            </a:pPr>
            <a:r>
              <a:rPr lang="en-US" sz="1800" b="1" dirty="0">
                <a:solidFill>
                  <a:srgbClr val="7F6000"/>
                </a:solidFill>
                <a:ea typeface="+mn-lt"/>
                <a:cs typeface="+mn-lt"/>
              </a:rPr>
              <a:t>Operation Automation</a:t>
            </a:r>
          </a:p>
        </p:txBody>
      </p:sp>
      <p:graphicFrame>
        <p:nvGraphicFramePr>
          <p:cNvPr id="12" name="Table 11">
            <a:extLst>
              <a:ext uri="{FF2B5EF4-FFF2-40B4-BE49-F238E27FC236}">
                <a16:creationId xmlns:a16="http://schemas.microsoft.com/office/drawing/2014/main" id="{C9045592-B9F3-F251-F009-86D114038D76}"/>
              </a:ext>
            </a:extLst>
          </p:cNvPr>
          <p:cNvGraphicFramePr>
            <a:graphicFrameLocks noGrp="1"/>
          </p:cNvGraphicFramePr>
          <p:nvPr/>
        </p:nvGraphicFramePr>
        <p:xfrm>
          <a:off x="495084" y="1192509"/>
          <a:ext cx="10897006" cy="4864590"/>
        </p:xfrm>
        <a:graphic>
          <a:graphicData uri="http://schemas.openxmlformats.org/drawingml/2006/table">
            <a:tbl>
              <a:tblPr bandRow="1">
                <a:tableStyleId>{69CF1AB2-1976-4502-BF36-3FF5EA218861}</a:tableStyleId>
              </a:tblPr>
              <a:tblGrid>
                <a:gridCol w="2356549">
                  <a:extLst>
                    <a:ext uri="{9D8B030D-6E8A-4147-A177-3AD203B41FA5}">
                      <a16:colId xmlns:a16="http://schemas.microsoft.com/office/drawing/2014/main" val="191039022"/>
                    </a:ext>
                  </a:extLst>
                </a:gridCol>
                <a:gridCol w="8540457">
                  <a:extLst>
                    <a:ext uri="{9D8B030D-6E8A-4147-A177-3AD203B41FA5}">
                      <a16:colId xmlns:a16="http://schemas.microsoft.com/office/drawing/2014/main" val="1362740794"/>
                    </a:ext>
                  </a:extLst>
                </a:gridCol>
              </a:tblGrid>
              <a:tr h="884473">
                <a:tc>
                  <a:txBody>
                    <a:bodyPr/>
                    <a:lstStyle/>
                    <a:p>
                      <a:pPr>
                        <a:buNone/>
                      </a:pPr>
                      <a:r>
                        <a:rPr lang="en-US" sz="1200" dirty="0">
                          <a:effectLst/>
                        </a:rPr>
                        <a:t>Objectives</a:t>
                      </a:r>
                    </a:p>
                  </a:txBody>
                  <a:tcPr marL="0" marR="0" marT="0" marB="0" anchor="ctr"/>
                </a:tc>
                <a:tc>
                  <a:txBody>
                    <a:bodyPr/>
                    <a:lstStyle/>
                    <a:p>
                      <a:pPr algn="l" fontAlgn="t">
                        <a:buNone/>
                      </a:pPr>
                      <a:r>
                        <a:rPr lang="en-GB" sz="1100" b="0" i="0" u="none" strike="noStrike" dirty="0">
                          <a:solidFill>
                            <a:srgbClr val="000000"/>
                          </a:solidFill>
                          <a:effectLst/>
                          <a:latin typeface="Calibri" panose="020F0502020204030204" pitchFamily="34" charset="0"/>
                        </a:rPr>
                        <a:t>Automate the operation tasks</a:t>
                      </a:r>
                    </a:p>
                  </a:txBody>
                  <a:tcPr marL="6350" marR="6350" marT="6350" marB="0"/>
                </a:tc>
                <a:extLst>
                  <a:ext uri="{0D108BD9-81ED-4DB2-BD59-A6C34878D82A}">
                    <a16:rowId xmlns:a16="http://schemas.microsoft.com/office/drawing/2014/main" val="3612494132"/>
                  </a:ext>
                </a:extLst>
              </a:tr>
              <a:tr h="426718">
                <a:tc>
                  <a:txBody>
                    <a:bodyPr/>
                    <a:lstStyle/>
                    <a:p>
                      <a:pPr>
                        <a:buNone/>
                      </a:pPr>
                      <a:r>
                        <a:rPr lang="en-US" sz="1200">
                          <a:effectLst/>
                        </a:rPr>
                        <a:t>Description</a:t>
                      </a:r>
                    </a:p>
                  </a:txBody>
                  <a:tcPr marL="0" marR="0" marT="0" marB="0" anchor="ctr"/>
                </a:tc>
                <a:tc>
                  <a:txBody>
                    <a:bodyPr/>
                    <a:lstStyle/>
                    <a:p>
                      <a:pPr marL="171450" marR="0" lvl="0" indent="-171450" algn="l">
                        <a:lnSpc>
                          <a:spcPct val="100000"/>
                        </a:lnSpc>
                        <a:spcBef>
                          <a:spcPts val="0"/>
                        </a:spcBef>
                        <a:spcAft>
                          <a:spcPts val="0"/>
                        </a:spcAft>
                        <a:buFontTx/>
                        <a:buChar char="-"/>
                      </a:pPr>
                      <a:r>
                        <a:rPr lang="en-US" sz="1100" dirty="0"/>
                        <a:t>To Automate the Incident report generation </a:t>
                      </a:r>
                    </a:p>
                  </a:txBody>
                  <a:tcPr marL="6350" marR="6350" marT="6350" marB="0"/>
                </a:tc>
                <a:extLst>
                  <a:ext uri="{0D108BD9-81ED-4DB2-BD59-A6C34878D82A}">
                    <a16:rowId xmlns:a16="http://schemas.microsoft.com/office/drawing/2014/main" val="2150276456"/>
                  </a:ext>
                </a:extLst>
              </a:tr>
              <a:tr h="1070674">
                <a:tc>
                  <a:txBody>
                    <a:bodyPr/>
                    <a:lstStyle/>
                    <a:p>
                      <a:pPr>
                        <a:buNone/>
                      </a:pPr>
                      <a:r>
                        <a:rPr lang="en-US" sz="1200">
                          <a:effectLst/>
                        </a:rPr>
                        <a:t>Acceptance Criteria</a:t>
                      </a:r>
                    </a:p>
                  </a:txBody>
                  <a:tcPr marL="0" marR="0" marT="0" marB="0" anchor="ctr"/>
                </a:tc>
                <a:tc>
                  <a:txBody>
                    <a:bodyPr/>
                    <a:lstStyle/>
                    <a:p>
                      <a:pPr algn="l" fontAlgn="t">
                        <a:buNone/>
                      </a:pP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837087976"/>
                  </a:ext>
                </a:extLst>
              </a:tr>
              <a:tr h="954296">
                <a:tc>
                  <a:txBody>
                    <a:bodyPr/>
                    <a:lstStyle/>
                    <a:p>
                      <a:pPr>
                        <a:buNone/>
                      </a:pPr>
                      <a:r>
                        <a:rPr lang="en-US" sz="1200">
                          <a:effectLst/>
                        </a:rPr>
                        <a:t>Owners</a:t>
                      </a:r>
                    </a:p>
                  </a:txBody>
                  <a:tcPr marL="0" marR="0" marT="0" marB="0" anchor="ctr"/>
                </a:tc>
                <a:tc>
                  <a:txBody>
                    <a:bodyPr/>
                    <a:lstStyle/>
                    <a:p>
                      <a:pPr algn="l" fontAlgn="t">
                        <a:buNone/>
                      </a:pPr>
                      <a:r>
                        <a:rPr lang="en-GB" sz="1100" b="0" u="none" strike="noStrike">
                          <a:solidFill>
                            <a:srgbClr val="000000"/>
                          </a:solidFill>
                          <a:effectLst/>
                        </a:rPr>
                        <a:t>• Service Provider Enablement/Partnerships</a:t>
                      </a:r>
                      <a:br>
                        <a:rPr lang="en-GB" sz="1100" b="0" u="none" strike="noStrike">
                          <a:solidFill>
                            <a:srgbClr val="000000"/>
                          </a:solidFill>
                          <a:effectLst/>
                        </a:rPr>
                      </a:br>
                      <a:r>
                        <a:rPr lang="en-GB" sz="1100" b="0" u="none" strike="noStrike">
                          <a:solidFill>
                            <a:srgbClr val="000000"/>
                          </a:solidFill>
                          <a:effectLst/>
                        </a:rPr>
                        <a:t>• Product Management</a:t>
                      </a:r>
                      <a:br>
                        <a:rPr lang="en-GB" sz="1100" b="0" u="none" strike="noStrike">
                          <a:solidFill>
                            <a:srgbClr val="000000"/>
                          </a:solidFill>
                          <a:effectLst/>
                        </a:rPr>
                      </a:br>
                      <a:r>
                        <a:rPr lang="en-GB" sz="1100" b="0" u="none" strike="noStrike">
                          <a:solidFill>
                            <a:srgbClr val="000000"/>
                          </a:solidFill>
                          <a:effectLst/>
                        </a:rPr>
                        <a:t>• Backend Development</a:t>
                      </a:r>
                      <a:br>
                        <a:rPr lang="en-GB" sz="1100" b="0" u="none" strike="noStrike">
                          <a:solidFill>
                            <a:srgbClr val="000000"/>
                          </a:solidFill>
                          <a:effectLst/>
                        </a:rPr>
                      </a:br>
                      <a:r>
                        <a:rPr lang="en-GB" sz="1100" b="0" u="none" strike="noStrike">
                          <a:solidFill>
                            <a:srgbClr val="000000"/>
                          </a:solidFill>
                          <a:effectLst/>
                        </a:rPr>
                        <a:t>• Frontend/Mobile Development</a:t>
                      </a:r>
                      <a:br>
                        <a:rPr lang="en-GB" sz="1100" b="0" u="none" strike="noStrike">
                          <a:solidFill>
                            <a:srgbClr val="000000"/>
                          </a:solidFill>
                          <a:effectLst/>
                        </a:rPr>
                      </a:br>
                      <a:r>
                        <a:rPr lang="en-GB" sz="1100" b="0" u="none" strike="noStrike">
                          <a:solidFill>
                            <a:srgbClr val="000000"/>
                          </a:solidFill>
                          <a:effectLst/>
                        </a:rPr>
                        <a:t>• Quality Assurance</a:t>
                      </a:r>
                      <a:endParaRPr lang="en-GB" sz="1100" b="0" i="0" u="none" strike="noStrike">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2798142528"/>
                  </a:ext>
                </a:extLst>
              </a:tr>
              <a:tr h="574131">
                <a:tc>
                  <a:txBody>
                    <a:bodyPr/>
                    <a:lstStyle/>
                    <a:p>
                      <a:pPr>
                        <a:buNone/>
                      </a:pPr>
                      <a:r>
                        <a:rPr lang="en-US" sz="1200">
                          <a:effectLst/>
                        </a:rPr>
                        <a:t>Dependencies</a:t>
                      </a:r>
                    </a:p>
                  </a:txBody>
                  <a:tcPr marL="0" marR="0" marT="0" marB="0" anchor="ctr"/>
                </a:tc>
                <a:tc>
                  <a:txBody>
                    <a:bodyPr/>
                    <a:lstStyle/>
                    <a:p>
                      <a:pPr algn="l" fontAlgn="t">
                        <a:buNone/>
                      </a:pP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1268188282"/>
                  </a:ext>
                </a:extLst>
              </a:tr>
              <a:tr h="574131">
                <a:tc>
                  <a:txBody>
                    <a:bodyPr/>
                    <a:lstStyle/>
                    <a:p>
                      <a:pPr>
                        <a:buNone/>
                      </a:pPr>
                      <a:r>
                        <a:rPr lang="en-US" sz="1200">
                          <a:effectLst/>
                        </a:rPr>
                        <a:t>Timeline</a:t>
                      </a:r>
                    </a:p>
                  </a:txBody>
                  <a:tcPr marL="0" marR="0" marT="0" marB="0" anchor="ctr"/>
                </a:tc>
                <a:tc>
                  <a:txBody>
                    <a:bodyPr/>
                    <a:lstStyle/>
                    <a:p>
                      <a:pPr algn="l" fontAlgn="t">
                        <a:buNone/>
                      </a:pPr>
                      <a:r>
                        <a:rPr lang="en-GB" sz="1100" b="0" u="none" strike="noStrike" dirty="0">
                          <a:solidFill>
                            <a:srgbClr val="000000"/>
                          </a:solidFill>
                          <a:effectLst/>
                        </a:rPr>
                        <a:t>• Dates:  1 Oct 2026 – 30 Dec 2026</a:t>
                      </a:r>
                      <a:br>
                        <a:rPr lang="en-GB" sz="1100" b="0" u="none" strike="noStrike" dirty="0">
                          <a:solidFill>
                            <a:srgbClr val="000000"/>
                          </a:solidFill>
                          <a:effectLst/>
                        </a:rPr>
                      </a:br>
                      <a:r>
                        <a:rPr lang="en-GB" sz="1100" b="0" u="none" strike="noStrike" dirty="0">
                          <a:solidFill>
                            <a:srgbClr val="000000"/>
                          </a:solidFill>
                          <a:effectLst/>
                        </a:rPr>
                        <a:t>• Sprints:</a:t>
                      </a:r>
                      <a:br>
                        <a:rPr lang="en-GB" sz="1100" b="0" u="none" strike="noStrike" dirty="0">
                          <a:solidFill>
                            <a:srgbClr val="000000"/>
                          </a:solidFill>
                          <a:effectLst/>
                        </a:rPr>
                      </a:br>
                      <a:r>
                        <a:rPr lang="en-GB" sz="1100" b="0" u="none" strike="noStrike" dirty="0">
                          <a:solidFill>
                            <a:srgbClr val="000000"/>
                          </a:solidFill>
                          <a:effectLst/>
                        </a:rPr>
                        <a:t>• Priority/Complexity: High/Low</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8137238"/>
                  </a:ext>
                </a:extLst>
              </a:tr>
              <a:tr h="380167">
                <a:tc>
                  <a:txBody>
                    <a:bodyPr/>
                    <a:lstStyle/>
                    <a:p>
                      <a:pPr>
                        <a:buNone/>
                      </a:pPr>
                      <a:r>
                        <a:rPr lang="en-US" sz="1200" dirty="0">
                          <a:effectLst/>
                        </a:rPr>
                        <a:t>Target Audience</a:t>
                      </a:r>
                    </a:p>
                  </a:txBody>
                  <a:tcPr marL="0" marR="0" marT="0" marB="0" anchor="ctr"/>
                </a:tc>
                <a:tc>
                  <a:txBody>
                    <a:bodyPr/>
                    <a:lstStyle/>
                    <a:p>
                      <a:pPr algn="l" fontAlgn="t">
                        <a:buNone/>
                      </a:pPr>
                      <a:r>
                        <a:rPr lang="en-GB" sz="1100" b="0" u="none" strike="noStrike" dirty="0">
                          <a:solidFill>
                            <a:srgbClr val="000000"/>
                          </a:solidFill>
                          <a:effectLst/>
                        </a:rPr>
                        <a:t>• UAE PASS users</a:t>
                      </a:r>
                      <a:br>
                        <a:rPr lang="en-GB" sz="1100" b="0" u="none" strike="noStrike" dirty="0">
                          <a:solidFill>
                            <a:srgbClr val="000000"/>
                          </a:solidFill>
                          <a:effectLst/>
                        </a:rPr>
                      </a:br>
                      <a:r>
                        <a:rPr lang="en-GB" sz="1100" b="0" u="none" strike="noStrike" dirty="0">
                          <a:solidFill>
                            <a:srgbClr val="000000"/>
                          </a:solidFill>
                          <a:effectLst/>
                        </a:rPr>
                        <a:t>• Service Providers (form owners)</a:t>
                      </a:r>
                      <a:endParaRPr lang="en-GB" sz="1100" b="0" i="0" u="none" strike="noStrike" dirty="0">
                        <a:solidFill>
                          <a:srgbClr val="000000"/>
                        </a:solidFill>
                        <a:effectLst/>
                        <a:latin typeface="Calibri" panose="020F0502020204030204" pitchFamily="34" charset="0"/>
                      </a:endParaRPr>
                    </a:p>
                  </a:txBody>
                  <a:tcPr marL="6350" marR="6350" marT="6350" marB="0"/>
                </a:tc>
                <a:extLst>
                  <a:ext uri="{0D108BD9-81ED-4DB2-BD59-A6C34878D82A}">
                    <a16:rowId xmlns:a16="http://schemas.microsoft.com/office/drawing/2014/main" val="3275102799"/>
                  </a:ext>
                </a:extLst>
              </a:tr>
            </a:tbl>
          </a:graphicData>
        </a:graphic>
      </p:graphicFrame>
    </p:spTree>
    <p:extLst>
      <p:ext uri="{BB962C8B-B14F-4D97-AF65-F5344CB8AC3E}">
        <p14:creationId xmlns:p14="http://schemas.microsoft.com/office/powerpoint/2010/main" val="3723377259"/>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9044.0"/>
  <p:tag name="AS_RELEASE_DATE" val="2018.09.12"/>
  <p:tag name="AS_TITLE" val="Aspose.Slides for .NET 4.0"/>
  <p:tag name="AS_VERSION" val="18.9"/>
  <p:tag name="BTFPCOLUMNGUIDE" val="Visible"/>
  <p:tag name="MEKKOFORMATS" val="&lt;MekkoFormats&gt;&lt;NumberFormat DecimalSeparator=&quot;.&quot; ThousandSeparator=&quot;,&quot; NegativeNumberFormat=&quot;1&quot; /&gt;&lt;Font&gt;&lt;Output_Font_Name Default=&quot;Arial&quot; UsePPTTheme=&quot;True&quot; /&gt;&lt;/Font&gt;&lt;DateFormat CultureID=&quot;2057&quot; FormatString=&quot;dd/MM/yyyy&quot; /&gt;&lt;/MekkoFormats&gt;"/>
  <p:tag name="OFFICE" val="London"/>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Arial"/>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ED0BA50A4EEC94CACA27F9B20ACE144" ma:contentTypeVersion="13" ma:contentTypeDescription="Create a new document." ma:contentTypeScope="" ma:versionID="52ff7764a9c208c9fbf6ecebb3438eb9">
  <xsd:schema xmlns:xsd="http://www.w3.org/2001/XMLSchema" xmlns:xs="http://www.w3.org/2001/XMLSchema" xmlns:p="http://schemas.microsoft.com/office/2006/metadata/properties" xmlns:ns2="4d057ea3-ef2a-489d-b2ad-4810bf3bdcbd" xmlns:ns3="84c9379d-312e-4b39-9ddc-56449fca36ec" xmlns:ns4="3c35e321-f73a-4dae-ae38-a0459de24735" targetNamespace="http://schemas.microsoft.com/office/2006/metadata/properties" ma:root="true" ma:fieldsID="bf133129c563946c9f6c79e9755143ef" ns2:_="" ns3:_="" ns4:_="">
    <xsd:import namespace="4d057ea3-ef2a-489d-b2ad-4810bf3bdcbd"/>
    <xsd:import namespace="84c9379d-312e-4b39-9ddc-56449fca36ec"/>
    <xsd:import namespace="3c35e321-f73a-4dae-ae38-a0459de2473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057ea3-ef2a-489d-b2ad-4810bf3bdc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4c9379d-312e-4b39-9ddc-56449fca36ec"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c35e321-f73a-4dae-ae38-a0459de2473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2471945a-717d-481d-99c5-2f169b40bdd1}" ma:internalName="TaxCatchAll" ma:showField="CatchAllData" ma:web="84c9379d-312e-4b39-9ddc-56449fca36e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d057ea3-ef2a-489d-b2ad-4810bf3bdcbd">
      <Terms xmlns="http://schemas.microsoft.com/office/infopath/2007/PartnerControls"/>
    </lcf76f155ced4ddcb4097134ff3c332f>
    <TaxCatchAll xmlns="3c35e321-f73a-4dae-ae38-a0459de24735" xsi:nil="true"/>
    <SharedWithUsers xmlns="84c9379d-312e-4b39-9ddc-56449fca36ec">
      <UserInfo>
        <DisplayName/>
        <AccountId xsi:nil="true"/>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FD8473-16DD-4822-A925-C6AA4B339BC8}">
  <ds:schemaRefs>
    <ds:schemaRef ds:uri="3c35e321-f73a-4dae-ae38-a0459de24735"/>
    <ds:schemaRef ds:uri="4d057ea3-ef2a-489d-b2ad-4810bf3bdcbd"/>
    <ds:schemaRef ds:uri="84c9379d-312e-4b39-9ddc-56449fca36e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694FEA7-E701-48EB-8D31-7CFE03E4379F}">
  <ds:schemaRefs>
    <ds:schemaRef ds:uri="http://schemas.microsoft.com/office/infopath/2007/PartnerControls"/>
    <ds:schemaRef ds:uri="http://schemas.openxmlformats.org/package/2006/metadata/core-properties"/>
    <ds:schemaRef ds:uri="4d057ea3-ef2a-489d-b2ad-4810bf3bdcbd"/>
    <ds:schemaRef ds:uri="http://www.w3.org/XML/1998/namespace"/>
    <ds:schemaRef ds:uri="http://schemas.microsoft.com/office/2006/documentManagement/types"/>
    <ds:schemaRef ds:uri="http://purl.org/dc/dcmitype/"/>
    <ds:schemaRef ds:uri="84c9379d-312e-4b39-9ddc-56449fca36ec"/>
    <ds:schemaRef ds:uri="3c35e321-f73a-4dae-ae38-a0459de24735"/>
    <ds:schemaRef ds:uri="http://purl.org/dc/elements/1.1/"/>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982D3108-7B75-4235-8C2A-928BC29F621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DV Roadmap - 2026 -v5-17022026</Template>
  <TotalTime>1036</TotalTime>
  <Words>5458</Words>
  <Application>Microsoft Office PowerPoint</Application>
  <PresentationFormat>Widescreen</PresentationFormat>
  <Paragraphs>548</Paragraphs>
  <Slides>34</Slides>
  <Notes>29</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Aptos</vt:lpstr>
      <vt:lpstr>Arial</vt:lpstr>
      <vt:lpstr>Calibri</vt:lpstr>
      <vt:lpstr>Calibri Light</vt:lpstr>
      <vt:lpstr>Office Theme</vt:lpstr>
      <vt:lpstr>Digital Vault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Cognizant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Bataha, Fadi (Cognizant)</dc:creator>
  <cp:lastModifiedBy>Bataha, Fadi (Cognizant)</cp:lastModifiedBy>
  <cp:revision>1</cp:revision>
  <dcterms:created xsi:type="dcterms:W3CDTF">2026-02-17T12:38:40Z</dcterms:created>
  <dcterms:modified xsi:type="dcterms:W3CDTF">2026-02-18T05:55:19Z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0x0101006ED0BA50A4EEC94CACA27F9B20ACE144</vt:lpwstr>
  </property>
  <property fmtid="{D5CDD505-2E9C-101B-9397-08002B2CF9AE}" pid="3" name="MediaServiceImageTags">
    <vt:lpwstr/>
  </property>
</Properties>
</file>