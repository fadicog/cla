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-914400"/>
            <a:ext cx="6400800" cy="6400800"/>
          </a:xfrm>
          <a:prstGeom prst="ellipse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004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 Light"/>
              </a:defRPr>
            </a:pPr>
            <a:r>
              <a:t>UAE PASS Digital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"Ask Your Documents"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CCDDEE"/>
                </a:solidFill>
                <a:latin typeface="Calibri Light"/>
              </a:defRPr>
            </a:pPr>
            <a:r>
              <a:t>Your Documents. Your Questions. Instant Answers.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49039"/>
            <a:ext cx="2743200" cy="228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AACC"/>
                </a:solidFill>
                <a:latin typeface="Calibri Light"/>
              </a:defRPr>
            </a:pPr>
            <a:r>
              <a:t>AI-Powered Document Intelligence  |  Product Management, Digital Vault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Why users need intelligent document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Users accumulate 10+ documents</a:t>
            </a:r>
            <a:br/>
            <a:r>
              <a:t>in their Digital Vault over time.</a:t>
            </a:r>
            <a:br/>
            <a:r>
              <a:t>Finding specific data requires opening</a:t>
            </a:r>
            <a:br/>
            <a:r>
              <a:t>each document individually.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5448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Time-Consuming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Manual browsing through PDFs to find</a:t>
            </a:r>
            <a:br/>
            <a:r>
              <a:t>a single data point (expiry date, ID number,</a:t>
            </a:r>
            <a:br/>
            <a:r>
              <a:t>contract clause) wastes valuable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Keyword-Only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Current search is limited to document titles</a:t>
            </a:r>
            <a:br/>
            <a:r>
              <a:t>and metadata. It cannot search inside</a:t>
            </a:r>
            <a:br/>
            <a:r>
              <a:t>document content or understand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11480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343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Cross-Document 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8463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 way to ask questions spanning multiple</a:t>
            </a:r>
            <a:br/>
            <a:r>
              <a:t>documents, like 'What expires next month?'</a:t>
            </a:r>
            <a:br/>
            <a:r>
              <a:t>or 'Summarize my identity details.'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You Interact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Multiple ways to query your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54480"/>
            <a:ext cx="3255264" cy="64008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920240"/>
            <a:ext cx="822960" cy="822960"/>
          </a:xfrm>
          <a:prstGeom prst="ellipse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2D62"/>
                </a:solidFill>
                <a:latin typeface="Calibri"/>
              </a:defRPr>
            </a:pPr>
            <a:r>
              <a:t>Text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Type your question naturally in English or Arabic. The AI understands context and returns cited answers from your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663440"/>
            <a:ext cx="3017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548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"When does my visa expire?"  «متى تنتهي صلاحية تأشيرتي؟»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1554480"/>
            <a:ext cx="3255264" cy="64008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1920240"/>
            <a:ext cx="822960" cy="822960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2D62"/>
                </a:solidFill>
                <a:latin typeface="Calibri"/>
              </a:defRPr>
            </a:pPr>
            <a:r>
              <a:t>Voice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Tap the microphone and ask your question out loud. Speech-to-text handles both English and Arabic seamlessly.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3017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7548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Supports natural speech in EN/AR</a:t>
            </a:r>
            <a:br/>
            <a:r>
              <a:t>with real-time transcription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1554480"/>
            <a:ext cx="3255264" cy="64008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600" y="1920240"/>
            <a:ext cx="822960" cy="822960"/>
          </a:xfrm>
          <a:prstGeom prst="ellipse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2D62"/>
                </a:solidFill>
                <a:latin typeface="Calibri"/>
              </a:defRPr>
            </a:pPr>
            <a:r>
              <a:t>Quick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474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Pre-built shortcuts for common queries. One tap to get instant answers without typing.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663440"/>
            <a:ext cx="3017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7548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 expires soon?"  •  "My identity summary"</a:t>
            </a:r>
            <a:br/>
            <a:r>
              <a:t>"Show all contracts"  •  "Renewal reminders"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"Ask Your Documents"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Natural language queries across your entire document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645920"/>
            <a:ext cx="2523744" cy="54864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Natural Language</a:t>
            </a:r>
            <a:br/>
            <a:r>
              <a:t>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Ask questions in plain English or Arabic.</a:t>
            </a:r>
            <a:br/>
            <a:r>
              <a:t>No keywords needed — just speak naturally.</a:t>
            </a:r>
            <a:br/>
            <a:br/>
            <a:r>
              <a:t>"When does my visa expire?"</a:t>
            </a:r>
            <a:br/>
            <a:r>
              <a:t>«متى تنتهي صلاحية تأشيرتي؟»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45920"/>
            <a:ext cx="256032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645920"/>
            <a:ext cx="2523744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Intelligent</a:t>
            </a:r>
            <a:br/>
            <a: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AI searches across ALL your documents</a:t>
            </a:r>
            <a:br/>
            <a:r>
              <a:t>to find the most relevant information.</a:t>
            </a:r>
            <a:br/>
            <a:r>
              <a:t>Works with issued and uploaded docs.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56032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645920"/>
            <a:ext cx="2523744" cy="54864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Cited</a:t>
            </a:r>
            <a:br/>
            <a:r>
              <a:t>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Every answer includes a citation to the</a:t>
            </a:r>
            <a:br/>
            <a:r>
              <a:t>source document, so you can verify.</a:t>
            </a:r>
            <a:br/>
            <a:r>
              <a:t>No unsupported claims — fully grounded.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45920"/>
            <a:ext cx="256032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16568" y="1645920"/>
            <a:ext cx="2523744" cy="54864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Privacy-First</a:t>
            </a:r>
            <a:br/>
            <a: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432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Documents NEVER leave your device.</a:t>
            </a:r>
            <a:br/>
            <a:r>
              <a:t>Only your question + tiny excerpts</a:t>
            </a:r>
            <a:br/>
            <a:r>
              <a:t>are sent to a UAE-region cloud for answers.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Conversational AI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Renewal Planning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840480" cy="457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2D62"/>
                </a:solidFill>
                <a:latin typeface="Calibri"/>
              </a:defRPr>
            </a:pPr>
            <a:r>
              <a:t>👤  "What documents expire in the next 6 months?"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06040"/>
            <a:ext cx="4663440" cy="137160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79192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🤖  Based on your documents, 3 items expire soon:</a:t>
            </a:r>
          </a:p>
          <a:p>
            <a:pPr algn="l"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ts val="1430"/>
              </a:lnSpc>
              <a:spcAft>
                <a:spcPts val="2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•  Ejari — expires Mar 2026  ⚠ URGENT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Emirates ID — expires May 2026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Visa — expires Aug 2026</a:t>
            </a:r>
          </a:p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Source: Emirates ID, Visa, Ejari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3200400" cy="457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87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2D62"/>
                </a:solidFill>
                <a:latin typeface="Calibri"/>
              </a:defRPr>
            </a:pPr>
            <a:r>
              <a:t>👤  "How do I renew my Ejari?"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800600"/>
            <a:ext cx="4663440" cy="118872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73752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🤖  To renew your Ejari contract: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1. Visit Dubai REST app or Ejari website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 Submit updated tenancy contract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3. Pay renewal fee (AED 220)</a:t>
            </a:r>
          </a:p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Source: Ejari tenancy contract #EJ-2024-XXXXX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Instant Document Lookup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20240"/>
            <a:ext cx="3474720" cy="457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2D62"/>
                </a:solidFill>
                <a:latin typeface="Calibri"/>
              </a:defRPr>
            </a:pPr>
            <a:r>
              <a:t>👤  "What's my Emirates ID number?"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606040"/>
            <a:ext cx="4663440" cy="91440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679192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🤖  Your Emirates ID number is: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1">
                <a:solidFill>
                  <a:srgbClr val="002D62"/>
                </a:solidFill>
                <a:latin typeface="Calibri"/>
              </a:defRPr>
            </a:pPr>
            <a:r>
              <a:t>784-XXXX-XXXXXXX-X</a:t>
            </a:r>
          </a:p>
          <a:p>
            <a:pPr algn="l">
              <a:lnSpc>
                <a:spcPts val="126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Source: Emirates ID, issued 2024-01-15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3200400" cy="457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30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2D62"/>
                </a:solidFill>
                <a:latin typeface="Calibri"/>
              </a:defRPr>
            </a:pPr>
            <a:r>
              <a:t>👤  "Who is my visa sponsor?"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4343400"/>
            <a:ext cx="4663440" cy="118872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416552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🤖  Your visa sponsor details: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2D62"/>
                </a:solidFill>
                <a:latin typeface="Calibri"/>
              </a:defRPr>
            </a:pPr>
            <a:r>
              <a:t>Sponsor: ACME Technologies LLC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Sponsor ID: 123-XXXX-XXXXXXX-X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Visa Type: Employment Residence</a:t>
            </a:r>
          </a:p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Source: UAE Residence Visa, issued 2024-02-20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554480"/>
            <a:ext cx="18288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Privacy-preserving RAG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6459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783080"/>
            <a:ext cx="548640" cy="548640"/>
          </a:xfrm>
          <a:prstGeom prst="ellipse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5C99"/>
                </a:solidFill>
                <a:latin typeface="Calibri"/>
              </a:defRPr>
            </a:pPr>
            <a:r>
              <a:t>Document</a:t>
            </a:r>
            <a:br/>
            <a:r>
              <a:t>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Documents stored</a:t>
            </a:r>
            <a:br/>
            <a:r>
              <a:t>securely in vault</a:t>
            </a:r>
            <a:br/>
            <a:r>
              <a:t>on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645920"/>
            <a:ext cx="16459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1783080"/>
            <a:ext cx="548640" cy="548640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A33"/>
                </a:solidFill>
                <a:latin typeface="Calibri"/>
              </a:defRPr>
            </a:pPr>
            <a:r>
              <a:t>On-Device</a:t>
            </a:r>
            <a:br/>
            <a: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Text extracted</a:t>
            </a:r>
            <a:br/>
            <a:r>
              <a:t>using Apple Vision</a:t>
            </a:r>
            <a:br/>
            <a:r>
              <a:t>/ ML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645920"/>
            <a:ext cx="16459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178308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t>Embedding</a:t>
            </a:r>
            <a:br/>
            <a: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Text converted to</a:t>
            </a:r>
            <a:br/>
            <a:r>
              <a:t>vector embeddings</a:t>
            </a:r>
            <a:br/>
            <a:r>
              <a:t>on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645920"/>
            <a:ext cx="16459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8E44AD"/>
                </a:solidFill>
                <a:latin typeface="Calibri"/>
              </a:defRPr>
            </a:pPr>
            <a:r>
              <a:t>Semantic</a:t>
            </a:r>
            <a:br/>
            <a: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User query matched</a:t>
            </a:r>
            <a:br/>
            <a:r>
              <a:t>to relevant document</a:t>
            </a:r>
            <a:br/>
            <a:r>
              <a:t>chunks locally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645920"/>
            <a:ext cx="16459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0" y="1783080"/>
            <a:ext cx="548640" cy="548640"/>
          </a:xfrm>
          <a:prstGeom prst="ellipse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2D62"/>
                </a:solidFill>
                <a:latin typeface="Calibri"/>
              </a:defRPr>
            </a:pPr>
            <a:r>
              <a:t>Cloud LLM</a:t>
            </a:r>
            <a:br/>
            <a:r>
              <a:t>(UAE Region)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Query + top 5 chunks</a:t>
            </a:r>
            <a:br/>
            <a:r>
              <a:t>(max 2KB) sent to</a:t>
            </a:r>
            <a:br/>
            <a:r>
              <a:t>Azure 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645920"/>
            <a:ext cx="16459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78440" y="1783080"/>
            <a:ext cx="548640" cy="548640"/>
          </a:xfrm>
          <a:prstGeom prst="ellipse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C8A22C"/>
                </a:solidFill>
                <a:latin typeface="Calibri"/>
              </a:defRPr>
            </a:pPr>
            <a:r>
              <a:t>Grounded</a:t>
            </a:r>
            <a:br/>
            <a:r>
              <a:t>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Cited answer returned</a:t>
            </a:r>
            <a:br/>
            <a:r>
              <a:t>with source document</a:t>
            </a:r>
            <a:br/>
            <a:r>
              <a:t>references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7132320" cy="36576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902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007A33"/>
                </a:solidFill>
                <a:latin typeface="Calibri"/>
              </a:defRPr>
            </a:pPr>
            <a:r>
              <a:t>ON-DEVICE (Steps 1–4)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4709160"/>
            <a:ext cx="3840480" cy="36576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5902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005C99"/>
                </a:solidFill>
                <a:latin typeface="Calibri"/>
              </a:defRPr>
            </a:pPr>
            <a:r>
              <a:t>CLOUD (Steps 5–6)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5029200"/>
            <a:ext cx="9418320" cy="5943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507492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🔒  Documents NEVER leave the device  •  Only query + small excerpts sent to UAE-region cloud  •  Zero data retention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Privacy-first architecture for document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6858000" cy="47548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6821424" cy="64008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2011680" cy="36576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2D62"/>
                </a:solidFill>
                <a:latin typeface="Calibri"/>
              </a:defRPr>
            </a:pPr>
            <a:r>
              <a:t>Option A: On-Device Processing + Cloud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88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Documents never leave the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Data 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Only query + top 5 chunks (max 2KB)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8A22C"/>
                </a:solidFill>
                <a:latin typeface="Calibri"/>
              </a:defRPr>
            </a:pPr>
            <a:r>
              <a:t>2–3 second response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788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~$100K / year (1M users)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383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Arabic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GPT-4o-mini with strong Arabic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977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Vector search works offline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17720"/>
            <a:ext cx="630936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09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7A33"/>
                </a:solidFill>
                <a:latin typeface="Calibri"/>
              </a:defRPr>
            </a:pPr>
            <a:r>
              <a:t>Why Option 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Privacy-first: documents stay on device, no cloud storage of personal data</a:t>
            </a:r>
            <a:br/>
            <a:r>
              <a:t>•  Lowest cost: ~$100K/year vs $186K (hybrid) or $450K (full cloud)</a:t>
            </a:r>
            <a:br/>
            <a:r>
              <a:t>•  Offline capable: core search works without internet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417320"/>
            <a:ext cx="3840480" cy="21945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t>Option B: Hybrid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19202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•  Embeddings stored in cloud</a:t>
            </a:r>
            <a:br/>
            <a:r>
              <a:t>•  ~$186K / year</a:t>
            </a:r>
            <a:br/>
            <a:r>
              <a:t>•  Faster, consistent across devices</a:t>
            </a:r>
            <a:br/>
            <a:r>
              <a:t>•  Limited offline capability</a:t>
            </a:r>
            <a:br/>
            <a:r>
              <a:t>•  Higher privacy 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840480"/>
            <a:ext cx="3840480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3977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Option C: Fully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3434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•  Full documents uploaded to cloud</a:t>
            </a:r>
            <a:br/>
            <a:r>
              <a:t>•  ~$450K / year</a:t>
            </a:r>
            <a:br/>
            <a:r>
              <a:t>•  Most consistent performance</a:t>
            </a:r>
            <a:br/>
            <a:r>
              <a:t>•  No offline capability</a:t>
            </a:r>
            <a:br/>
            <a:r>
              <a:t>•  Highest privacy risk</a:t>
            </a:r>
            <a:br/>
            <a:r>
              <a:t>•  Regulatory 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Incremental delivery from PoC to General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560320" cy="4663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8" y="1508760"/>
            <a:ext cx="2523744" cy="868680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Pre-Development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1645920" cy="320040"/>
          </a:xfrm>
          <a:prstGeom prst="round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32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Technical PoC (on-device embedding)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TDRA policy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Stakeholder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User research &amp; consent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508760"/>
            <a:ext cx="2560320" cy="4663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0128" y="1508760"/>
            <a:ext cx="2523744" cy="86868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581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856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MVP (Official Docs)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40" y="2514600"/>
            <a:ext cx="1645920" cy="32004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2532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10% users, iOS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Emirates ID, Passport, Visa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English + Arabic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Citation-backed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In-app feedback collection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1508760"/>
            <a:ext cx="2560320" cy="4663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9048" y="1508760"/>
            <a:ext cx="2523744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581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56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2514600"/>
            <a:ext cx="164592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532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50%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Uploaded document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Voice input capability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Android parity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Performance optimization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C8A22C"/>
                </a:solidFill>
                <a:latin typeface="Calibri"/>
              </a:defRPr>
            </a:pPr>
            <a:r>
              <a:t>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1508760"/>
            <a:ext cx="2560320" cy="4663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87968" y="1508760"/>
            <a:ext cx="2523744" cy="8686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1581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1856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Advanced + GA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2514600"/>
            <a:ext cx="1645920" cy="320040"/>
          </a:xfrm>
          <a:prstGeom prst="round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532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100% GA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Document summaries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Enhanced multilingual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Export &amp; share answers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On-device LLM exploration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Privacy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Trust-first architecture aligned with UAE data protection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40080" cy="640080"/>
          </a:xfrm>
          <a:prstGeom prst="round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On-Device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All document OCR, text extraction, and embedding generation</a:t>
            </a:r>
            <a:br/>
            <a:r>
              <a:t>happens entirely on the user's device. Documents are never</a:t>
            </a:r>
            <a:br/>
            <a:r>
              <a:t>uploaded to any external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640080" cy="640080"/>
          </a:xfrm>
          <a:prstGeom prst="round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Minimal Cloud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Only the user's query and top 5 relevant text chunks</a:t>
            </a:r>
            <a:br/>
            <a:r>
              <a:t>(maximum 2KB) are sent to the cloud LLM for answer</a:t>
            </a:r>
            <a:br/>
            <a:r>
              <a:t>generation. No full documents are transmitted.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106424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640080" cy="640080"/>
          </a:xfrm>
          <a:prstGeom prst="round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Zero Data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The cloud LLM processes each query statelessly.</a:t>
            </a:r>
            <a:br/>
            <a:r>
              <a:t>No user data is stored, cached, or used for model training.</a:t>
            </a:r>
            <a:br/>
            <a:r>
              <a:t>Each session is ephemeral.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640080" cy="640080"/>
          </a:xfrm>
          <a:prstGeom prst="round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User Consent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Feature is opt-in. Users must explicitly consent before</a:t>
            </a:r>
            <a:br/>
            <a:r>
              <a:t>first use. Clear explanation of what data flows where.</a:t>
            </a:r>
            <a:br/>
            <a:r>
              <a:t>Consent can be revoked at any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623560"/>
            <a:ext cx="640080" cy="640080"/>
          </a:xfrm>
          <a:prstGeom prst="round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🇦🇪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UAE Data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897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All cloud processing uses Azure OpenAI hosted in</a:t>
            </a:r>
            <a:br/>
            <a:r>
              <a:t>UAE North region. Compliant with UAE Federal Data</a:t>
            </a:r>
            <a:br/>
            <a:r>
              <a:t>Protection Law (Federal Decree-Law No. 45 of 2021).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Success Metrics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Measurable outcomes across adoption, quality, and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731520"/>
          </a:xfrm>
          <a:prstGeom prst="round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2D62"/>
                </a:solidFill>
                <a:latin typeface="Calibri"/>
              </a:defRPr>
            </a:pPr>
            <a:r>
              <a:t>NORTH STAR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25% of all document access via AI queries by end of Year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" y="2560320"/>
            <a:ext cx="1975104" cy="54864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5C99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User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Active users try feature</a:t>
            </a:r>
            <a:br/>
            <a:r>
              <a:t>within 3 months of 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2560320"/>
            <a:ext cx="201168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15768" y="2560320"/>
            <a:ext cx="1975104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7A33"/>
                </a:solidFill>
                <a:latin typeface="Calibri"/>
              </a:defRPr>
            </a:pPr>
            <a:r>
              <a:t>5/mo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Average queries per</a:t>
            </a:r>
            <a:br/>
            <a:r>
              <a:t>user per 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560320"/>
            <a:ext cx="201168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10328" y="2560320"/>
            <a:ext cx="1975104" cy="54864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C8A22C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Factual accuracy on</a:t>
            </a:r>
            <a:br/>
            <a:r>
              <a:t>official (eSeal)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2560320"/>
            <a:ext cx="201168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888" y="2560320"/>
            <a:ext cx="1975104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67E22"/>
                </a:solidFill>
                <a:latin typeface="Calibri"/>
              </a:defRPr>
            </a:pPr>
            <a:r>
              <a:t>&lt;3s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90th percentile query</a:t>
            </a:r>
            <a:br/>
            <a:r>
              <a:t>response latency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2560320"/>
            <a:ext cx="201168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99448" y="2560320"/>
            <a:ext cx="1975104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8E44AD"/>
                </a:solidFill>
                <a:latin typeface="Calibri"/>
              </a:defRPr>
            </a:pPr>
            <a:r>
              <a:t>4.2+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Star rating in</a:t>
            </a:r>
            <a:br/>
            <a:r>
              <a:t>in-app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Phase 1: 15% try, 3 q/mo, &lt;5% inaccuracy   |   Phase 2: 25% active, 5 q/mo   |   Phase 3: 30% monthly, 15+ power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Immediate actions for Phase 0 kickoff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TDRA Buy-in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Present feature concept and privacy architecture to TDRA for</a:t>
            </a:r>
            <a:br/>
            <a:r>
              <a:t>strategic alignment and policy approval.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87752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96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DDA Buy-in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620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Engage Design Authority for UX direction approval and</a:t>
            </a:r>
            <a:br/>
            <a:r>
              <a:t>design partnership commitment.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75304"/>
            <a:ext cx="502920" cy="502920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83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Technical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4962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Build proof-of-concept: on-device OCR + embedding generation</a:t>
            </a:r>
            <a:br/>
            <a:r>
              <a:t>+ FAISS vector search + Azure OpenAI UAE North integration.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62856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714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User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3717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Conduct usability testing with 15–20 users on consent flow,</a:t>
            </a:r>
            <a:br/>
            <a:r>
              <a:t>query patterns, and answer trustworthiness.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550408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589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Go / No-Go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824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Evaluate PoC results, user feedback, and stakeholder alignment.</a:t>
            </a:r>
            <a:br/>
            <a:r>
              <a:t>Decision gate at end of Phase 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