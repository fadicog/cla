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"Ask Your Documents"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C8A22C"/>
                </a:solidFill>
                <a:latin typeface="Calibri"/>
              </a:defRPr>
            </a:pPr>
            <a:r>
              <a:t>AI-Powered Document Intelligence for UAE PASS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383280"/>
            <a:ext cx="3047695" cy="27432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Introducing RAG-Based Natural Language Queries for Digital Vault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99BBDD"/>
                </a:solidFill>
                <a:latin typeface="Calibri"/>
              </a:defRPr>
            </a:pPr>
            <a:r>
              <a:t>Feature Code: DV-RAG-2026  |  February 2026  |  Product Management, Digital Vault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Why users need intelligent document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4937760" cy="2103120"/>
          </a:xfrm>
          <a:prstGeom prst="rect">
            <a:avLst/>
          </a:prstGeom>
          <a:solidFill>
            <a:srgbClr val="E8F1FA"/>
          </a:solidFill>
          <a:ln w="12700">
            <a:solidFill>
              <a:srgbClr val="00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2D62"/>
                </a:solidFill>
                <a:latin typeface="Calibri"/>
              </a:defRPr>
            </a:pPr>
            <a:r>
              <a:t>Information Overload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Users accumulate 10-20+ documents</a:t>
            </a:r>
            <a:br/>
            <a:r>
              <a:t>in their Digital Vault over time.</a:t>
            </a:r>
            <a:br/>
            <a:r>
              <a:t>Finding specific data requires opening</a:t>
            </a:r>
            <a:br/>
            <a:r>
              <a:t>each document individually.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554480"/>
            <a:ext cx="4937760" cy="2103120"/>
          </a:xfrm>
          <a:prstGeom prst="rect">
            <a:avLst/>
          </a:prstGeom>
          <a:solidFill>
            <a:srgbClr val="E8F1FA"/>
          </a:solidFill>
          <a:ln w="12700">
            <a:solidFill>
              <a:srgbClr val="00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783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2D62"/>
                </a:solidFill>
                <a:latin typeface="Calibri"/>
              </a:defRPr>
            </a:pPr>
            <a:r>
              <a:t>Time-Consuming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28600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Manual browsing through PDFs to find</a:t>
            </a:r>
            <a:br/>
            <a:r>
              <a:t>a single data point (expiry date, ID number,</a:t>
            </a:r>
            <a:br/>
            <a:r>
              <a:t>contract clause) wastes valuable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4937760" cy="2103120"/>
          </a:xfrm>
          <a:prstGeom prst="rect">
            <a:avLst/>
          </a:prstGeom>
          <a:solidFill>
            <a:srgbClr val="E8F1FA"/>
          </a:solidFill>
          <a:ln w="12700">
            <a:solidFill>
              <a:srgbClr val="00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2D62"/>
                </a:solidFill>
                <a:latin typeface="Calibri"/>
              </a:defRPr>
            </a:pPr>
            <a:r>
              <a:t>Keyword-Only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Current search is limited to document titles</a:t>
            </a:r>
            <a:br/>
            <a:r>
              <a:t>and metadata. It cannot search inside</a:t>
            </a:r>
            <a:br/>
            <a:r>
              <a:t>document content or understand context.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4114800"/>
            <a:ext cx="4937760" cy="2103120"/>
          </a:xfrm>
          <a:prstGeom prst="rect">
            <a:avLst/>
          </a:prstGeom>
          <a:solidFill>
            <a:srgbClr val="E8F1FA"/>
          </a:solidFill>
          <a:ln w="12700">
            <a:solidFill>
              <a:srgbClr val="00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4343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2D62"/>
                </a:solidFill>
                <a:latin typeface="Calibri"/>
              </a:defRPr>
            </a:pPr>
            <a:r>
              <a:t>Cross-Document Blind Spots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8463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No way to ask questions spanning multiple</a:t>
            </a:r>
            <a:br/>
            <a:r>
              <a:t>documents, like 'What expires next month?'</a:t>
            </a:r>
            <a:br/>
            <a:r>
              <a:t>or 'Summarize my identity details.'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Solution — "Ask Your Documents"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Natural language queries across your entire document collection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6032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560320" cy="54864"/>
          </a:xfrm>
          <a:prstGeom prst="rect">
            <a:avLst/>
          </a:prstGeom>
          <a:solidFill>
            <a:srgbClr val="0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2D62"/>
                </a:solidFill>
                <a:latin typeface="Calibri"/>
              </a:defRPr>
            </a:pPr>
            <a:r>
              <a:t>Natural Language Queries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Ask questions in plain English or Arabic.</a:t>
            </a:r>
            <a:br/>
            <a:r>
              <a:t>No keywords needed — just speak naturally.</a:t>
            </a:r>
            <a:br/>
            <a:br/>
            <a:r>
              <a:t>"When does my visa expire?"</a:t>
            </a:r>
            <a:br/>
            <a:r>
              <a:t>«متى تنتهي صلاحية تأشيرتي؟»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645920"/>
            <a:ext cx="256032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645920"/>
            <a:ext cx="2560320" cy="54864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2D62"/>
                </a:solidFill>
                <a:latin typeface="Calibri"/>
              </a:defRPr>
            </a:pPr>
            <a:r>
              <a:t>Intelligent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56032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AI searches across ALL your documents</a:t>
            </a:r>
            <a:br/>
            <a:r>
              <a:t>to find the most relevant information.</a:t>
            </a:r>
            <a:br/>
            <a:r>
              <a:t>Works with issued and uploaded docs.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645920"/>
            <a:ext cx="256032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645920"/>
            <a:ext cx="2560320" cy="54864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2D62"/>
                </a:solidFill>
                <a:latin typeface="Calibri"/>
              </a:defRPr>
            </a:pPr>
            <a:r>
              <a:t>Cited Answers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6032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Every answer includes a citation to the</a:t>
            </a:r>
            <a:br/>
            <a:r>
              <a:t>source document, so you can verify.</a:t>
            </a:r>
            <a:br/>
            <a:r>
              <a:t>No unsupported claims — fully grounded.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645920"/>
            <a:ext cx="256032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645920"/>
            <a:ext cx="2560320" cy="54864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2D62"/>
                </a:solidFill>
                <a:latin typeface="Calibri"/>
              </a:defRPr>
            </a:pPr>
            <a:r>
              <a:t>Privacy-First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560320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Documents NEVER leave your device.</a:t>
            </a:r>
            <a:br/>
            <a:r>
              <a:t>Only your question + tiny excerpts</a:t>
            </a:r>
            <a:br/>
            <a:r>
              <a:t>are sent to a UAE-region cloud for answers.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Practical examples grouped by document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205740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057400" cy="54864"/>
          </a:xfrm>
          <a:prstGeom prst="rect">
            <a:avLst/>
          </a:prstGeom>
          <a:solidFill>
            <a:srgbClr val="0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9344"/>
            <a:ext cx="2057400" cy="640080"/>
          </a:xfrm>
          <a:prstGeom prst="rect">
            <a:avLst/>
          </a:prstGeom>
          <a:solidFill>
            <a:srgbClr val="0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64208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Emirates 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560320"/>
            <a:ext cx="183794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651760"/>
            <a:ext cx="16550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"When does my EID expire?"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" y="3657600"/>
            <a:ext cx="183794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749040"/>
            <a:ext cx="16550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"What's my ID number?"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4754880"/>
            <a:ext cx="183794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4846320"/>
            <a:ext cx="16550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"Who is my sponsor?"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1554480"/>
            <a:ext cx="205740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80" y="1554480"/>
            <a:ext cx="2057400" cy="54864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80" y="1609344"/>
            <a:ext cx="2057400" cy="64008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97480" y="1664208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Passport &amp; Visa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07208" y="2560320"/>
            <a:ext cx="183794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98648" y="2651760"/>
            <a:ext cx="16550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"What type of visa do I have?"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07208" y="3657600"/>
            <a:ext cx="183794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98648" y="3749040"/>
            <a:ext cx="16550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"When does my passport expire?"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07208" y="4754880"/>
            <a:ext cx="183794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98648" y="4846320"/>
            <a:ext cx="16550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"Who sponsors my visa?"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92040" y="1554480"/>
            <a:ext cx="205740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92040" y="1554480"/>
            <a:ext cx="205740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92040" y="1609344"/>
            <a:ext cx="2057400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1664208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Tenancy (Ejari)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1768" y="2560320"/>
            <a:ext cx="183794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93208" y="2651760"/>
            <a:ext cx="16550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"What is my current rent?"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01768" y="3657600"/>
            <a:ext cx="183794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93208" y="3749040"/>
            <a:ext cx="16550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"When does my lease end?"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1768" y="4754880"/>
            <a:ext cx="183794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93208" y="4846320"/>
            <a:ext cx="16550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"What's my DEWA premises #?"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86600" y="1554480"/>
            <a:ext cx="205740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86600" y="1554480"/>
            <a:ext cx="205740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86600" y="1609344"/>
            <a:ext cx="2057400" cy="6400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6600" y="1664208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Employment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96328" y="2560320"/>
            <a:ext cx="183794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87768" y="2651760"/>
            <a:ext cx="16550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"What's my notice period?"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96328" y="3657600"/>
            <a:ext cx="183794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87768" y="3749040"/>
            <a:ext cx="16550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"What is my salary?"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96328" y="4754880"/>
            <a:ext cx="183794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87768" y="4846320"/>
            <a:ext cx="16550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"When did I start?"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81160" y="1554480"/>
            <a:ext cx="205740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81160" y="1554480"/>
            <a:ext cx="2057400" cy="54864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281160" y="1609344"/>
            <a:ext cx="2057400" cy="64008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81160" y="1664208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Cross-Document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90888" y="2560320"/>
            <a:ext cx="183794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82328" y="2651760"/>
            <a:ext cx="16550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"What expires in 3 months?"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90888" y="3657600"/>
            <a:ext cx="183794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82328" y="3749040"/>
            <a:ext cx="16550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"Identity summary"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90888" y="4754880"/>
            <a:ext cx="183794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82328" y="4846320"/>
            <a:ext cx="16550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"Monthly commitments?"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Privacy-preserving RAG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645920" cy="2926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783080"/>
            <a:ext cx="548640" cy="548640"/>
          </a:xfrm>
          <a:prstGeom prst="ellipse">
            <a:avLst/>
          </a:prstGeom>
          <a:solidFill>
            <a:srgbClr val="0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5C99"/>
                </a:solidFill>
                <a:latin typeface="Calibri"/>
              </a:defRPr>
            </a:pPr>
            <a:r>
              <a:t>Document</a:t>
            </a:r>
            <a:br/>
            <a:r>
              <a:t>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Documents stored</a:t>
            </a:r>
            <a:br/>
            <a:r>
              <a:t>securely in vault</a:t>
            </a:r>
            <a:br/>
            <a:r>
              <a:t>on 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743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645920"/>
            <a:ext cx="1645920" cy="2926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80360" y="1783080"/>
            <a:ext cx="548640" cy="548640"/>
          </a:xfrm>
          <a:prstGeom prst="ellipse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468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7A33"/>
                </a:solidFill>
                <a:latin typeface="Calibri"/>
              </a:defRPr>
            </a:pPr>
            <a:r>
              <a:t>On-Device</a:t>
            </a:r>
            <a:br/>
            <a:r>
              <a:t>OCR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20040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Text extracted</a:t>
            </a:r>
            <a:br/>
            <a:r>
              <a:t>using Apple Vision</a:t>
            </a:r>
            <a:br/>
            <a:r>
              <a:t>/ ML 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743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645920"/>
            <a:ext cx="1645920" cy="2926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80" y="1783080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468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67E22"/>
                </a:solidFill>
                <a:latin typeface="Calibri"/>
              </a:defRPr>
            </a:pPr>
            <a:r>
              <a:t>Embedding</a:t>
            </a:r>
            <a:br/>
            <a:r>
              <a:t>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20040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Text converted to</a:t>
            </a:r>
            <a:br/>
            <a:r>
              <a:t>vector embeddings</a:t>
            </a:r>
            <a:br/>
            <a:r>
              <a:t>on device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743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645920"/>
            <a:ext cx="1645920" cy="2926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29400" y="1783080"/>
            <a:ext cx="548640" cy="54864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468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8E44AD"/>
                </a:solidFill>
                <a:latin typeface="Calibri"/>
              </a:defRPr>
            </a:pPr>
            <a:r>
              <a:t>Semantic</a:t>
            </a:r>
            <a:br/>
            <a:r>
              <a:t>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20040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User query matched</a:t>
            </a:r>
            <a:br/>
            <a:r>
              <a:t>to relevant document</a:t>
            </a:r>
            <a:br/>
            <a:r>
              <a:t>chunks locally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743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80" y="1645920"/>
            <a:ext cx="1645920" cy="2926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03920" y="1783080"/>
            <a:ext cx="548640" cy="548640"/>
          </a:xfrm>
          <a:prstGeom prst="ellipse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2468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002D62"/>
                </a:solidFill>
                <a:latin typeface="Calibri"/>
              </a:defRPr>
            </a:pPr>
            <a:r>
              <a:t>Cloud LLM</a:t>
            </a:r>
            <a:br/>
            <a:r>
              <a:t>(UAE Region)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20040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Query + top 5 chunks</a:t>
            </a:r>
            <a:br/>
            <a:r>
              <a:t>(max 2KB) sent to</a:t>
            </a:r>
            <a:br/>
            <a:r>
              <a:t>Azure OpenAI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27432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29800" y="1645920"/>
            <a:ext cx="1645920" cy="2926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78440" y="1783080"/>
            <a:ext cx="548640" cy="548640"/>
          </a:xfrm>
          <a:prstGeom prst="ellipse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24688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C8A22C"/>
                </a:solidFill>
                <a:latin typeface="Calibri"/>
              </a:defRPr>
            </a:pPr>
            <a:r>
              <a:t>Grounded</a:t>
            </a:r>
            <a:br/>
            <a:r>
              <a:t>Answer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320040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Calibri"/>
              </a:defRPr>
            </a:pPr>
            <a:r>
              <a:t>Cited answer returned</a:t>
            </a:r>
            <a:br/>
            <a:r>
              <a:t>with source document</a:t>
            </a:r>
            <a:br/>
            <a:r>
              <a:t>references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0" y="4846320"/>
            <a:ext cx="9418320" cy="64008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4892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🔒  Documents NEVER leave the device  •  Only query + small excerpts sent to UAE-region cloud  •  Zero data retention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709160"/>
            <a:ext cx="7315200" cy="54864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6177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007A33"/>
                </a:solidFill>
                <a:latin typeface="Calibri"/>
              </a:defRPr>
            </a:pPr>
            <a:r>
              <a:t>ON-DEVICE (Steps 1-4)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79" y="4709160"/>
            <a:ext cx="3840480" cy="54864"/>
          </a:xfrm>
          <a:prstGeom prst="rect">
            <a:avLst/>
          </a:prstGeom>
          <a:solidFill>
            <a:srgbClr val="0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46177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005C99"/>
                </a:solidFill>
                <a:latin typeface="Calibri"/>
              </a:defRPr>
            </a:pPr>
            <a:r>
              <a:t>CLOUD (Steps 5-6)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Technical Approach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Three options evaluated for privacy, performance, and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508760"/>
            <a:ext cx="33832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3383280" cy="54864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02D62"/>
                </a:solidFill>
                <a:latin typeface="Calibri"/>
              </a:defRPr>
            </a:pPr>
            <a:r>
              <a:t>Option A: On-Device + Cloud LLM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2057400"/>
            <a:ext cx="1645920" cy="32004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0756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RECOMMENDED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Calibri"/>
              </a:defRPr>
            </a:pPr>
            <a:r>
              <a:t>Privacy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614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7A33"/>
                </a:solidFill>
                <a:latin typeface="Calibri"/>
              </a:defRPr>
            </a:pPr>
            <a:r>
              <a:t>Documents never leave 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Calibri"/>
              </a:defRPr>
            </a:pPr>
            <a:r>
              <a:t>Data 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558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7A33"/>
                </a:solidFill>
                <a:latin typeface="Calibri"/>
              </a:defRPr>
            </a:pPr>
            <a:r>
              <a:t>Query + top 5 chunks (max 2KB)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490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502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C8A22C"/>
                </a:solidFill>
                <a:latin typeface="Calibri"/>
              </a:defRPr>
            </a:pPr>
            <a:r>
              <a:t>2-3s response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Calibri"/>
              </a:defRPr>
            </a:pPr>
            <a:r>
              <a:t>Annual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445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7A33"/>
                </a:solidFill>
                <a:latin typeface="Calibri"/>
              </a:defRPr>
            </a:pPr>
            <a:r>
              <a:t>~$100K / year (1M users)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Calibri"/>
              </a:defRPr>
            </a:pPr>
            <a:r>
              <a:t>Arabic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389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7A33"/>
                </a:solidFill>
                <a:latin typeface="Calibri"/>
              </a:defRPr>
            </a:pPr>
            <a:r>
              <a:t>GPT-4o-mini strong Arabic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321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Calibri"/>
              </a:defRPr>
            </a:pPr>
            <a:r>
              <a:t>Offline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332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7A33"/>
                </a:solidFill>
                <a:latin typeface="Calibri"/>
              </a:defRPr>
            </a:pPr>
            <a:r>
              <a:t>Vector search works offline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1508760"/>
            <a:ext cx="33832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1508760"/>
            <a:ext cx="338328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02D62"/>
                </a:solidFill>
                <a:latin typeface="Calibri"/>
              </a:defRPr>
            </a:pPr>
            <a:r>
              <a:t>Option B: Hybrid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1945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Calibri"/>
              </a:defRPr>
            </a:pPr>
            <a:r>
              <a:t>Privacy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3957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67E22"/>
                </a:solidFill>
                <a:latin typeface="Calibri"/>
              </a:defRPr>
            </a:pPr>
            <a:r>
              <a:t>Embeddings stored in cloud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27889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Calibri"/>
              </a:defRPr>
            </a:pPr>
            <a:r>
              <a:t>Data Sent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9900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67E22"/>
                </a:solidFill>
                <a:latin typeface="Calibri"/>
              </a:defRPr>
            </a:pPr>
            <a:r>
              <a:t>Embeddings + queries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3832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5844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7A33"/>
                </a:solidFill>
                <a:latin typeface="Calibri"/>
              </a:defRPr>
            </a:pPr>
            <a:r>
              <a:t>Faster, consistent across devices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9776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Calibri"/>
              </a:defRPr>
            </a:pPr>
            <a:r>
              <a:t>Annual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1788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67E22"/>
                </a:solidFill>
                <a:latin typeface="Calibri"/>
              </a:defRPr>
            </a:pPr>
            <a:r>
              <a:t>~$186K / year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572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Calibri"/>
              </a:defRPr>
            </a:pPr>
            <a:r>
              <a:t>Arabic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7731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7A33"/>
                </a:solidFill>
                <a:latin typeface="Calibri"/>
              </a:defRPr>
            </a:pPr>
            <a:r>
              <a:t>Same LLM capability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51663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Calibri"/>
              </a:defRPr>
            </a:pPr>
            <a:r>
              <a:t>Offline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3675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C0392B"/>
                </a:solidFill>
                <a:latin typeface="Calibri"/>
              </a:defRPr>
            </a:pPr>
            <a:r>
              <a:t>Limited offline capability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09560" y="1508760"/>
            <a:ext cx="33832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09560" y="1508760"/>
            <a:ext cx="338328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02D62"/>
                </a:solidFill>
                <a:latin typeface="Calibri"/>
              </a:defRPr>
            </a:pPr>
            <a:r>
              <a:t>Option C: Fully Cloud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21945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Calibri"/>
              </a:defRPr>
            </a:pPr>
            <a:r>
              <a:t>Privacy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23957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C0392B"/>
                </a:solidFill>
                <a:latin typeface="Calibri"/>
              </a:defRPr>
            </a:pPr>
            <a:r>
              <a:t>Full document content in cloud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27889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Calibri"/>
              </a:defRPr>
            </a:pPr>
            <a:r>
              <a:t>Data Sent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29900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C0392B"/>
                </a:solidFill>
                <a:latin typeface="Calibri"/>
              </a:defRPr>
            </a:pPr>
            <a:r>
              <a:t>Complete documents uploaded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33832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35844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7A33"/>
                </a:solidFill>
                <a:latin typeface="Calibri"/>
              </a:defRPr>
            </a:pPr>
            <a:r>
              <a:t>Most consistent performance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39776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Calibri"/>
              </a:defRPr>
            </a:pPr>
            <a:r>
              <a:t>Annual Cost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41788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C0392B"/>
                </a:solidFill>
                <a:latin typeface="Calibri"/>
              </a:defRPr>
            </a:pPr>
            <a:r>
              <a:t>~$450K / year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4572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Calibri"/>
              </a:defRPr>
            </a:pPr>
            <a:r>
              <a:t>Arabic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47731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07A33"/>
                </a:solidFill>
                <a:latin typeface="Calibri"/>
              </a:defRPr>
            </a:pPr>
            <a:r>
              <a:t>Same LLM capability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51663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Aft>
                <a:spcPts val="0"/>
              </a:spcAft>
              <a:defRPr sz="1000" b="1">
                <a:solidFill>
                  <a:srgbClr val="666666"/>
                </a:solidFill>
                <a:latin typeface="Calibri"/>
              </a:defRPr>
            </a:pPr>
            <a:r>
              <a:t>Offline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0" y="53675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C0392B"/>
                </a:solidFill>
                <a:latin typeface="Calibri"/>
              </a:defRPr>
            </a:pPr>
            <a:r>
              <a:t>No offline capability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Phased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Incremental delivery from PoC to General Availability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2560320" cy="4663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2560320" cy="1005840"/>
          </a:xfrm>
          <a:prstGeom prst="rect">
            <a:avLst/>
          </a:prstGeom>
          <a:solidFill>
            <a:srgbClr val="0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C8A22C"/>
                </a:solidFill>
                <a:latin typeface="Calibri"/>
              </a:defRPr>
            </a:pPr>
            <a: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Pre-Development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DDEEFF"/>
                </a:solidFill>
                <a:latin typeface="Calibri"/>
              </a:defRPr>
            </a:pPr>
            <a:r>
              <a:t>Sprints 71-72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651760"/>
            <a:ext cx="1645920" cy="320040"/>
          </a:xfrm>
          <a:prstGeom prst="rect">
            <a:avLst/>
          </a:prstGeom>
          <a:solidFill>
            <a:srgbClr val="0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Internal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Technical PoC (on-device embedding)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TDRA policy briefing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DDA design kickoff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User research &amp; consent 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5204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C8A22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508760"/>
            <a:ext cx="2560320" cy="4663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1508760"/>
            <a:ext cx="2560320" cy="100584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1554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C8A22C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MVP (Official Docs)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DDEEFF"/>
                </a:solidFill>
                <a:latin typeface="Calibri"/>
              </a:defRPr>
            </a:pPr>
            <a:r>
              <a:t>Sprints 73-76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0" y="2651760"/>
            <a:ext cx="1645920" cy="32004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26700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10% users, iOS 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Emirates ID, Passport, Visa queries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840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English + Arabic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480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Citation-backed answers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120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In-app feedback collection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5204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C8A22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1508760"/>
            <a:ext cx="2560320" cy="4663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80760" y="1508760"/>
            <a:ext cx="2560320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1554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C8A22C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Expansion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DDEEFF"/>
                </a:solidFill>
                <a:latin typeface="Calibri"/>
              </a:defRPr>
            </a:pPr>
            <a:r>
              <a:t>Sprints 77-80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2651760"/>
            <a:ext cx="1645920" cy="3200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26700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50% users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Uploaded document support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840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Voice input capability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480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Android parity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120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Performance optimization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35204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C8A22C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69680" y="1508760"/>
            <a:ext cx="2560320" cy="4663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69680" y="1508760"/>
            <a:ext cx="2560320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9680" y="1554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1">
                <a:solidFill>
                  <a:srgbClr val="C8A22C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1828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Advanced + GA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2148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DDEEFF"/>
                </a:solidFill>
                <a:latin typeface="Calibri"/>
              </a:defRPr>
            </a:pPr>
            <a:r>
              <a:t>Sprints 81-84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2651760"/>
            <a:ext cx="1645920" cy="3200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26700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100% GA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Document summaries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3840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Enhanced multilingual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44805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Export &amp; share answers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5120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•  On-device LLM exploration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Privacy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Trust-first architecture aligned with UAE data protection standards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640080" cy="64008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002D62"/>
                </a:solidFill>
                <a:latin typeface="Calibri"/>
              </a:defRPr>
            </a:pPr>
            <a:r>
              <a:t>On-Device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74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All document OCR, text extraction, and embedding generation</a:t>
            </a:r>
            <a:br/>
            <a:r>
              <a:t>happens entirely on the user's device. Documents are never</a:t>
            </a:r>
            <a:br/>
            <a:r>
              <a:t>uploaded to any external server.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640080" cy="64008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002D62"/>
                </a:solidFill>
                <a:latin typeface="Calibri"/>
              </a:defRPr>
            </a:pPr>
            <a:r>
              <a:t>Minimal Cloud Exposure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8803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Only the user's query and top 5 relevant text chunks</a:t>
            </a:r>
            <a:br/>
            <a:r>
              <a:t>(maximum 2KB) are sent to the cloud LLM for answer</a:t>
            </a:r>
            <a:br/>
            <a:r>
              <a:t>generation. No full documents are transmitted.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20440"/>
            <a:ext cx="1106424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611880"/>
            <a:ext cx="640080" cy="64008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002D62"/>
                </a:solidFill>
                <a:latin typeface="Calibri"/>
              </a:defRPr>
            </a:pPr>
            <a:r>
              <a:t>Zero Data 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The cloud LLM processes each query statelessly.</a:t>
            </a:r>
            <a:br/>
            <a:r>
              <a:t>No user data is stored, cached, or used for model training.</a:t>
            </a:r>
            <a:br/>
            <a:r>
              <a:t>Each session is ephemeral.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617720"/>
            <a:ext cx="640080" cy="64008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002D62"/>
                </a:solidFill>
                <a:latin typeface="Calibri"/>
              </a:defRPr>
            </a:pPr>
            <a:r>
              <a:t>User Consent Required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892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Feature is opt-in. Users must explicitly consent before</a:t>
            </a:r>
            <a:br/>
            <a:r>
              <a:t>first use. Clear explanation of what data flows where.</a:t>
            </a:r>
            <a:br/>
            <a:r>
              <a:t>Consent can be revoked at any time.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532120"/>
            <a:ext cx="1106424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623560"/>
            <a:ext cx="640080" cy="64008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6692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🇦🇪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002D62"/>
                </a:solidFill>
                <a:latin typeface="Calibri"/>
              </a:defRPr>
            </a:pPr>
            <a:r>
              <a:t>UAE Data Compliance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897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All cloud processing uses Azure OpenAI hosted in</a:t>
            </a:r>
            <a:br/>
            <a:r>
              <a:t>UAE North region. Compliant with UAE Federal Data</a:t>
            </a:r>
            <a:br/>
            <a:r>
              <a:t>Protection Law (Federal Decree-Law No. 45 of 2021).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Success Metrics &amp;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Measurable outcomes across adoption, quality, and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731520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2D62"/>
                </a:solidFill>
                <a:latin typeface="Calibri"/>
              </a:defRPr>
            </a:pPr>
            <a:r>
              <a:t>NORTH STAR 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2D62"/>
                </a:solidFill>
                <a:latin typeface="Calibri"/>
              </a:defRPr>
            </a:pPr>
            <a:r>
              <a:t>25% of all document access via AI queries by end of Year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60320"/>
            <a:ext cx="201168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560320"/>
            <a:ext cx="2011680" cy="54864"/>
          </a:xfrm>
          <a:prstGeom prst="rect">
            <a:avLst/>
          </a:prstGeom>
          <a:solidFill>
            <a:srgbClr val="0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5C99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2D62"/>
                </a:solidFill>
                <a:latin typeface="Calibri"/>
              </a:defRPr>
            </a:pPr>
            <a:r>
              <a:t>User Adoption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Active users try feature</a:t>
            </a:r>
            <a:br/>
            <a:r>
              <a:t>within 3 months of GA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2560320"/>
            <a:ext cx="201168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80" y="2560320"/>
            <a:ext cx="2011680" cy="54864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007A33"/>
                </a:solidFill>
                <a:latin typeface="Calibri"/>
              </a:defRPr>
            </a:pPr>
            <a:r>
              <a:t>5/mo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2D62"/>
                </a:solidFill>
                <a:latin typeface="Calibri"/>
              </a:defRPr>
            </a:pPr>
            <a:r>
              <a:t>Engagement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0233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Average queries per</a:t>
            </a:r>
            <a:br/>
            <a:r>
              <a:t>user per month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2560320"/>
            <a:ext cx="201168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92040" y="2560320"/>
            <a:ext cx="2011680" cy="54864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C8A22C"/>
                </a:solidFill>
                <a:latin typeface="Calibri"/>
              </a:defRPr>
            </a:pPr>
            <a:r>
              <a:t>95%+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2D62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0233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Factual accuracy on</a:t>
            </a:r>
            <a:br/>
            <a:r>
              <a:t>official (eSeal) documents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2560320"/>
            <a:ext cx="201168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86600" y="2560320"/>
            <a:ext cx="201168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E67E22"/>
                </a:solidFill>
                <a:latin typeface="Calibri"/>
              </a:defRPr>
            </a:pPr>
            <a:r>
              <a:t>&lt;3s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2D62"/>
                </a:solidFill>
                <a:latin typeface="Calibri"/>
              </a:defRPr>
            </a:pPr>
            <a:r>
              <a:t>Response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0233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90th percentile query</a:t>
            </a:r>
            <a:br/>
            <a:r>
              <a:t>response latency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81160" y="2560320"/>
            <a:ext cx="201168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81160" y="2560320"/>
            <a:ext cx="201168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2834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8E44AD"/>
                </a:solidFill>
                <a:latin typeface="Calibri"/>
              </a:defRPr>
            </a:pPr>
            <a:r>
              <a:t>4.2+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3566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002D62"/>
                </a:solidFill>
                <a:latin typeface="Calibri"/>
              </a:defRPr>
            </a:pPr>
            <a:r>
              <a:t>Satisfaction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0233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Star rating in</a:t>
            </a:r>
            <a:br/>
            <a:r>
              <a:t>in-app feedback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Phase 1: 15% try, 3 q/mo, &lt;5% inaccuracy   |   Phase 2: 25% active, 5 q/mo   |   Phase 3: 30% monthly, 15+ power users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8A22C"/>
                </a:solidFill>
                <a:latin typeface="Calibri"/>
              </a:defRPr>
            </a:pPr>
            <a:r>
              <a:t>Immediate actions for Phase 0 kickoff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A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0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2D62"/>
                </a:solidFill>
                <a:latin typeface="Calibri"/>
              </a:defRPr>
            </a:pPr>
            <a:r>
              <a:t>TDRA Policy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74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Present feature concept and privacy architecture for policy</a:t>
            </a:r>
            <a:br/>
            <a:r>
              <a:t>alignment and preliminary approval.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0" y="1645920"/>
            <a:ext cx="1371600" cy="365760"/>
          </a:xfrm>
          <a:prstGeom prst="rect">
            <a:avLst/>
          </a:prstGeom>
          <a:solidFill>
            <a:srgbClr val="00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0" y="16642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Week 1-2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606040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2D62"/>
                </a:solidFill>
                <a:latin typeface="Calibri"/>
              </a:defRPr>
            </a:pPr>
            <a:r>
              <a:t>DDA Design Kickoff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880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Engage Design Authority for UX exploration: query interface,</a:t>
            </a:r>
            <a:br/>
            <a:r>
              <a:t>consent screens, citation display, and Arabic layout.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0" y="2651760"/>
            <a:ext cx="1371600" cy="3657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26700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Week 2-3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611880"/>
            <a:ext cx="502920" cy="502920"/>
          </a:xfrm>
          <a:prstGeom prst="ellipse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2D62"/>
                </a:solidFill>
                <a:latin typeface="Calibri"/>
              </a:defRPr>
            </a:pPr>
            <a:r>
              <a:t>Technical PoC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886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Build proof-of-concept: on-device OCR + embedding generation</a:t>
            </a:r>
            <a:br/>
            <a:r>
              <a:t>+ FAISS vector search + Azure OpenAI UAE North integration.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3657600"/>
            <a:ext cx="1371600" cy="365760"/>
          </a:xfrm>
          <a:prstGeom prst="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36758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Week 2-4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617720"/>
            <a:ext cx="502920" cy="5029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2D62"/>
                </a:solidFill>
                <a:latin typeface="Calibri"/>
              </a:defRPr>
            </a:pPr>
            <a:r>
              <a:t>User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892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Conduct usability testing with 15-20 users on consent flow,</a:t>
            </a:r>
            <a:br/>
            <a:r>
              <a:t>query patterns, and answer trustworthiness.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4663440"/>
            <a:ext cx="137160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46817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Week 3-5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562356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2D62"/>
                </a:solidFill>
                <a:latin typeface="Calibri"/>
              </a:defRPr>
            </a:pPr>
            <a:r>
              <a:t>Go / No-Go 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897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Evaluate PoC results, user feedback, and stakeholder alignment.</a:t>
            </a:r>
            <a:br/>
            <a:r>
              <a:t>Decision gate at end of Sprint 72.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5669280"/>
            <a:ext cx="137160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0" y="56875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Sprint 72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5760720"/>
            <a:ext cx="8503920" cy="5486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0" y="58064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1">
                <a:solidFill>
                  <a:srgbClr val="C8A22C"/>
                </a:solidFill>
                <a:latin typeface="Calibri"/>
              </a:defRPr>
            </a:pPr>
            <a:r>
              <a:t>Decision Requested: Approve Phase 0 kickoff and resource allocation for Sprints 71-72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355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